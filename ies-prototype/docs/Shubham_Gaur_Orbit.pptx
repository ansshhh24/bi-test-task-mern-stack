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This presentation is by Shubham Gaur. Shubham has worked as a consultant at Capgemini and holds a B.Tech in Civil Engineering from IIT Kanpur.
The product is called Orbit. An orbit is a steady path around a center. In this product the AI agents move around the business and do most of the daily work. The finance leader stays at the center and makes the big decisions.
Intuit Enterprise Suite serves mid-size companies. These firms have outgrown small business tools. At the same time large ERP systems feel too slow and too costly for them.
The market has changed. Businesses now expect AI to do real work and not only store records. People also want expert help at the moment they need it.
So IES needs to become an AI platform. Agents and experts should work inside everyday finance tasks. Outside developers should be able to build and sell their own agents on top of 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groups of people feel these problems every day. Orbit is built for both of them.
The first group is finance leaders. These are CFOs, controllers and business owners. Many of them run several companies in several countries. Their data sits in many separate tools. Closing the books every month takes weeks. Expert advice is expensive. They are also careful about AI. They will only trust it when they can see the proof and stay in control.
The second group is developers and partners. These are startups, fintech firms and software companies. Connecting to financial systems is slow and hard. Most accounting APIs only return thin data. Few tools exist to build AI agents safely. It is also hard for them to find customers and earn money.
The boxes at the bottom show what each group really wants. Finance leaders want agents to do the heavy work while they keep the final say. Developers want rich data, a safe place to test and a way to reach paying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solution. It is called Orbit. The idea is simple. IES should not only record what happened. It should also understand the business, suggest what to do and take action. The finance leader stays in charge the whole time.
The solution rests on four pillars. First, AI agents finish real tasks such as closing the books. Second, hard questions go to real human experts, and the agent sends them the full file. Third, outside developers can build and sell their own agents on IES. Fourth, trust is visible. Every action shows its proof and who approved it, and it can be undone.
Every agent follows the same five steps. It understands the task. It investigates the data. It decides on a fix that follows company rules. It acts or prepares the action for approval. Then it verifies the result and saves a record. That is what makes it an agent and not a chatbot.
The finance leader chooses how much freedom the AI gets. In Assist mode the AI only suggests. In Approve mode it prepares the work and waits for a yes. In Autopilot mode it finishes small and safe tasks alone. The safety rule is clear. The AI acts alone only when risk is low, it is at least ninety five percent sure and the amount is ten thousand dollars or less. Below seventy percent it always asks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walks through every part of the product.
The AI Command Center is the morning screen. Agents check the business overnight and list the biggest issues with proof. In the demo they warn that cash may drop below the loan limit, and one click starts a collections push that fixes it.
The Financial Close Agent handles the month end. It matches bank records, fixes gaps between group companies, records unbilled costs and builds group totals. In one run the close moves from sixty two to seventy three percent ready.
The Scenario Lab answers what-if questions typed in plain English. It shows a normal outlook, a bad outlook and a fixed outlook, so the leader can see the impact right away.
The Expert Network brings in a qualified person for hard decisions. The agent sends one complete file, so the expert does not need to ask any follow-up questions.
The Compliance Agent watches tax filings and internal controls and prepares every filing for approval.
The Marketplace lets customers add agents from other companies. Each one clearly shows what it can read and change before it is installed.
On the developer side, Agent Studio turns a plain English description into a safe workflow. The Test Lab checks each agent on eight tricky situations before it can be sold. It even proves that the agent asks a human when data is missing.
Finally, the Trust Center controls every agent in one place, and the Audit Log keeps a record of every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last slide explains why Orbit wins and how it grows.
It wins for six reasons. First, all business data lives in one place, so agents see the full picture. Second, the agents finish real work instead of only answering questions. Third, experts are built in, so hard questions get safe answers. Fourth, partners keep adding new agents, which makes the platform more useful for everyone. Fifth, every action can be checked and undone, which makes finance teams comfortable. Sixth, it is simpler to start than a large ERP system and grows with the company.
The money comes from five places. There is the normal subscription and extra fees for heavy AI use. Developers pay for API use above a free level. Intuit keeps a share of each marketplace sale and earns fees from expert help.
Success is measured by one main number. It counts the hours of finance work that agents finish with proof and without a person fixing it. This number shows value and trust together.
The roadmap has four steps. First, real users try the prototype. Next, the close agent launches with the Trust Center and core APIs. Then the Scenario Lab, compliance help, experts and the marketplace go live. Finally the partner ecosystem grows, and Autopilot turns on only where it has proven accurate.
In short, Orbit helps IES grow from software that records the past into a trusted AI platform that helps businesses decide and act. Thank you. Questions are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02920"/>
            <a:ext cx="4937760" cy="274320"/>
          </a:xfrm>
          <a:prstGeom prst="rect">
            <a:avLst/>
          </a:prstGeom>
          <a:noFill/>
          <a:ln/>
        </p:spPr>
        <p:txBody>
          <a:bodyPr wrap="square" lIns="0" tIns="0" rIns="0" bIns="0" rtlCol="0" anchor="t"/>
          <a:lstStyle/>
          <a:p>
            <a:pPr indent="0" marL="0">
              <a:buNone/>
            </a:pPr>
            <a:r>
              <a:rPr lang="en-US" sz="1100" b="1" spc="200" kern="0" dirty="0">
                <a:solidFill>
                  <a:srgbClr val="9FB3D1"/>
                </a:solidFill>
                <a:latin typeface="Calibri" pitchFamily="34" charset="0"/>
                <a:ea typeface="Calibri" pitchFamily="34" charset="-122"/>
                <a:cs typeface="Calibri" pitchFamily="34" charset="-120"/>
              </a:rPr>
              <a:t>PRODUCT STRATEGY AND PROTOTYPE</a:t>
            </a:r>
            <a:endParaRPr lang="en-US" sz="1100" dirty="0"/>
          </a:p>
        </p:txBody>
      </p:sp>
      <p:sp>
        <p:nvSpPr>
          <p:cNvPr id="3" name="Text 1"/>
          <p:cNvSpPr txBox="1"/>
          <p:nvPr/>
        </p:nvSpPr>
        <p:spPr>
          <a:xfrm>
            <a:off x="548640" y="868680"/>
            <a:ext cx="493776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Orbit</a:t>
            </a:r>
            <a:endParaRPr lang="en-US" sz="5400" dirty="0"/>
          </a:p>
        </p:txBody>
      </p:sp>
      <p:sp>
        <p:nvSpPr>
          <p:cNvPr id="4" name="Text 2"/>
          <p:cNvSpPr txBox="1"/>
          <p:nvPr/>
        </p:nvSpPr>
        <p:spPr>
          <a:xfrm>
            <a:off x="548640" y="1783080"/>
            <a:ext cx="4754880" cy="731520"/>
          </a:xfrm>
          <a:prstGeom prst="rect">
            <a:avLst/>
          </a:prstGeom>
          <a:noFill/>
          <a:ln/>
        </p:spPr>
        <p:txBody>
          <a:bodyPr wrap="square" lIns="0" tIns="0" rIns="0" bIns="0" rtlCol="0" anchor="t"/>
          <a:lstStyle/>
          <a:p>
            <a:pPr indent="0" marL="0">
              <a:buNone/>
            </a:pPr>
            <a:r>
              <a:rPr lang="en-US" sz="1800" i="1" dirty="0">
                <a:solidFill>
                  <a:srgbClr val="CFE0F5"/>
                </a:solidFill>
                <a:latin typeface="Calibri" pitchFamily="34" charset="0"/>
                <a:ea typeface="Calibri" pitchFamily="34" charset="-122"/>
                <a:cs typeface="Calibri" pitchFamily="34" charset="-120"/>
              </a:rPr>
              <a:t>An AI platform where agents do the work and people stay in control.</a:t>
            </a:r>
            <a:endParaRPr lang="en-US" sz="1800" dirty="0"/>
          </a:p>
        </p:txBody>
      </p:sp>
      <p:sp>
        <p:nvSpPr>
          <p:cNvPr id="5" name="Text 3"/>
          <p:cNvSpPr txBox="1"/>
          <p:nvPr/>
        </p:nvSpPr>
        <p:spPr>
          <a:xfrm>
            <a:off x="548640" y="2606040"/>
            <a:ext cx="4754880" cy="960120"/>
          </a:xfrm>
          <a:prstGeom prst="rect">
            <a:avLst/>
          </a:prstGeom>
          <a:noFill/>
          <a:ln/>
        </p:spPr>
        <p:txBody>
          <a:bodyPr wrap="square" lIns="0" tIns="0" rIns="0" bIns="0" rtlCol="0" anchor="t"/>
          <a:lstStyle/>
          <a:p>
            <a:pPr indent="0" marL="0">
              <a:buNone/>
            </a:pPr>
            <a:r>
              <a:rPr lang="en-US" sz="1300" dirty="0">
                <a:solidFill>
                  <a:srgbClr val="DCE6F2"/>
                </a:solidFill>
                <a:latin typeface="Calibri" pitchFamily="34" charset="0"/>
                <a:ea typeface="Calibri" pitchFamily="34" charset="-122"/>
                <a:cs typeface="Calibri" pitchFamily="34" charset="-120"/>
              </a:rPr>
              <a:t>An orbit is a steady path around a center. In Orbit the AI agents move around the business and do most of the daily work. The finance leader stays at the center and decides where the business goes.</a:t>
            </a:r>
            <a:endParaRPr lang="en-US" sz="1300" dirty="0"/>
          </a:p>
        </p:txBody>
      </p:sp>
      <p:sp>
        <p:nvSpPr>
          <p:cNvPr id="6" name="Shape 4"/>
          <p:cNvSpPr/>
          <p:nvPr/>
        </p:nvSpPr>
        <p:spPr>
          <a:xfrm>
            <a:off x="548640" y="3840480"/>
            <a:ext cx="4754880" cy="1920240"/>
          </a:xfrm>
          <a:prstGeom prst="roundRect">
            <a:avLst>
              <a:gd name="adj" fmla="val 5714"/>
            </a:avLst>
          </a:prstGeom>
          <a:solidFill>
            <a:srgbClr val="1F3157"/>
          </a:solidFill>
          <a:ln w="9525">
            <a:solidFill>
              <a:srgbClr val="2E4675"/>
            </a:solidFill>
            <a:prstDash val="solid"/>
          </a:ln>
        </p:spPr>
      </p:sp>
      <p:sp>
        <p:nvSpPr>
          <p:cNvPr id="7" name="Shape 5"/>
          <p:cNvSpPr/>
          <p:nvPr/>
        </p:nvSpPr>
        <p:spPr>
          <a:xfrm>
            <a:off x="777240" y="4069080"/>
            <a:ext cx="685800" cy="685800"/>
          </a:xfrm>
          <a:prstGeom prst="ellipse">
            <a:avLst/>
          </a:prstGeom>
          <a:solidFill>
            <a:srgbClr val="0F9D8A"/>
          </a:solidFill>
          <a:ln w="12700">
            <a:solidFill>
              <a:srgbClr val="0F9D8A"/>
            </a:solidFill>
            <a:prstDash val="solid"/>
          </a:ln>
        </p:spPr>
      </p:sp>
      <p:pic>
        <p:nvPicPr>
          <p:cNvPr id="8" name="Image 0" descr="preencoded.png">    </p:cNvPr>
          <p:cNvPicPr>
            <a:picLocks noChangeAspect="1"/>
          </p:cNvPicPr>
          <p:nvPr/>
        </p:nvPicPr>
        <p:blipFill>
          <a:blip r:embed="rId1"/>
          <a:stretch>
            <a:fillRect/>
          </a:stretch>
        </p:blipFill>
        <p:spPr>
          <a:xfrm>
            <a:off x="948690" y="4240530"/>
            <a:ext cx="342900" cy="342900"/>
          </a:xfrm>
          <a:prstGeom prst="rect">
            <a:avLst/>
          </a:prstGeom>
        </p:spPr>
      </p:pic>
      <p:sp>
        <p:nvSpPr>
          <p:cNvPr id="9" name="Text 6"/>
          <p:cNvSpPr txBox="1"/>
          <p:nvPr/>
        </p:nvSpPr>
        <p:spPr>
          <a:xfrm>
            <a:off x="1645920" y="4041648"/>
            <a:ext cx="3566160" cy="228600"/>
          </a:xfrm>
          <a:prstGeom prst="rect">
            <a:avLst/>
          </a:prstGeom>
          <a:noFill/>
          <a:ln/>
        </p:spPr>
        <p:txBody>
          <a:bodyPr wrap="square" lIns="0" tIns="0" rIns="0" bIns="0" rtlCol="0" anchor="t"/>
          <a:lstStyle/>
          <a:p>
            <a:pPr indent="0" marL="0">
              <a:buNone/>
            </a:pPr>
            <a:r>
              <a:rPr lang="en-US" sz="1000" b="1" spc="200" kern="0" dirty="0">
                <a:solidFill>
                  <a:srgbClr val="9FB3D1"/>
                </a:solidFill>
                <a:latin typeface="Calibri" pitchFamily="34" charset="0"/>
                <a:ea typeface="Calibri" pitchFamily="34" charset="-122"/>
                <a:cs typeface="Calibri" pitchFamily="34" charset="-120"/>
              </a:rPr>
              <a:t>PRESENTED BY</a:t>
            </a:r>
            <a:endParaRPr lang="en-US" sz="1000" dirty="0"/>
          </a:p>
        </p:txBody>
      </p:sp>
      <p:sp>
        <p:nvSpPr>
          <p:cNvPr id="10" name="Text 7"/>
          <p:cNvSpPr txBox="1"/>
          <p:nvPr/>
        </p:nvSpPr>
        <p:spPr>
          <a:xfrm>
            <a:off x="1645920" y="4251960"/>
            <a:ext cx="356616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Shubham Gaur</a:t>
            </a:r>
            <a:endParaRPr lang="en-US" sz="2000" dirty="0"/>
          </a:p>
        </p:txBody>
      </p:sp>
      <p:sp>
        <p:nvSpPr>
          <p:cNvPr id="11" name="Text 8"/>
          <p:cNvSpPr txBox="1"/>
          <p:nvPr/>
        </p:nvSpPr>
        <p:spPr>
          <a:xfrm>
            <a:off x="1645920" y="4709160"/>
            <a:ext cx="3520440" cy="868680"/>
          </a:xfrm>
          <a:prstGeom prst="rect">
            <a:avLst/>
          </a:prstGeom>
          <a:noFill/>
          <a:ln/>
        </p:spPr>
        <p:txBody>
          <a:bodyPr wrap="square" lIns="0" tIns="0" rIns="0" bIns="0" rtlCol="0" anchor="t"/>
          <a:lstStyle/>
          <a:p>
            <a:pPr indent="0" marL="0">
              <a:spcAft>
                <a:spcPts val="400"/>
              </a:spcAft>
              <a:buNone/>
            </a:pPr>
            <a:r>
              <a:rPr lang="en-US" sz="1200" dirty="0">
                <a:solidFill>
                  <a:srgbClr val="DCE6F2"/>
                </a:solidFill>
                <a:latin typeface="Calibri" pitchFamily="34" charset="0"/>
                <a:ea typeface="Calibri" pitchFamily="34" charset="-122"/>
                <a:cs typeface="Calibri" pitchFamily="34" charset="-120"/>
              </a:rPr>
              <a:t>Shubham has worked as a consultant at Capgemini.</a:t>
            </a:r>
            <a:endParaRPr lang="en-US" sz="1200" dirty="0"/>
          </a:p>
          <a:p>
            <a:pPr indent="0" marL="0">
              <a:spcAft>
                <a:spcPts val="400"/>
              </a:spcAft>
              <a:buNone/>
            </a:pPr>
            <a:r>
              <a:rPr lang="en-US" sz="1200" dirty="0">
                <a:solidFill>
                  <a:srgbClr val="DCE6F2"/>
                </a:solidFill>
                <a:latin typeface="Calibri" pitchFamily="34" charset="0"/>
                <a:ea typeface="Calibri" pitchFamily="34" charset="-122"/>
                <a:cs typeface="Calibri" pitchFamily="34" charset="-120"/>
              </a:rPr>
              <a:t>He holds a B.Tech in Civil Engineering from IIT Kanpur.</a:t>
            </a:r>
            <a:endParaRPr lang="en-US" sz="1200" dirty="0"/>
          </a:p>
        </p:txBody>
      </p:sp>
      <p:sp>
        <p:nvSpPr>
          <p:cNvPr id="12" name="Text 9"/>
          <p:cNvSpPr txBox="1"/>
          <p:nvPr/>
        </p:nvSpPr>
        <p:spPr>
          <a:xfrm>
            <a:off x="548640" y="6035040"/>
            <a:ext cx="4937760" cy="320040"/>
          </a:xfrm>
          <a:prstGeom prst="rect">
            <a:avLst/>
          </a:prstGeom>
          <a:noFill/>
          <a:ln/>
        </p:spPr>
        <p:txBody>
          <a:bodyPr wrap="square" lIns="0" tIns="0" rIns="0" bIns="0" rtlCol="0" anchor="t"/>
          <a:lstStyle/>
          <a:p>
            <a:pPr indent="0" marL="0">
              <a:buNone/>
            </a:pPr>
            <a:r>
              <a:rPr lang="en-US" sz="1200" b="1" dirty="0">
                <a:solidFill>
                  <a:srgbClr val="F2B75B"/>
                </a:solidFill>
                <a:latin typeface="Calibri" pitchFamily="34" charset="0"/>
                <a:ea typeface="Calibri" pitchFamily="34" charset="-122"/>
                <a:cs typeface="Calibri" pitchFamily="34" charset="-120"/>
              </a:rPr>
              <a:t>Live prototype: ies-orbit.vercel.app</a:t>
            </a:r>
            <a:endParaRPr lang="en-US" sz="1200" dirty="0"/>
          </a:p>
        </p:txBody>
      </p:sp>
      <p:sp>
        <p:nvSpPr>
          <p:cNvPr id="13" name="Shape 10"/>
          <p:cNvSpPr/>
          <p:nvPr/>
        </p:nvSpPr>
        <p:spPr>
          <a:xfrm>
            <a:off x="5760720" y="502920"/>
            <a:ext cx="5897880" cy="5852160"/>
          </a:xfrm>
          <a:prstGeom prst="roundRect">
            <a:avLst>
              <a:gd name="adj" fmla="val 2344"/>
            </a:avLst>
          </a:prstGeom>
          <a:solidFill>
            <a:srgbClr val="FFFFFF"/>
          </a:solidFill>
          <a:ln w="12700">
            <a:solidFill>
              <a:srgbClr val="FFFFFF"/>
            </a:solidFill>
            <a:prstDash val="solid"/>
          </a:ln>
        </p:spPr>
      </p:sp>
      <p:sp>
        <p:nvSpPr>
          <p:cNvPr id="14" name="Text 11"/>
          <p:cNvSpPr txBox="1"/>
          <p:nvPr/>
        </p:nvSpPr>
        <p:spPr>
          <a:xfrm>
            <a:off x="6080760" y="731520"/>
            <a:ext cx="5303520" cy="4572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The business context</a:t>
            </a:r>
            <a:endParaRPr lang="en-US" sz="2400" dirty="0"/>
          </a:p>
        </p:txBody>
      </p:sp>
      <p:sp>
        <p:nvSpPr>
          <p:cNvPr id="15" name="Shape 12"/>
          <p:cNvSpPr/>
          <p:nvPr/>
        </p:nvSpPr>
        <p:spPr>
          <a:xfrm>
            <a:off x="6080760" y="1325880"/>
            <a:ext cx="566928" cy="566928"/>
          </a:xfrm>
          <a:prstGeom prst="ellipse">
            <a:avLst/>
          </a:prstGeom>
          <a:solidFill>
            <a:srgbClr val="E8EDFC"/>
          </a:solidFill>
          <a:ln w="12700">
            <a:solidFill>
              <a:srgbClr val="E8EDFC"/>
            </a:solidFill>
            <a:prstDash val="solid"/>
          </a:ln>
        </p:spPr>
      </p:sp>
      <p:pic>
        <p:nvPicPr>
          <p:cNvPr id="16" name="Image 1" descr="preencoded.png">    </p:cNvPr>
          <p:cNvPicPr>
            <a:picLocks noChangeAspect="1"/>
          </p:cNvPicPr>
          <p:nvPr/>
        </p:nvPicPr>
        <p:blipFill>
          <a:blip r:embed="rId2"/>
          <a:stretch>
            <a:fillRect/>
          </a:stretch>
        </p:blipFill>
        <p:spPr>
          <a:xfrm>
            <a:off x="6222492" y="1467612"/>
            <a:ext cx="283464" cy="283464"/>
          </a:xfrm>
          <a:prstGeom prst="rect">
            <a:avLst/>
          </a:prstGeom>
        </p:spPr>
      </p:pic>
      <p:sp>
        <p:nvSpPr>
          <p:cNvPr id="17" name="Text 13"/>
          <p:cNvSpPr txBox="1"/>
          <p:nvPr/>
        </p:nvSpPr>
        <p:spPr>
          <a:xfrm>
            <a:off x="6812280" y="1307592"/>
            <a:ext cx="4572000" cy="292608"/>
          </a:xfrm>
          <a:prstGeom prst="rect">
            <a:avLst/>
          </a:prstGeom>
          <a:noFill/>
          <a:ln/>
        </p:spPr>
        <p:txBody>
          <a:bodyPr wrap="square" lIns="0" tIns="0" rIns="0" bIns="0" rtlCol="0" anchor="t"/>
          <a:lstStyle/>
          <a:p>
            <a:pPr indent="0" marL="0">
              <a:buNone/>
            </a:pPr>
            <a:r>
              <a:rPr lang="en-US" sz="1400" b="1" dirty="0">
                <a:solidFill>
                  <a:srgbClr val="1B2433"/>
                </a:solidFill>
                <a:latin typeface="Calibri" pitchFamily="34" charset="0"/>
                <a:ea typeface="Calibri" pitchFamily="34" charset="-122"/>
                <a:cs typeface="Calibri" pitchFamily="34" charset="-120"/>
              </a:rPr>
              <a:t>Who IES serves</a:t>
            </a:r>
            <a:endParaRPr lang="en-US" sz="1400" dirty="0"/>
          </a:p>
        </p:txBody>
      </p:sp>
      <p:sp>
        <p:nvSpPr>
          <p:cNvPr id="18" name="Text 14"/>
          <p:cNvSpPr txBox="1"/>
          <p:nvPr/>
        </p:nvSpPr>
        <p:spPr>
          <a:xfrm>
            <a:off x="6812280" y="1600200"/>
            <a:ext cx="4617720" cy="77724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Intuit Enterprise Suite is built for mid-size companies. These firms have outgrown small business tools. Large ERP systems still feel too slow and too costly for them.</a:t>
            </a:r>
            <a:endParaRPr lang="en-US" sz="1200" dirty="0"/>
          </a:p>
        </p:txBody>
      </p:sp>
      <p:sp>
        <p:nvSpPr>
          <p:cNvPr id="19" name="Shape 15"/>
          <p:cNvSpPr/>
          <p:nvPr/>
        </p:nvSpPr>
        <p:spPr>
          <a:xfrm>
            <a:off x="6080760" y="2468880"/>
            <a:ext cx="566928" cy="566928"/>
          </a:xfrm>
          <a:prstGeom prst="ellipse">
            <a:avLst/>
          </a:prstGeom>
          <a:solidFill>
            <a:srgbClr val="E3F5F2"/>
          </a:solidFill>
          <a:ln w="12700">
            <a:solidFill>
              <a:srgbClr val="E3F5F2"/>
            </a:solidFill>
            <a:prstDash val="solid"/>
          </a:ln>
        </p:spPr>
      </p:sp>
      <p:pic>
        <p:nvPicPr>
          <p:cNvPr id="20" name="Image 2" descr="preencoded.png">    </p:cNvPr>
          <p:cNvPicPr>
            <a:picLocks noChangeAspect="1"/>
          </p:cNvPicPr>
          <p:nvPr/>
        </p:nvPicPr>
        <p:blipFill>
          <a:blip r:embed="rId3"/>
          <a:stretch>
            <a:fillRect/>
          </a:stretch>
        </p:blipFill>
        <p:spPr>
          <a:xfrm>
            <a:off x="6222492" y="2610612"/>
            <a:ext cx="283464" cy="283464"/>
          </a:xfrm>
          <a:prstGeom prst="rect">
            <a:avLst/>
          </a:prstGeom>
        </p:spPr>
      </p:pic>
      <p:sp>
        <p:nvSpPr>
          <p:cNvPr id="21" name="Text 16"/>
          <p:cNvSpPr txBox="1"/>
          <p:nvPr/>
        </p:nvSpPr>
        <p:spPr>
          <a:xfrm>
            <a:off x="6812280" y="2450592"/>
            <a:ext cx="4572000" cy="292608"/>
          </a:xfrm>
          <a:prstGeom prst="rect">
            <a:avLst/>
          </a:prstGeom>
          <a:noFill/>
          <a:ln/>
        </p:spPr>
        <p:txBody>
          <a:bodyPr wrap="square" lIns="0" tIns="0" rIns="0" bIns="0" rtlCol="0" anchor="t"/>
          <a:lstStyle/>
          <a:p>
            <a:pPr indent="0" marL="0">
              <a:buNone/>
            </a:pPr>
            <a:r>
              <a:rPr lang="en-US" sz="1400" b="1" dirty="0">
                <a:solidFill>
                  <a:srgbClr val="1B2433"/>
                </a:solidFill>
                <a:latin typeface="Calibri" pitchFamily="34" charset="0"/>
                <a:ea typeface="Calibri" pitchFamily="34" charset="-122"/>
                <a:cs typeface="Calibri" pitchFamily="34" charset="-120"/>
              </a:rPr>
              <a:t>What has changed</a:t>
            </a:r>
            <a:endParaRPr lang="en-US" sz="1400" dirty="0"/>
          </a:p>
        </p:txBody>
      </p:sp>
      <p:sp>
        <p:nvSpPr>
          <p:cNvPr id="22" name="Text 17"/>
          <p:cNvSpPr txBox="1"/>
          <p:nvPr/>
        </p:nvSpPr>
        <p:spPr>
          <a:xfrm>
            <a:off x="6812280" y="2743200"/>
            <a:ext cx="4617720" cy="77724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Businesses now expect AI agents to do real work. Software that only records the past is no longer enough. People also want expert help at the exact moment they need it.</a:t>
            </a:r>
            <a:endParaRPr lang="en-US" sz="1200" dirty="0"/>
          </a:p>
        </p:txBody>
      </p:sp>
      <p:sp>
        <p:nvSpPr>
          <p:cNvPr id="23" name="Shape 18"/>
          <p:cNvSpPr/>
          <p:nvPr/>
        </p:nvSpPr>
        <p:spPr>
          <a:xfrm>
            <a:off x="6080760" y="3611880"/>
            <a:ext cx="566928" cy="566928"/>
          </a:xfrm>
          <a:prstGeom prst="ellipse">
            <a:avLst/>
          </a:prstGeom>
          <a:solidFill>
            <a:srgbClr val="FDF3E3"/>
          </a:solidFill>
          <a:ln w="12700">
            <a:solidFill>
              <a:srgbClr val="FDF3E3"/>
            </a:solidFill>
            <a:prstDash val="solid"/>
          </a:ln>
        </p:spPr>
      </p:sp>
      <p:pic>
        <p:nvPicPr>
          <p:cNvPr id="24" name="Image 3" descr="preencoded.png">    </p:cNvPr>
          <p:cNvPicPr>
            <a:picLocks noChangeAspect="1"/>
          </p:cNvPicPr>
          <p:nvPr/>
        </p:nvPicPr>
        <p:blipFill>
          <a:blip r:embed="rId4"/>
          <a:stretch>
            <a:fillRect/>
          </a:stretch>
        </p:blipFill>
        <p:spPr>
          <a:xfrm>
            <a:off x="6222492" y="3753612"/>
            <a:ext cx="283464" cy="283464"/>
          </a:xfrm>
          <a:prstGeom prst="rect">
            <a:avLst/>
          </a:prstGeom>
        </p:spPr>
      </p:pic>
      <p:sp>
        <p:nvSpPr>
          <p:cNvPr id="25" name="Text 19"/>
          <p:cNvSpPr txBox="1"/>
          <p:nvPr/>
        </p:nvSpPr>
        <p:spPr>
          <a:xfrm>
            <a:off x="6812280" y="3593592"/>
            <a:ext cx="4572000" cy="292608"/>
          </a:xfrm>
          <a:prstGeom prst="rect">
            <a:avLst/>
          </a:prstGeom>
          <a:noFill/>
          <a:ln/>
        </p:spPr>
        <p:txBody>
          <a:bodyPr wrap="square" lIns="0" tIns="0" rIns="0" bIns="0" rtlCol="0" anchor="t"/>
          <a:lstStyle/>
          <a:p>
            <a:pPr indent="0" marL="0">
              <a:buNone/>
            </a:pPr>
            <a:r>
              <a:rPr lang="en-US" sz="1400" b="1" dirty="0">
                <a:solidFill>
                  <a:srgbClr val="1B2433"/>
                </a:solidFill>
                <a:latin typeface="Calibri" pitchFamily="34" charset="0"/>
                <a:ea typeface="Calibri" pitchFamily="34" charset="-122"/>
                <a:cs typeface="Calibri" pitchFamily="34" charset="-120"/>
              </a:rPr>
              <a:t>What IES needs to become</a:t>
            </a:r>
            <a:endParaRPr lang="en-US" sz="1400" dirty="0"/>
          </a:p>
        </p:txBody>
      </p:sp>
      <p:sp>
        <p:nvSpPr>
          <p:cNvPr id="26" name="Text 20"/>
          <p:cNvSpPr txBox="1"/>
          <p:nvPr/>
        </p:nvSpPr>
        <p:spPr>
          <a:xfrm>
            <a:off x="6812280" y="3886200"/>
            <a:ext cx="4617720" cy="77724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IES needs to grow from a set of connected tools into an AI platform. Agents and experts should work inside finance, accounting, payroll and sales. Outside developers should be able to build and sell their own agents on IES.</a:t>
            </a:r>
            <a:endParaRPr lang="en-US" sz="1200" dirty="0"/>
          </a:p>
        </p:txBody>
      </p:sp>
      <p:sp>
        <p:nvSpPr>
          <p:cNvPr id="27" name="Shape 21"/>
          <p:cNvSpPr/>
          <p:nvPr/>
        </p:nvSpPr>
        <p:spPr>
          <a:xfrm>
            <a:off x="6080760" y="4846320"/>
            <a:ext cx="1737360" cy="1234440"/>
          </a:xfrm>
          <a:prstGeom prst="roundRect">
            <a:avLst>
              <a:gd name="adj" fmla="val 7407"/>
            </a:avLst>
          </a:prstGeom>
          <a:solidFill>
            <a:srgbClr val="F6F8FB"/>
          </a:solidFill>
          <a:ln w="12700">
            <a:solidFill>
              <a:srgbClr val="F6F8FB"/>
            </a:solidFill>
            <a:prstDash val="solid"/>
          </a:ln>
        </p:spPr>
      </p:sp>
      <p:sp>
        <p:nvSpPr>
          <p:cNvPr id="28" name="Text 22"/>
          <p:cNvSpPr txBox="1"/>
          <p:nvPr/>
        </p:nvSpPr>
        <p:spPr>
          <a:xfrm>
            <a:off x="6217920" y="4937760"/>
            <a:ext cx="1508760" cy="50292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50 to 2,500</a:t>
            </a:r>
            <a:endParaRPr lang="en-US" sz="1700" dirty="0"/>
          </a:p>
        </p:txBody>
      </p:sp>
      <p:sp>
        <p:nvSpPr>
          <p:cNvPr id="29" name="Text 23"/>
          <p:cNvSpPr txBox="1"/>
          <p:nvPr/>
        </p:nvSpPr>
        <p:spPr>
          <a:xfrm>
            <a:off x="6217920" y="5468112"/>
            <a:ext cx="1508760" cy="548640"/>
          </a:xfrm>
          <a:prstGeom prst="rect">
            <a:avLst/>
          </a:prstGeom>
          <a:noFill/>
          <a:ln/>
        </p:spPr>
        <p:txBody>
          <a:bodyPr wrap="square" lIns="0" tIns="0" rIns="0" bIns="0" rtlCol="0" anchor="t"/>
          <a:lstStyle/>
          <a:p>
            <a:pPr indent="0" marL="0">
              <a:buNone/>
            </a:pPr>
            <a:r>
              <a:rPr lang="en-US" sz="1050" dirty="0">
                <a:solidFill>
                  <a:srgbClr val="5B6576"/>
                </a:solidFill>
                <a:latin typeface="Calibri" pitchFamily="34" charset="0"/>
                <a:ea typeface="Calibri" pitchFamily="34" charset="-122"/>
                <a:cs typeface="Calibri" pitchFamily="34" charset="-120"/>
              </a:rPr>
              <a:t>people work at a typical customer company.</a:t>
            </a:r>
            <a:endParaRPr lang="en-US" sz="1050" dirty="0"/>
          </a:p>
        </p:txBody>
      </p:sp>
      <p:sp>
        <p:nvSpPr>
          <p:cNvPr id="30" name="Shape 24"/>
          <p:cNvSpPr/>
          <p:nvPr/>
        </p:nvSpPr>
        <p:spPr>
          <a:xfrm>
            <a:off x="7955280" y="4846320"/>
            <a:ext cx="1737360" cy="1234440"/>
          </a:xfrm>
          <a:prstGeom prst="roundRect">
            <a:avLst>
              <a:gd name="adj" fmla="val 7407"/>
            </a:avLst>
          </a:prstGeom>
          <a:solidFill>
            <a:srgbClr val="F6F8FB"/>
          </a:solidFill>
          <a:ln w="12700">
            <a:solidFill>
              <a:srgbClr val="F6F8FB"/>
            </a:solidFill>
            <a:prstDash val="solid"/>
          </a:ln>
        </p:spPr>
      </p:sp>
      <p:sp>
        <p:nvSpPr>
          <p:cNvPr id="31" name="Text 25"/>
          <p:cNvSpPr txBox="1"/>
          <p:nvPr/>
        </p:nvSpPr>
        <p:spPr>
          <a:xfrm>
            <a:off x="8092440" y="4937760"/>
            <a:ext cx="150876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2</a:t>
            </a:r>
            <a:endParaRPr lang="en-US" sz="3000" dirty="0"/>
          </a:p>
        </p:txBody>
      </p:sp>
      <p:sp>
        <p:nvSpPr>
          <p:cNvPr id="32" name="Text 26"/>
          <p:cNvSpPr txBox="1"/>
          <p:nvPr/>
        </p:nvSpPr>
        <p:spPr>
          <a:xfrm>
            <a:off x="8092440" y="5468112"/>
            <a:ext cx="1508760" cy="548640"/>
          </a:xfrm>
          <a:prstGeom prst="rect">
            <a:avLst/>
          </a:prstGeom>
          <a:noFill/>
          <a:ln/>
        </p:spPr>
        <p:txBody>
          <a:bodyPr wrap="square" lIns="0" tIns="0" rIns="0" bIns="0" rtlCol="0" anchor="t"/>
          <a:lstStyle/>
          <a:p>
            <a:pPr indent="0" marL="0">
              <a:buNone/>
            </a:pPr>
            <a:r>
              <a:rPr lang="en-US" sz="1050" dirty="0">
                <a:solidFill>
                  <a:srgbClr val="5B6576"/>
                </a:solidFill>
                <a:latin typeface="Calibri" pitchFamily="34" charset="0"/>
                <a:ea typeface="Calibri" pitchFamily="34" charset="-122"/>
                <a:cs typeface="Calibri" pitchFamily="34" charset="-120"/>
              </a:rPr>
              <a:t>groups of users are served by one product.</a:t>
            </a:r>
            <a:endParaRPr lang="en-US" sz="1050" dirty="0"/>
          </a:p>
        </p:txBody>
      </p:sp>
      <p:sp>
        <p:nvSpPr>
          <p:cNvPr id="33" name="Shape 27"/>
          <p:cNvSpPr/>
          <p:nvPr/>
        </p:nvSpPr>
        <p:spPr>
          <a:xfrm>
            <a:off x="9829800" y="4846320"/>
            <a:ext cx="1737360" cy="1234440"/>
          </a:xfrm>
          <a:prstGeom prst="roundRect">
            <a:avLst>
              <a:gd name="adj" fmla="val 7407"/>
            </a:avLst>
          </a:prstGeom>
          <a:solidFill>
            <a:srgbClr val="F6F8FB"/>
          </a:solidFill>
          <a:ln w="12700">
            <a:solidFill>
              <a:srgbClr val="F6F8FB"/>
            </a:solidFill>
            <a:prstDash val="solid"/>
          </a:ln>
        </p:spPr>
      </p:sp>
      <p:sp>
        <p:nvSpPr>
          <p:cNvPr id="34" name="Text 28"/>
          <p:cNvSpPr txBox="1"/>
          <p:nvPr/>
        </p:nvSpPr>
        <p:spPr>
          <a:xfrm>
            <a:off x="9966960" y="4937760"/>
            <a:ext cx="1508760" cy="502920"/>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1</a:t>
            </a:r>
            <a:endParaRPr lang="en-US" sz="3000" dirty="0"/>
          </a:p>
        </p:txBody>
      </p:sp>
      <p:sp>
        <p:nvSpPr>
          <p:cNvPr id="35" name="Text 29"/>
          <p:cNvSpPr txBox="1"/>
          <p:nvPr/>
        </p:nvSpPr>
        <p:spPr>
          <a:xfrm>
            <a:off x="9966960" y="5468112"/>
            <a:ext cx="1508760" cy="548640"/>
          </a:xfrm>
          <a:prstGeom prst="rect">
            <a:avLst/>
          </a:prstGeom>
          <a:noFill/>
          <a:ln/>
        </p:spPr>
        <p:txBody>
          <a:bodyPr wrap="square" lIns="0" tIns="0" rIns="0" bIns="0" rtlCol="0" anchor="t"/>
          <a:lstStyle/>
          <a:p>
            <a:pPr indent="0" marL="0">
              <a:buNone/>
            </a:pPr>
            <a:r>
              <a:rPr lang="en-US" sz="1050" dirty="0">
                <a:solidFill>
                  <a:srgbClr val="5B6576"/>
                </a:solidFill>
                <a:latin typeface="Calibri" pitchFamily="34" charset="0"/>
                <a:ea typeface="Calibri" pitchFamily="34" charset="-122"/>
                <a:cs typeface="Calibri" pitchFamily="34" charset="-120"/>
              </a:rPr>
              <a:t>shared base of business data sits under it all.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Who feels the pain and why it matters</a:t>
            </a:r>
            <a:endParaRPr lang="en-US" sz="2800" dirty="0"/>
          </a:p>
        </p:txBody>
      </p:sp>
      <p:sp>
        <p:nvSpPr>
          <p:cNvPr id="3" name="Text 1"/>
          <p:cNvSpPr txBox="1"/>
          <p:nvPr/>
        </p:nvSpPr>
        <p:spPr>
          <a:xfrm>
            <a:off x="548640" y="868680"/>
            <a:ext cx="11064240" cy="41148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Two groups of people face these problems every day. Orbit is built to serve both groups at the same time.</a:t>
            </a:r>
            <a:endParaRPr lang="en-US" sz="1300" dirty="0"/>
          </a:p>
        </p:txBody>
      </p:sp>
      <p:sp>
        <p:nvSpPr>
          <p:cNvPr id="4" name="Shape 2"/>
          <p:cNvSpPr/>
          <p:nvPr/>
        </p:nvSpPr>
        <p:spPr>
          <a:xfrm>
            <a:off x="548640" y="1417320"/>
            <a:ext cx="5486400" cy="4983480"/>
          </a:xfrm>
          <a:prstGeom prst="roundRect">
            <a:avLst>
              <a:gd name="adj" fmla="val 1835"/>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5" name="Shape 3"/>
          <p:cNvSpPr/>
          <p:nvPr/>
        </p:nvSpPr>
        <p:spPr>
          <a:xfrm>
            <a:off x="822960" y="1645920"/>
            <a:ext cx="640080" cy="640080"/>
          </a:xfrm>
          <a:prstGeom prst="ellipse">
            <a:avLst/>
          </a:prstGeom>
          <a:solidFill>
            <a:srgbClr val="E8EDFC"/>
          </a:solidFill>
          <a:ln w="12700">
            <a:solidFill>
              <a:srgbClr val="E8EDFC"/>
            </a:solidFill>
            <a:prstDash val="solid"/>
          </a:ln>
        </p:spPr>
      </p:sp>
      <p:pic>
        <p:nvPicPr>
          <p:cNvPr id="6" name="Image 0" descr="preencoded.png">    </p:cNvPr>
          <p:cNvPicPr>
            <a:picLocks noChangeAspect="1"/>
          </p:cNvPicPr>
          <p:nvPr/>
        </p:nvPicPr>
        <p:blipFill>
          <a:blip r:embed="rId1"/>
          <a:stretch>
            <a:fillRect/>
          </a:stretch>
        </p:blipFill>
        <p:spPr>
          <a:xfrm>
            <a:off x="982980" y="1805940"/>
            <a:ext cx="320040" cy="320040"/>
          </a:xfrm>
          <a:prstGeom prst="rect">
            <a:avLst/>
          </a:prstGeom>
        </p:spPr>
      </p:pic>
      <p:sp>
        <p:nvSpPr>
          <p:cNvPr id="7" name="Text 4"/>
          <p:cNvSpPr txBox="1"/>
          <p:nvPr/>
        </p:nvSpPr>
        <p:spPr>
          <a:xfrm>
            <a:off x="1600200" y="1645920"/>
            <a:ext cx="4297680" cy="365760"/>
          </a:xfrm>
          <a:prstGeom prst="rect">
            <a:avLst/>
          </a:prstGeom>
          <a:noFill/>
          <a:ln/>
        </p:spPr>
        <p:txBody>
          <a:bodyPr wrap="square" lIns="0" tIns="0" rIns="0" bIns="0" rtlCol="0" anchor="t"/>
          <a:lstStyle/>
          <a:p>
            <a:pPr indent="0" marL="0">
              <a:buNone/>
            </a:pPr>
            <a:r>
              <a:rPr lang="en-US" sz="1800" b="1" dirty="0">
                <a:solidFill>
                  <a:srgbClr val="1B2433"/>
                </a:solidFill>
                <a:latin typeface="Cambria" pitchFamily="34" charset="0"/>
                <a:ea typeface="Cambria" pitchFamily="34" charset="-122"/>
                <a:cs typeface="Cambria" pitchFamily="34" charset="-120"/>
              </a:rPr>
              <a:t>Finance leaders</a:t>
            </a:r>
            <a:endParaRPr lang="en-US" sz="1800" dirty="0"/>
          </a:p>
        </p:txBody>
      </p:sp>
      <p:sp>
        <p:nvSpPr>
          <p:cNvPr id="8" name="Text 5"/>
          <p:cNvSpPr txBox="1"/>
          <p:nvPr/>
        </p:nvSpPr>
        <p:spPr>
          <a:xfrm>
            <a:off x="1600200" y="2011680"/>
            <a:ext cx="4297680" cy="457200"/>
          </a:xfrm>
          <a:prstGeom prst="rect">
            <a:avLst/>
          </a:prstGeom>
          <a:noFill/>
          <a:ln/>
        </p:spPr>
        <p:txBody>
          <a:bodyPr wrap="square" lIns="0" tIns="0" rIns="0" bIns="0" rtlCol="0" anchor="t"/>
          <a:lstStyle/>
          <a:p>
            <a:pPr indent="0" marL="0">
              <a:buNone/>
            </a:pPr>
            <a:r>
              <a:rPr lang="en-US" sz="1150" dirty="0">
                <a:solidFill>
                  <a:srgbClr val="5B6576"/>
                </a:solidFill>
                <a:latin typeface="Calibri" pitchFamily="34" charset="0"/>
                <a:ea typeface="Calibri" pitchFamily="34" charset="-122"/>
                <a:cs typeface="Calibri" pitchFamily="34" charset="-120"/>
              </a:rPr>
              <a:t>These are CFOs, controllers and business owners. Many of them run several companies across several countries.</a:t>
            </a:r>
            <a:endParaRPr lang="en-US" sz="1150" dirty="0"/>
          </a:p>
        </p:txBody>
      </p:sp>
      <p:sp>
        <p:nvSpPr>
          <p:cNvPr id="9" name="Shape 6"/>
          <p:cNvSpPr/>
          <p:nvPr/>
        </p:nvSpPr>
        <p:spPr>
          <a:xfrm>
            <a:off x="868680" y="2697480"/>
            <a:ext cx="384048" cy="384048"/>
          </a:xfrm>
          <a:prstGeom prst="ellipse">
            <a:avLst/>
          </a:prstGeom>
          <a:solidFill>
            <a:srgbClr val="FBEAE8"/>
          </a:solidFill>
          <a:ln w="12700">
            <a:solidFill>
              <a:srgbClr val="FBEAE8"/>
            </a:solidFill>
            <a:prstDash val="solid"/>
          </a:ln>
        </p:spPr>
      </p:sp>
      <p:pic>
        <p:nvPicPr>
          <p:cNvPr id="10" name="Image 1" descr="preencoded.png">    </p:cNvPr>
          <p:cNvPicPr>
            <a:picLocks noChangeAspect="1"/>
          </p:cNvPicPr>
          <p:nvPr/>
        </p:nvPicPr>
        <p:blipFill>
          <a:blip r:embed="rId2"/>
          <a:stretch>
            <a:fillRect/>
          </a:stretch>
        </p:blipFill>
        <p:spPr>
          <a:xfrm>
            <a:off x="964692" y="2793492"/>
            <a:ext cx="192024" cy="192024"/>
          </a:xfrm>
          <a:prstGeom prst="rect">
            <a:avLst/>
          </a:prstGeom>
        </p:spPr>
      </p:pic>
      <p:sp>
        <p:nvSpPr>
          <p:cNvPr id="11" name="Text 7"/>
          <p:cNvSpPr txBox="1"/>
          <p:nvPr/>
        </p:nvSpPr>
        <p:spPr>
          <a:xfrm>
            <a:off x="1417320" y="2679192"/>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Their data sits in many separate tools. Accounting, payroll, HR and sales rarely talk to each other.</a:t>
            </a:r>
            <a:endParaRPr lang="en-US" sz="1200" dirty="0"/>
          </a:p>
        </p:txBody>
      </p:sp>
      <p:sp>
        <p:nvSpPr>
          <p:cNvPr id="12" name="Shape 8"/>
          <p:cNvSpPr/>
          <p:nvPr/>
        </p:nvSpPr>
        <p:spPr>
          <a:xfrm>
            <a:off x="868680" y="3300984"/>
            <a:ext cx="384048" cy="384048"/>
          </a:xfrm>
          <a:prstGeom prst="ellipse">
            <a:avLst/>
          </a:prstGeom>
          <a:solidFill>
            <a:srgbClr val="FBEAE8"/>
          </a:solidFill>
          <a:ln w="12700">
            <a:solidFill>
              <a:srgbClr val="FBEAE8"/>
            </a:solidFill>
            <a:prstDash val="solid"/>
          </a:ln>
        </p:spPr>
      </p:sp>
      <p:pic>
        <p:nvPicPr>
          <p:cNvPr id="13" name="Image 2" descr="preencoded.png">    </p:cNvPr>
          <p:cNvPicPr>
            <a:picLocks noChangeAspect="1"/>
          </p:cNvPicPr>
          <p:nvPr/>
        </p:nvPicPr>
        <p:blipFill>
          <a:blip r:embed="rId3"/>
          <a:stretch>
            <a:fillRect/>
          </a:stretch>
        </p:blipFill>
        <p:spPr>
          <a:xfrm>
            <a:off x="964692" y="3396996"/>
            <a:ext cx="192024" cy="192024"/>
          </a:xfrm>
          <a:prstGeom prst="rect">
            <a:avLst/>
          </a:prstGeom>
        </p:spPr>
      </p:pic>
      <p:sp>
        <p:nvSpPr>
          <p:cNvPr id="14" name="Text 9"/>
          <p:cNvSpPr txBox="1"/>
          <p:nvPr/>
        </p:nvSpPr>
        <p:spPr>
          <a:xfrm>
            <a:off x="1417320" y="3282696"/>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Closing the books each month takes weeks of manual work. Reports are already old by the time they arrive.</a:t>
            </a:r>
            <a:endParaRPr lang="en-US" sz="1200" dirty="0"/>
          </a:p>
        </p:txBody>
      </p:sp>
      <p:sp>
        <p:nvSpPr>
          <p:cNvPr id="15" name="Shape 10"/>
          <p:cNvSpPr/>
          <p:nvPr/>
        </p:nvSpPr>
        <p:spPr>
          <a:xfrm>
            <a:off x="868680" y="3904488"/>
            <a:ext cx="384048" cy="384048"/>
          </a:xfrm>
          <a:prstGeom prst="ellipse">
            <a:avLst/>
          </a:prstGeom>
          <a:solidFill>
            <a:srgbClr val="FBEAE8"/>
          </a:solidFill>
          <a:ln w="12700">
            <a:solidFill>
              <a:srgbClr val="FBEAE8"/>
            </a:solidFill>
            <a:prstDash val="solid"/>
          </a:ln>
        </p:spPr>
      </p:sp>
      <p:pic>
        <p:nvPicPr>
          <p:cNvPr id="16" name="Image 3" descr="preencoded.png">    </p:cNvPr>
          <p:cNvPicPr>
            <a:picLocks noChangeAspect="1"/>
          </p:cNvPicPr>
          <p:nvPr/>
        </p:nvPicPr>
        <p:blipFill>
          <a:blip r:embed="rId4"/>
          <a:stretch>
            <a:fillRect/>
          </a:stretch>
        </p:blipFill>
        <p:spPr>
          <a:xfrm>
            <a:off x="964692" y="4000500"/>
            <a:ext cx="192024" cy="192024"/>
          </a:xfrm>
          <a:prstGeom prst="rect">
            <a:avLst/>
          </a:prstGeom>
        </p:spPr>
      </p:pic>
      <p:sp>
        <p:nvSpPr>
          <p:cNvPr id="17" name="Text 11"/>
          <p:cNvSpPr txBox="1"/>
          <p:nvPr/>
        </p:nvSpPr>
        <p:spPr>
          <a:xfrm>
            <a:off x="1417320" y="3886200"/>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Good expert advice on tax or planning is expensive. Small teams cannot hire a specialist for every question.</a:t>
            </a:r>
            <a:endParaRPr lang="en-US" sz="1200" dirty="0"/>
          </a:p>
        </p:txBody>
      </p:sp>
      <p:sp>
        <p:nvSpPr>
          <p:cNvPr id="18" name="Shape 12"/>
          <p:cNvSpPr/>
          <p:nvPr/>
        </p:nvSpPr>
        <p:spPr>
          <a:xfrm>
            <a:off x="868680" y="4507992"/>
            <a:ext cx="384048" cy="384048"/>
          </a:xfrm>
          <a:prstGeom prst="ellipse">
            <a:avLst/>
          </a:prstGeom>
          <a:solidFill>
            <a:srgbClr val="FBEAE8"/>
          </a:solidFill>
          <a:ln w="12700">
            <a:solidFill>
              <a:srgbClr val="FBEAE8"/>
            </a:solidFill>
            <a:prstDash val="solid"/>
          </a:ln>
        </p:spPr>
      </p:sp>
      <p:pic>
        <p:nvPicPr>
          <p:cNvPr id="19" name="Image 4" descr="preencoded.png">    </p:cNvPr>
          <p:cNvPicPr>
            <a:picLocks noChangeAspect="1"/>
          </p:cNvPicPr>
          <p:nvPr/>
        </p:nvPicPr>
        <p:blipFill>
          <a:blip r:embed="rId5"/>
          <a:stretch>
            <a:fillRect/>
          </a:stretch>
        </p:blipFill>
        <p:spPr>
          <a:xfrm>
            <a:off x="964692" y="4604004"/>
            <a:ext cx="192024" cy="192024"/>
          </a:xfrm>
          <a:prstGeom prst="rect">
            <a:avLst/>
          </a:prstGeom>
        </p:spPr>
      </p:pic>
      <p:sp>
        <p:nvSpPr>
          <p:cNvPr id="20" name="Text 13"/>
          <p:cNvSpPr txBox="1"/>
          <p:nvPr/>
        </p:nvSpPr>
        <p:spPr>
          <a:xfrm>
            <a:off x="1417320" y="4489704"/>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They are careful about letting AI touch the books. They want proof and control before they trust it.</a:t>
            </a:r>
            <a:endParaRPr lang="en-US" sz="1200" dirty="0"/>
          </a:p>
        </p:txBody>
      </p:sp>
      <p:sp>
        <p:nvSpPr>
          <p:cNvPr id="21" name="Shape 14"/>
          <p:cNvSpPr/>
          <p:nvPr/>
        </p:nvSpPr>
        <p:spPr>
          <a:xfrm>
            <a:off x="822960" y="5166360"/>
            <a:ext cx="4937760" cy="1051560"/>
          </a:xfrm>
          <a:prstGeom prst="roundRect">
            <a:avLst>
              <a:gd name="adj" fmla="val 8696"/>
            </a:avLst>
          </a:prstGeom>
          <a:solidFill>
            <a:srgbClr val="E8EDFC"/>
          </a:solidFill>
          <a:ln w="12700">
            <a:solidFill>
              <a:srgbClr val="E8EDFC"/>
            </a:solidFill>
            <a:prstDash val="solid"/>
          </a:ln>
        </p:spPr>
      </p:sp>
      <p:sp>
        <p:nvSpPr>
          <p:cNvPr id="22" name="Text 15"/>
          <p:cNvSpPr txBox="1"/>
          <p:nvPr/>
        </p:nvSpPr>
        <p:spPr>
          <a:xfrm>
            <a:off x="1005840" y="5257800"/>
            <a:ext cx="4572000" cy="274320"/>
          </a:xfrm>
          <a:prstGeom prst="rect">
            <a:avLst/>
          </a:prstGeom>
          <a:noFill/>
          <a:ln/>
        </p:spPr>
        <p:txBody>
          <a:bodyPr wrap="square" lIns="0" tIns="0" rIns="0" bIns="0" rtlCol="0" anchor="t"/>
          <a:lstStyle/>
          <a:p>
            <a:pPr indent="0" marL="0">
              <a:buNone/>
            </a:pPr>
            <a:r>
              <a:rPr lang="en-US" sz="1100" b="1" dirty="0">
                <a:solidFill>
                  <a:srgbClr val="3F5BD9"/>
                </a:solidFill>
                <a:latin typeface="Calibri" pitchFamily="34" charset="0"/>
                <a:ea typeface="Calibri" pitchFamily="34" charset="-122"/>
                <a:cs typeface="Calibri" pitchFamily="34" charset="-120"/>
              </a:rPr>
              <a:t>What they really want</a:t>
            </a:r>
            <a:endParaRPr lang="en-US" sz="1100" dirty="0"/>
          </a:p>
        </p:txBody>
      </p:sp>
      <p:sp>
        <p:nvSpPr>
          <p:cNvPr id="23" name="Text 16"/>
          <p:cNvSpPr txBox="1"/>
          <p:nvPr/>
        </p:nvSpPr>
        <p:spPr>
          <a:xfrm>
            <a:off x="1005840" y="5532120"/>
            <a:ext cx="4572000" cy="640080"/>
          </a:xfrm>
          <a:prstGeom prst="rect">
            <a:avLst/>
          </a:prstGeom>
          <a:noFill/>
          <a:ln/>
        </p:spPr>
        <p:txBody>
          <a:bodyPr wrap="square" lIns="0" tIns="0" rIns="0" bIns="0" rtlCol="0" anchor="t"/>
          <a:lstStyle/>
          <a:p>
            <a:pPr indent="0" marL="0">
              <a:buNone/>
            </a:pPr>
            <a:r>
              <a:rPr lang="en-US" sz="1200" i="1" dirty="0">
                <a:solidFill>
                  <a:srgbClr val="1B2433"/>
                </a:solidFill>
                <a:latin typeface="Calibri" pitchFamily="34" charset="0"/>
                <a:ea typeface="Calibri" pitchFamily="34" charset="-122"/>
                <a:cs typeface="Calibri" pitchFamily="34" charset="-120"/>
              </a:rPr>
              <a:t>Finance leaders want agents to close the books and point out what matters. They still want the final say on big decisions and proof for every number.</a:t>
            </a:r>
            <a:endParaRPr lang="en-US" sz="1200" dirty="0"/>
          </a:p>
        </p:txBody>
      </p:sp>
      <p:sp>
        <p:nvSpPr>
          <p:cNvPr id="24" name="Shape 17"/>
          <p:cNvSpPr/>
          <p:nvPr/>
        </p:nvSpPr>
        <p:spPr>
          <a:xfrm>
            <a:off x="6172200" y="1417320"/>
            <a:ext cx="5486400" cy="4983480"/>
          </a:xfrm>
          <a:prstGeom prst="roundRect">
            <a:avLst>
              <a:gd name="adj" fmla="val 1835"/>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25" name="Shape 18"/>
          <p:cNvSpPr/>
          <p:nvPr/>
        </p:nvSpPr>
        <p:spPr>
          <a:xfrm>
            <a:off x="6446520" y="1645920"/>
            <a:ext cx="640080" cy="640080"/>
          </a:xfrm>
          <a:prstGeom prst="ellipse">
            <a:avLst/>
          </a:prstGeom>
          <a:solidFill>
            <a:srgbClr val="E3F5F2"/>
          </a:solidFill>
          <a:ln w="12700">
            <a:solidFill>
              <a:srgbClr val="E3F5F2"/>
            </a:solidFill>
            <a:prstDash val="solid"/>
          </a:ln>
        </p:spPr>
      </p:sp>
      <p:pic>
        <p:nvPicPr>
          <p:cNvPr id="26" name="Image 5" descr="preencoded.png">    </p:cNvPr>
          <p:cNvPicPr>
            <a:picLocks noChangeAspect="1"/>
          </p:cNvPicPr>
          <p:nvPr/>
        </p:nvPicPr>
        <p:blipFill>
          <a:blip r:embed="rId6"/>
          <a:stretch>
            <a:fillRect/>
          </a:stretch>
        </p:blipFill>
        <p:spPr>
          <a:xfrm>
            <a:off x="6606540" y="1805940"/>
            <a:ext cx="320040" cy="320040"/>
          </a:xfrm>
          <a:prstGeom prst="rect">
            <a:avLst/>
          </a:prstGeom>
        </p:spPr>
      </p:pic>
      <p:sp>
        <p:nvSpPr>
          <p:cNvPr id="27" name="Text 19"/>
          <p:cNvSpPr txBox="1"/>
          <p:nvPr/>
        </p:nvSpPr>
        <p:spPr>
          <a:xfrm>
            <a:off x="7223760" y="1645920"/>
            <a:ext cx="4297680" cy="365760"/>
          </a:xfrm>
          <a:prstGeom prst="rect">
            <a:avLst/>
          </a:prstGeom>
          <a:noFill/>
          <a:ln/>
        </p:spPr>
        <p:txBody>
          <a:bodyPr wrap="square" lIns="0" tIns="0" rIns="0" bIns="0" rtlCol="0" anchor="t"/>
          <a:lstStyle/>
          <a:p>
            <a:pPr indent="0" marL="0">
              <a:buNone/>
            </a:pPr>
            <a:r>
              <a:rPr lang="en-US" sz="1800" b="1" dirty="0">
                <a:solidFill>
                  <a:srgbClr val="1B2433"/>
                </a:solidFill>
                <a:latin typeface="Cambria" pitchFamily="34" charset="0"/>
                <a:ea typeface="Cambria" pitchFamily="34" charset="-122"/>
                <a:cs typeface="Cambria" pitchFamily="34" charset="-120"/>
              </a:rPr>
              <a:t>Developers and partners</a:t>
            </a:r>
            <a:endParaRPr lang="en-US" sz="1800" dirty="0"/>
          </a:p>
        </p:txBody>
      </p:sp>
      <p:sp>
        <p:nvSpPr>
          <p:cNvPr id="28" name="Text 20"/>
          <p:cNvSpPr txBox="1"/>
          <p:nvPr/>
        </p:nvSpPr>
        <p:spPr>
          <a:xfrm>
            <a:off x="7223760" y="2011680"/>
            <a:ext cx="4297680" cy="457200"/>
          </a:xfrm>
          <a:prstGeom prst="rect">
            <a:avLst/>
          </a:prstGeom>
          <a:noFill/>
          <a:ln/>
        </p:spPr>
        <p:txBody>
          <a:bodyPr wrap="square" lIns="0" tIns="0" rIns="0" bIns="0" rtlCol="0" anchor="t"/>
          <a:lstStyle/>
          <a:p>
            <a:pPr indent="0" marL="0">
              <a:buNone/>
            </a:pPr>
            <a:r>
              <a:rPr lang="en-US" sz="1150" dirty="0">
                <a:solidFill>
                  <a:srgbClr val="5B6576"/>
                </a:solidFill>
                <a:latin typeface="Calibri" pitchFamily="34" charset="0"/>
                <a:ea typeface="Calibri" pitchFamily="34" charset="-122"/>
                <a:cs typeface="Calibri" pitchFamily="34" charset="-120"/>
              </a:rPr>
              <a:t>These are startups, fintech firms, consultants and software companies that build products for mid-size businesses.</a:t>
            </a:r>
            <a:endParaRPr lang="en-US" sz="1150" dirty="0"/>
          </a:p>
        </p:txBody>
      </p:sp>
      <p:sp>
        <p:nvSpPr>
          <p:cNvPr id="29" name="Shape 21"/>
          <p:cNvSpPr/>
          <p:nvPr/>
        </p:nvSpPr>
        <p:spPr>
          <a:xfrm>
            <a:off x="6492240" y="2697480"/>
            <a:ext cx="384048" cy="384048"/>
          </a:xfrm>
          <a:prstGeom prst="ellipse">
            <a:avLst/>
          </a:prstGeom>
          <a:solidFill>
            <a:srgbClr val="FBEAE8"/>
          </a:solidFill>
          <a:ln w="12700">
            <a:solidFill>
              <a:srgbClr val="FBEAE8"/>
            </a:solidFill>
            <a:prstDash val="solid"/>
          </a:ln>
        </p:spPr>
      </p:sp>
      <p:pic>
        <p:nvPicPr>
          <p:cNvPr id="30" name="Image 6" descr="preencoded.png">    </p:cNvPr>
          <p:cNvPicPr>
            <a:picLocks noChangeAspect="1"/>
          </p:cNvPicPr>
          <p:nvPr/>
        </p:nvPicPr>
        <p:blipFill>
          <a:blip r:embed="rId7"/>
          <a:stretch>
            <a:fillRect/>
          </a:stretch>
        </p:blipFill>
        <p:spPr>
          <a:xfrm>
            <a:off x="6588252" y="2793492"/>
            <a:ext cx="192024" cy="192024"/>
          </a:xfrm>
          <a:prstGeom prst="rect">
            <a:avLst/>
          </a:prstGeom>
        </p:spPr>
      </p:pic>
      <p:sp>
        <p:nvSpPr>
          <p:cNvPr id="31" name="Text 22"/>
          <p:cNvSpPr txBox="1"/>
          <p:nvPr/>
        </p:nvSpPr>
        <p:spPr>
          <a:xfrm>
            <a:off x="7040880" y="2679192"/>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Connecting to financial systems is slow and complicated. Every new integration feels like a big project.</a:t>
            </a:r>
            <a:endParaRPr lang="en-US" sz="1200" dirty="0"/>
          </a:p>
        </p:txBody>
      </p:sp>
      <p:sp>
        <p:nvSpPr>
          <p:cNvPr id="32" name="Shape 23"/>
          <p:cNvSpPr/>
          <p:nvPr/>
        </p:nvSpPr>
        <p:spPr>
          <a:xfrm>
            <a:off x="6492240" y="3300984"/>
            <a:ext cx="384048" cy="384048"/>
          </a:xfrm>
          <a:prstGeom prst="ellipse">
            <a:avLst/>
          </a:prstGeom>
          <a:solidFill>
            <a:srgbClr val="FBEAE8"/>
          </a:solidFill>
          <a:ln w="12700">
            <a:solidFill>
              <a:srgbClr val="FBEAE8"/>
            </a:solidFill>
            <a:prstDash val="solid"/>
          </a:ln>
        </p:spPr>
      </p:sp>
      <p:pic>
        <p:nvPicPr>
          <p:cNvPr id="33" name="Image 7" descr="preencoded.png">    </p:cNvPr>
          <p:cNvPicPr>
            <a:picLocks noChangeAspect="1"/>
          </p:cNvPicPr>
          <p:nvPr/>
        </p:nvPicPr>
        <p:blipFill>
          <a:blip r:embed="rId8"/>
          <a:stretch>
            <a:fillRect/>
          </a:stretch>
        </p:blipFill>
        <p:spPr>
          <a:xfrm>
            <a:off x="6588252" y="3396996"/>
            <a:ext cx="192024" cy="192024"/>
          </a:xfrm>
          <a:prstGeom prst="rect">
            <a:avLst/>
          </a:prstGeom>
        </p:spPr>
      </p:pic>
      <p:sp>
        <p:nvSpPr>
          <p:cNvPr id="34" name="Text 24"/>
          <p:cNvSpPr txBox="1"/>
          <p:nvPr/>
        </p:nvSpPr>
        <p:spPr>
          <a:xfrm>
            <a:off x="7040880" y="3282696"/>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Most accounting APIs only return thin data. AI agents need rich and live business information.</a:t>
            </a:r>
            <a:endParaRPr lang="en-US" sz="1200" dirty="0"/>
          </a:p>
        </p:txBody>
      </p:sp>
      <p:sp>
        <p:nvSpPr>
          <p:cNvPr id="35" name="Shape 25"/>
          <p:cNvSpPr/>
          <p:nvPr/>
        </p:nvSpPr>
        <p:spPr>
          <a:xfrm>
            <a:off x="6492240" y="3904488"/>
            <a:ext cx="384048" cy="384048"/>
          </a:xfrm>
          <a:prstGeom prst="ellipse">
            <a:avLst/>
          </a:prstGeom>
          <a:solidFill>
            <a:srgbClr val="FBEAE8"/>
          </a:solidFill>
          <a:ln w="12700">
            <a:solidFill>
              <a:srgbClr val="FBEAE8"/>
            </a:solidFill>
            <a:prstDash val="solid"/>
          </a:ln>
        </p:spPr>
      </p:sp>
      <p:pic>
        <p:nvPicPr>
          <p:cNvPr id="36" name="Image 8" descr="preencoded.png">    </p:cNvPr>
          <p:cNvPicPr>
            <a:picLocks noChangeAspect="1"/>
          </p:cNvPicPr>
          <p:nvPr/>
        </p:nvPicPr>
        <p:blipFill>
          <a:blip r:embed="rId9"/>
          <a:stretch>
            <a:fillRect/>
          </a:stretch>
        </p:blipFill>
        <p:spPr>
          <a:xfrm>
            <a:off x="6588252" y="4000500"/>
            <a:ext cx="192024" cy="192024"/>
          </a:xfrm>
          <a:prstGeom prst="rect">
            <a:avLst/>
          </a:prstGeom>
        </p:spPr>
      </p:pic>
      <p:sp>
        <p:nvSpPr>
          <p:cNvPr id="37" name="Text 26"/>
          <p:cNvSpPr txBox="1"/>
          <p:nvPr/>
        </p:nvSpPr>
        <p:spPr>
          <a:xfrm>
            <a:off x="7040880" y="3886200"/>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Few good tools exist to build and test AI agents safely. A small mistake in finance can be very costly.</a:t>
            </a:r>
            <a:endParaRPr lang="en-US" sz="1200" dirty="0"/>
          </a:p>
        </p:txBody>
      </p:sp>
      <p:sp>
        <p:nvSpPr>
          <p:cNvPr id="38" name="Shape 27"/>
          <p:cNvSpPr/>
          <p:nvPr/>
        </p:nvSpPr>
        <p:spPr>
          <a:xfrm>
            <a:off x="6492240" y="4507992"/>
            <a:ext cx="384048" cy="384048"/>
          </a:xfrm>
          <a:prstGeom prst="ellipse">
            <a:avLst/>
          </a:prstGeom>
          <a:solidFill>
            <a:srgbClr val="FBEAE8"/>
          </a:solidFill>
          <a:ln w="12700">
            <a:solidFill>
              <a:srgbClr val="FBEAE8"/>
            </a:solidFill>
            <a:prstDash val="solid"/>
          </a:ln>
        </p:spPr>
      </p:sp>
      <p:pic>
        <p:nvPicPr>
          <p:cNvPr id="39" name="Image 9" descr="preencoded.png">    </p:cNvPr>
          <p:cNvPicPr>
            <a:picLocks noChangeAspect="1"/>
          </p:cNvPicPr>
          <p:nvPr/>
        </p:nvPicPr>
        <p:blipFill>
          <a:blip r:embed="rId10"/>
          <a:stretch>
            <a:fillRect/>
          </a:stretch>
        </p:blipFill>
        <p:spPr>
          <a:xfrm>
            <a:off x="6588252" y="4604004"/>
            <a:ext cx="192024" cy="192024"/>
          </a:xfrm>
          <a:prstGeom prst="rect">
            <a:avLst/>
          </a:prstGeom>
        </p:spPr>
      </p:pic>
      <p:sp>
        <p:nvSpPr>
          <p:cNvPr id="40" name="Text 28"/>
          <p:cNvSpPr txBox="1"/>
          <p:nvPr/>
        </p:nvSpPr>
        <p:spPr>
          <a:xfrm>
            <a:off x="7040880" y="4489704"/>
            <a:ext cx="4434840" cy="566928"/>
          </a:xfrm>
          <a:prstGeom prst="rect">
            <a:avLst/>
          </a:prstGeom>
          <a:noFill/>
          <a:ln/>
        </p:spPr>
        <p:txBody>
          <a:bodyPr wrap="square" lIns="0" tIns="0" rIns="0" bIns="0" rtlCol="0" anchor="t"/>
          <a:lstStyle/>
          <a:p>
            <a:pPr indent="0" marL="0">
              <a:buNone/>
            </a:pPr>
            <a:r>
              <a:rPr lang="en-US" sz="1200" dirty="0">
                <a:solidFill>
                  <a:srgbClr val="1B2433"/>
                </a:solidFill>
                <a:latin typeface="Calibri" pitchFamily="34" charset="0"/>
                <a:ea typeface="Calibri" pitchFamily="34" charset="-122"/>
                <a:cs typeface="Calibri" pitchFamily="34" charset="-120"/>
              </a:rPr>
              <a:t>It is hard to reach customers and earn money. Buyers rarely trust an agent from an unknown company.</a:t>
            </a:r>
            <a:endParaRPr lang="en-US" sz="1200" dirty="0"/>
          </a:p>
        </p:txBody>
      </p:sp>
      <p:sp>
        <p:nvSpPr>
          <p:cNvPr id="41" name="Shape 29"/>
          <p:cNvSpPr/>
          <p:nvPr/>
        </p:nvSpPr>
        <p:spPr>
          <a:xfrm>
            <a:off x="6446520" y="5166360"/>
            <a:ext cx="4937760" cy="1051560"/>
          </a:xfrm>
          <a:prstGeom prst="roundRect">
            <a:avLst>
              <a:gd name="adj" fmla="val 8696"/>
            </a:avLst>
          </a:prstGeom>
          <a:solidFill>
            <a:srgbClr val="E3F5F2"/>
          </a:solidFill>
          <a:ln w="12700">
            <a:solidFill>
              <a:srgbClr val="E3F5F2"/>
            </a:solidFill>
            <a:prstDash val="solid"/>
          </a:ln>
        </p:spPr>
      </p:sp>
      <p:sp>
        <p:nvSpPr>
          <p:cNvPr id="42" name="Text 30"/>
          <p:cNvSpPr txBox="1"/>
          <p:nvPr/>
        </p:nvSpPr>
        <p:spPr>
          <a:xfrm>
            <a:off x="6629400" y="5257800"/>
            <a:ext cx="4572000" cy="274320"/>
          </a:xfrm>
          <a:prstGeom prst="rect">
            <a:avLst/>
          </a:prstGeom>
          <a:noFill/>
          <a:ln/>
        </p:spPr>
        <p:txBody>
          <a:bodyPr wrap="square" lIns="0" tIns="0" rIns="0" bIns="0" rtlCol="0" anchor="t"/>
          <a:lstStyle/>
          <a:p>
            <a:pPr indent="0" marL="0">
              <a:buNone/>
            </a:pPr>
            <a:r>
              <a:rPr lang="en-US" sz="1100" b="1" dirty="0">
                <a:solidFill>
                  <a:srgbClr val="0F9D8A"/>
                </a:solidFill>
                <a:latin typeface="Calibri" pitchFamily="34" charset="0"/>
                <a:ea typeface="Calibri" pitchFamily="34" charset="-122"/>
                <a:cs typeface="Calibri" pitchFamily="34" charset="-120"/>
              </a:rPr>
              <a:t>What they really want</a:t>
            </a:r>
            <a:endParaRPr lang="en-US" sz="1100" dirty="0"/>
          </a:p>
        </p:txBody>
      </p:sp>
      <p:sp>
        <p:nvSpPr>
          <p:cNvPr id="43" name="Text 31"/>
          <p:cNvSpPr txBox="1"/>
          <p:nvPr/>
        </p:nvSpPr>
        <p:spPr>
          <a:xfrm>
            <a:off x="6629400" y="5532120"/>
            <a:ext cx="4572000" cy="640080"/>
          </a:xfrm>
          <a:prstGeom prst="rect">
            <a:avLst/>
          </a:prstGeom>
          <a:noFill/>
          <a:ln/>
        </p:spPr>
        <p:txBody>
          <a:bodyPr wrap="square" lIns="0" tIns="0" rIns="0" bIns="0" rtlCol="0" anchor="t"/>
          <a:lstStyle/>
          <a:p>
            <a:pPr indent="0" marL="0">
              <a:buNone/>
            </a:pPr>
            <a:r>
              <a:rPr lang="en-US" sz="1200" i="1" dirty="0">
                <a:solidFill>
                  <a:srgbClr val="1B2433"/>
                </a:solidFill>
                <a:latin typeface="Calibri" pitchFamily="34" charset="0"/>
                <a:ea typeface="Calibri" pitchFamily="34" charset="-122"/>
                <a:cs typeface="Calibri" pitchFamily="34" charset="-120"/>
              </a:rPr>
              <a:t>Developers want rich data from one API and a safe place to test. They also want an easy way to reach customers who will pay for their work.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The solution: Orbit</a:t>
            </a:r>
            <a:endParaRPr lang="en-US" sz="2800" dirty="0"/>
          </a:p>
        </p:txBody>
      </p:sp>
      <p:sp>
        <p:nvSpPr>
          <p:cNvPr id="3" name="Text 1"/>
          <p:cNvSpPr txBox="1"/>
          <p:nvPr/>
        </p:nvSpPr>
        <p:spPr>
          <a:xfrm>
            <a:off x="548640" y="868680"/>
            <a:ext cx="11064240" cy="41148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Orbit turns IES from software that records business activity into software that also takes action. AI agents, human experts and outside developers all work on the same business data. The finance leader stays in charge the whole time.</a:t>
            </a:r>
            <a:endParaRPr lang="en-US" sz="1300" dirty="0"/>
          </a:p>
        </p:txBody>
      </p:sp>
      <p:sp>
        <p:nvSpPr>
          <p:cNvPr id="4" name="Shape 2"/>
          <p:cNvSpPr/>
          <p:nvPr/>
        </p:nvSpPr>
        <p:spPr>
          <a:xfrm>
            <a:off x="548640" y="1463040"/>
            <a:ext cx="2679192" cy="1645920"/>
          </a:xfrm>
          <a:prstGeom prst="roundRect">
            <a:avLst>
              <a:gd name="adj" fmla="val 5556"/>
            </a:avLst>
          </a:prstGeom>
          <a:solidFill>
            <a:srgbClr val="E3F5F2"/>
          </a:solidFill>
          <a:ln w="9525">
            <a:solidFill>
              <a:srgbClr val="E3F5F2"/>
            </a:solidFill>
            <a:prstDash val="solid"/>
          </a:ln>
        </p:spPr>
      </p:sp>
      <p:sp>
        <p:nvSpPr>
          <p:cNvPr id="5" name="Shape 3"/>
          <p:cNvSpPr/>
          <p:nvPr/>
        </p:nvSpPr>
        <p:spPr>
          <a:xfrm>
            <a:off x="73152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45820" y="1714500"/>
            <a:ext cx="228600" cy="228600"/>
          </a:xfrm>
          <a:prstGeom prst="rect">
            <a:avLst/>
          </a:prstGeom>
        </p:spPr>
      </p:pic>
      <p:sp>
        <p:nvSpPr>
          <p:cNvPr id="7" name="Text 4"/>
          <p:cNvSpPr txBox="1"/>
          <p:nvPr/>
        </p:nvSpPr>
        <p:spPr>
          <a:xfrm>
            <a:off x="1298448" y="1618488"/>
            <a:ext cx="1828800" cy="438912"/>
          </a:xfrm>
          <a:prstGeom prst="rect">
            <a:avLst/>
          </a:prstGeom>
          <a:noFill/>
          <a:ln/>
        </p:spPr>
        <p:txBody>
          <a:bodyPr wrap="square" lIns="0" tIns="0" rIns="0" bIns="0" rtlCol="0" anchor="ctr"/>
          <a:lstStyle/>
          <a:p>
            <a:pPr indent="0" marL="0">
              <a:buNone/>
            </a:pPr>
            <a:r>
              <a:rPr lang="en-US" sz="1250" b="1" dirty="0">
                <a:solidFill>
                  <a:srgbClr val="1B2433"/>
                </a:solidFill>
                <a:latin typeface="Calibri" pitchFamily="34" charset="0"/>
                <a:ea typeface="Calibri" pitchFamily="34" charset="-122"/>
                <a:cs typeface="Calibri" pitchFamily="34" charset="-120"/>
              </a:rPr>
              <a:t>Agents do real work</a:t>
            </a:r>
            <a:endParaRPr lang="en-US" sz="1250" dirty="0"/>
          </a:p>
        </p:txBody>
      </p:sp>
      <p:sp>
        <p:nvSpPr>
          <p:cNvPr id="8" name="Text 5"/>
          <p:cNvSpPr txBox="1"/>
          <p:nvPr/>
        </p:nvSpPr>
        <p:spPr>
          <a:xfrm>
            <a:off x="731520" y="2148840"/>
            <a:ext cx="2377440" cy="91440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AI agents finish real tasks such as closing the books and chasing late payments. This saves weeks of manual effort every month.</a:t>
            </a:r>
            <a:endParaRPr lang="en-US" sz="1050" dirty="0"/>
          </a:p>
        </p:txBody>
      </p:sp>
      <p:sp>
        <p:nvSpPr>
          <p:cNvPr id="9" name="Shape 6"/>
          <p:cNvSpPr/>
          <p:nvPr/>
        </p:nvSpPr>
        <p:spPr>
          <a:xfrm>
            <a:off x="3355848" y="1463040"/>
            <a:ext cx="2679192" cy="1645920"/>
          </a:xfrm>
          <a:prstGeom prst="roundRect">
            <a:avLst>
              <a:gd name="adj" fmla="val 5556"/>
            </a:avLst>
          </a:prstGeom>
          <a:solidFill>
            <a:srgbClr val="E8EDFC"/>
          </a:solidFill>
          <a:ln w="9525">
            <a:solidFill>
              <a:srgbClr val="E8EDFC"/>
            </a:solidFill>
            <a:prstDash val="solid"/>
          </a:ln>
        </p:spPr>
      </p:sp>
      <p:sp>
        <p:nvSpPr>
          <p:cNvPr id="10" name="Shape 7"/>
          <p:cNvSpPr/>
          <p:nvPr/>
        </p:nvSpPr>
        <p:spPr>
          <a:xfrm>
            <a:off x="3538728" y="1600200"/>
            <a:ext cx="457200" cy="45720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3653028" y="1714500"/>
            <a:ext cx="228600" cy="228600"/>
          </a:xfrm>
          <a:prstGeom prst="rect">
            <a:avLst/>
          </a:prstGeom>
        </p:spPr>
      </p:pic>
      <p:sp>
        <p:nvSpPr>
          <p:cNvPr id="12" name="Text 8"/>
          <p:cNvSpPr txBox="1"/>
          <p:nvPr/>
        </p:nvSpPr>
        <p:spPr>
          <a:xfrm>
            <a:off x="4105656" y="1618488"/>
            <a:ext cx="1828800" cy="438912"/>
          </a:xfrm>
          <a:prstGeom prst="rect">
            <a:avLst/>
          </a:prstGeom>
          <a:noFill/>
          <a:ln/>
        </p:spPr>
        <p:txBody>
          <a:bodyPr wrap="square" lIns="0" tIns="0" rIns="0" bIns="0" rtlCol="0" anchor="ctr"/>
          <a:lstStyle/>
          <a:p>
            <a:pPr indent="0" marL="0">
              <a:buNone/>
            </a:pPr>
            <a:r>
              <a:rPr lang="en-US" sz="1250" b="1" dirty="0">
                <a:solidFill>
                  <a:srgbClr val="1B2433"/>
                </a:solidFill>
                <a:latin typeface="Calibri" pitchFamily="34" charset="0"/>
                <a:ea typeface="Calibri" pitchFamily="34" charset="-122"/>
                <a:cs typeface="Calibri" pitchFamily="34" charset="-120"/>
              </a:rPr>
              <a:t>Experts step in when needed</a:t>
            </a:r>
            <a:endParaRPr lang="en-US" sz="1250" dirty="0"/>
          </a:p>
        </p:txBody>
      </p:sp>
      <p:sp>
        <p:nvSpPr>
          <p:cNvPr id="13" name="Text 9"/>
          <p:cNvSpPr txBox="1"/>
          <p:nvPr/>
        </p:nvSpPr>
        <p:spPr>
          <a:xfrm>
            <a:off x="3538728" y="2148840"/>
            <a:ext cx="2377440" cy="91440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Hard or risky questions go to a qualified human expert. The agent sends the full file so nobody has to explain the problem twice.</a:t>
            </a:r>
            <a:endParaRPr lang="en-US" sz="1050" dirty="0"/>
          </a:p>
        </p:txBody>
      </p:sp>
      <p:sp>
        <p:nvSpPr>
          <p:cNvPr id="14" name="Shape 10"/>
          <p:cNvSpPr/>
          <p:nvPr/>
        </p:nvSpPr>
        <p:spPr>
          <a:xfrm>
            <a:off x="6163056" y="1463040"/>
            <a:ext cx="2679192" cy="1645920"/>
          </a:xfrm>
          <a:prstGeom prst="roundRect">
            <a:avLst>
              <a:gd name="adj" fmla="val 5556"/>
            </a:avLst>
          </a:prstGeom>
          <a:solidFill>
            <a:srgbClr val="FDF3E3"/>
          </a:solidFill>
          <a:ln w="9525">
            <a:solidFill>
              <a:srgbClr val="FDF3E3"/>
            </a:solidFill>
            <a:prstDash val="solid"/>
          </a:ln>
        </p:spPr>
      </p:sp>
      <p:sp>
        <p:nvSpPr>
          <p:cNvPr id="15" name="Shape 11"/>
          <p:cNvSpPr/>
          <p:nvPr/>
        </p:nvSpPr>
        <p:spPr>
          <a:xfrm>
            <a:off x="6345936" y="1600200"/>
            <a:ext cx="457200" cy="457200"/>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60236" y="1714500"/>
            <a:ext cx="228600" cy="228600"/>
          </a:xfrm>
          <a:prstGeom prst="rect">
            <a:avLst/>
          </a:prstGeom>
        </p:spPr>
      </p:pic>
      <p:sp>
        <p:nvSpPr>
          <p:cNvPr id="17" name="Text 12"/>
          <p:cNvSpPr txBox="1"/>
          <p:nvPr/>
        </p:nvSpPr>
        <p:spPr>
          <a:xfrm>
            <a:off x="6912864" y="1618488"/>
            <a:ext cx="1828800" cy="438912"/>
          </a:xfrm>
          <a:prstGeom prst="rect">
            <a:avLst/>
          </a:prstGeom>
          <a:noFill/>
          <a:ln/>
        </p:spPr>
        <p:txBody>
          <a:bodyPr wrap="square" lIns="0" tIns="0" rIns="0" bIns="0" rtlCol="0" anchor="ctr"/>
          <a:lstStyle/>
          <a:p>
            <a:pPr indent="0" marL="0">
              <a:buNone/>
            </a:pPr>
            <a:r>
              <a:rPr lang="en-US" sz="1250" b="1" dirty="0">
                <a:solidFill>
                  <a:srgbClr val="1B2433"/>
                </a:solidFill>
                <a:latin typeface="Calibri" pitchFamily="34" charset="0"/>
                <a:ea typeface="Calibri" pitchFamily="34" charset="-122"/>
                <a:cs typeface="Calibri" pitchFamily="34" charset="-120"/>
              </a:rPr>
              <a:t>Developers build on IES</a:t>
            </a:r>
            <a:endParaRPr lang="en-US" sz="1250" dirty="0"/>
          </a:p>
        </p:txBody>
      </p:sp>
      <p:sp>
        <p:nvSpPr>
          <p:cNvPr id="18" name="Text 13"/>
          <p:cNvSpPr txBox="1"/>
          <p:nvPr/>
        </p:nvSpPr>
        <p:spPr>
          <a:xfrm>
            <a:off x="6345936" y="2148840"/>
            <a:ext cx="2377440" cy="91440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Outside developers can build, test and sell their own agents to IES customers. This brings many more solutions than one company could build alone.</a:t>
            </a:r>
            <a:endParaRPr lang="en-US" sz="1050" dirty="0"/>
          </a:p>
        </p:txBody>
      </p:sp>
      <p:sp>
        <p:nvSpPr>
          <p:cNvPr id="19" name="Shape 14"/>
          <p:cNvSpPr/>
          <p:nvPr/>
        </p:nvSpPr>
        <p:spPr>
          <a:xfrm>
            <a:off x="8970264" y="1463040"/>
            <a:ext cx="2679192" cy="1645920"/>
          </a:xfrm>
          <a:prstGeom prst="roundRect">
            <a:avLst>
              <a:gd name="adj" fmla="val 5556"/>
            </a:avLst>
          </a:prstGeom>
          <a:solidFill>
            <a:srgbClr val="FBEAE8"/>
          </a:solidFill>
          <a:ln w="9525">
            <a:solidFill>
              <a:srgbClr val="FBEAE8"/>
            </a:solidFill>
            <a:prstDash val="solid"/>
          </a:ln>
        </p:spPr>
      </p:sp>
      <p:sp>
        <p:nvSpPr>
          <p:cNvPr id="20" name="Shape 15"/>
          <p:cNvSpPr/>
          <p:nvPr/>
        </p:nvSpPr>
        <p:spPr>
          <a:xfrm>
            <a:off x="9153144" y="1600200"/>
            <a:ext cx="457200" cy="457200"/>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9267444" y="1714500"/>
            <a:ext cx="228600" cy="228600"/>
          </a:xfrm>
          <a:prstGeom prst="rect">
            <a:avLst/>
          </a:prstGeom>
        </p:spPr>
      </p:pic>
      <p:sp>
        <p:nvSpPr>
          <p:cNvPr id="22" name="Text 16"/>
          <p:cNvSpPr txBox="1"/>
          <p:nvPr/>
        </p:nvSpPr>
        <p:spPr>
          <a:xfrm>
            <a:off x="9720072" y="1618488"/>
            <a:ext cx="1828800" cy="438912"/>
          </a:xfrm>
          <a:prstGeom prst="rect">
            <a:avLst/>
          </a:prstGeom>
          <a:noFill/>
          <a:ln/>
        </p:spPr>
        <p:txBody>
          <a:bodyPr wrap="square" lIns="0" tIns="0" rIns="0" bIns="0" rtlCol="0" anchor="ctr"/>
          <a:lstStyle/>
          <a:p>
            <a:pPr indent="0" marL="0">
              <a:buNone/>
            </a:pPr>
            <a:r>
              <a:rPr lang="en-US" sz="1250" b="1" dirty="0">
                <a:solidFill>
                  <a:srgbClr val="1B2433"/>
                </a:solidFill>
                <a:latin typeface="Calibri" pitchFamily="34" charset="0"/>
                <a:ea typeface="Calibri" pitchFamily="34" charset="-122"/>
                <a:cs typeface="Calibri" pitchFamily="34" charset="-120"/>
              </a:rPr>
              <a:t>Trust that people can see</a:t>
            </a:r>
            <a:endParaRPr lang="en-US" sz="1250" dirty="0"/>
          </a:p>
        </p:txBody>
      </p:sp>
      <p:sp>
        <p:nvSpPr>
          <p:cNvPr id="23" name="Text 17"/>
          <p:cNvSpPr txBox="1"/>
          <p:nvPr/>
        </p:nvSpPr>
        <p:spPr>
          <a:xfrm>
            <a:off x="9153144" y="2148840"/>
            <a:ext cx="2377440" cy="91440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Every action shows its proof, its confidence level, the rule it followed and the person who approved it. Any posted entry can be undone.</a:t>
            </a:r>
            <a:endParaRPr lang="en-US" sz="1050" dirty="0"/>
          </a:p>
        </p:txBody>
      </p:sp>
      <p:sp>
        <p:nvSpPr>
          <p:cNvPr id="24" name="Text 18"/>
          <p:cNvSpPr txBox="1"/>
          <p:nvPr/>
        </p:nvSpPr>
        <p:spPr>
          <a:xfrm>
            <a:off x="548640" y="3291840"/>
            <a:ext cx="548640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How every agent does its job</a:t>
            </a:r>
            <a:endParaRPr lang="en-US" sz="1400" dirty="0"/>
          </a:p>
        </p:txBody>
      </p:sp>
      <p:sp>
        <p:nvSpPr>
          <p:cNvPr id="25" name="Shape 19"/>
          <p:cNvSpPr/>
          <p:nvPr/>
        </p:nvSpPr>
        <p:spPr>
          <a:xfrm>
            <a:off x="548640" y="3657600"/>
            <a:ext cx="1024128" cy="365760"/>
          </a:xfrm>
          <a:prstGeom prst="roundRect">
            <a:avLst>
              <a:gd name="adj" fmla="val 20000"/>
            </a:avLst>
          </a:prstGeom>
          <a:solidFill>
            <a:srgbClr val="14213D"/>
          </a:solidFill>
          <a:ln w="12700">
            <a:solidFill>
              <a:srgbClr val="14213D"/>
            </a:solidFill>
            <a:prstDash val="solid"/>
          </a:ln>
        </p:spPr>
      </p:sp>
      <p:sp>
        <p:nvSpPr>
          <p:cNvPr id="26" name="Text 20"/>
          <p:cNvSpPr txBox="1"/>
          <p:nvPr/>
        </p:nvSpPr>
        <p:spPr>
          <a:xfrm>
            <a:off x="548640" y="3657600"/>
            <a:ext cx="10241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Understand</a:t>
            </a:r>
            <a:endParaRPr lang="en-US" sz="1050" dirty="0"/>
          </a:p>
        </p:txBody>
      </p:sp>
      <p:sp>
        <p:nvSpPr>
          <p:cNvPr id="27" name="Text 21"/>
          <p:cNvSpPr txBox="1"/>
          <p:nvPr/>
        </p:nvSpPr>
        <p:spPr>
          <a:xfrm>
            <a:off x="548640" y="4114800"/>
            <a:ext cx="1024128" cy="1005840"/>
          </a:xfrm>
          <a:prstGeom prst="rect">
            <a:avLst/>
          </a:prstGeom>
          <a:noFill/>
          <a:ln/>
        </p:spPr>
        <p:txBody>
          <a:bodyPr wrap="square" lIns="0" tIns="0" rIns="0" bIns="0" rtlCol="0" anchor="t"/>
          <a:lstStyle/>
          <a:p>
            <a:pPr indent="0" marL="0">
              <a:buNone/>
            </a:pPr>
            <a:r>
              <a:rPr lang="en-US" sz="950" dirty="0">
                <a:solidFill>
                  <a:srgbClr val="5B6576"/>
                </a:solidFill>
                <a:latin typeface="Calibri" pitchFamily="34" charset="0"/>
                <a:ea typeface="Calibri" pitchFamily="34" charset="-122"/>
                <a:cs typeface="Calibri" pitchFamily="34" charset="-120"/>
              </a:rPr>
              <a:t>It learns what the task is and collects the right data.</a:t>
            </a:r>
            <a:endParaRPr lang="en-US" sz="950" dirty="0"/>
          </a:p>
        </p:txBody>
      </p:sp>
      <p:sp>
        <p:nvSpPr>
          <p:cNvPr id="28" name="Shape 22"/>
          <p:cNvSpPr/>
          <p:nvPr/>
        </p:nvSpPr>
        <p:spPr>
          <a:xfrm>
            <a:off x="1655064" y="3657600"/>
            <a:ext cx="1024128" cy="365760"/>
          </a:xfrm>
          <a:prstGeom prst="roundRect">
            <a:avLst>
              <a:gd name="adj" fmla="val 20000"/>
            </a:avLst>
          </a:prstGeom>
          <a:solidFill>
            <a:srgbClr val="14213D"/>
          </a:solidFill>
          <a:ln w="12700">
            <a:solidFill>
              <a:srgbClr val="14213D"/>
            </a:solidFill>
            <a:prstDash val="solid"/>
          </a:ln>
        </p:spPr>
      </p:sp>
      <p:sp>
        <p:nvSpPr>
          <p:cNvPr id="29" name="Text 23"/>
          <p:cNvSpPr txBox="1"/>
          <p:nvPr/>
        </p:nvSpPr>
        <p:spPr>
          <a:xfrm>
            <a:off x="1655064" y="3657600"/>
            <a:ext cx="10241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Investigate</a:t>
            </a:r>
            <a:endParaRPr lang="en-US" sz="1050" dirty="0"/>
          </a:p>
        </p:txBody>
      </p:sp>
      <p:sp>
        <p:nvSpPr>
          <p:cNvPr id="30" name="Text 24"/>
          <p:cNvSpPr txBox="1"/>
          <p:nvPr/>
        </p:nvSpPr>
        <p:spPr>
          <a:xfrm>
            <a:off x="1655064" y="4114800"/>
            <a:ext cx="1024128" cy="1005840"/>
          </a:xfrm>
          <a:prstGeom prst="rect">
            <a:avLst/>
          </a:prstGeom>
          <a:noFill/>
          <a:ln/>
        </p:spPr>
        <p:txBody>
          <a:bodyPr wrap="square" lIns="0" tIns="0" rIns="0" bIns="0" rtlCol="0" anchor="t"/>
          <a:lstStyle/>
          <a:p>
            <a:pPr indent="0" marL="0">
              <a:buNone/>
            </a:pPr>
            <a:r>
              <a:rPr lang="en-US" sz="950" dirty="0">
                <a:solidFill>
                  <a:srgbClr val="5B6576"/>
                </a:solidFill>
                <a:latin typeface="Calibri" pitchFamily="34" charset="0"/>
                <a:ea typeface="Calibri" pitchFamily="34" charset="-122"/>
                <a:cs typeface="Calibri" pitchFamily="34" charset="-120"/>
              </a:rPr>
              <a:t>It looks closely at the data to find what is wrong.</a:t>
            </a:r>
            <a:endParaRPr lang="en-US" sz="950" dirty="0"/>
          </a:p>
        </p:txBody>
      </p:sp>
      <p:sp>
        <p:nvSpPr>
          <p:cNvPr id="31" name="Shape 25"/>
          <p:cNvSpPr/>
          <p:nvPr/>
        </p:nvSpPr>
        <p:spPr>
          <a:xfrm>
            <a:off x="2761488" y="3657600"/>
            <a:ext cx="1024128" cy="365760"/>
          </a:xfrm>
          <a:prstGeom prst="roundRect">
            <a:avLst>
              <a:gd name="adj" fmla="val 20000"/>
            </a:avLst>
          </a:prstGeom>
          <a:solidFill>
            <a:srgbClr val="14213D"/>
          </a:solidFill>
          <a:ln w="12700">
            <a:solidFill>
              <a:srgbClr val="14213D"/>
            </a:solidFill>
            <a:prstDash val="solid"/>
          </a:ln>
        </p:spPr>
      </p:sp>
      <p:sp>
        <p:nvSpPr>
          <p:cNvPr id="32" name="Text 26"/>
          <p:cNvSpPr txBox="1"/>
          <p:nvPr/>
        </p:nvSpPr>
        <p:spPr>
          <a:xfrm>
            <a:off x="2761488" y="3657600"/>
            <a:ext cx="10241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Decide</a:t>
            </a:r>
            <a:endParaRPr lang="en-US" sz="1050" dirty="0"/>
          </a:p>
        </p:txBody>
      </p:sp>
      <p:sp>
        <p:nvSpPr>
          <p:cNvPr id="33" name="Text 27"/>
          <p:cNvSpPr txBox="1"/>
          <p:nvPr/>
        </p:nvSpPr>
        <p:spPr>
          <a:xfrm>
            <a:off x="2761488" y="4114800"/>
            <a:ext cx="1024128" cy="1005840"/>
          </a:xfrm>
          <a:prstGeom prst="rect">
            <a:avLst/>
          </a:prstGeom>
          <a:noFill/>
          <a:ln/>
        </p:spPr>
        <p:txBody>
          <a:bodyPr wrap="square" lIns="0" tIns="0" rIns="0" bIns="0" rtlCol="0" anchor="t"/>
          <a:lstStyle/>
          <a:p>
            <a:pPr indent="0" marL="0">
              <a:buNone/>
            </a:pPr>
            <a:r>
              <a:rPr lang="en-US" sz="950" dirty="0">
                <a:solidFill>
                  <a:srgbClr val="5B6576"/>
                </a:solidFill>
                <a:latin typeface="Calibri" pitchFamily="34" charset="0"/>
                <a:ea typeface="Calibri" pitchFamily="34" charset="-122"/>
                <a:cs typeface="Calibri" pitchFamily="34" charset="-120"/>
              </a:rPr>
              <a:t>It picks a fix that follows the rules of the company.</a:t>
            </a:r>
            <a:endParaRPr lang="en-US" sz="950" dirty="0"/>
          </a:p>
        </p:txBody>
      </p:sp>
      <p:sp>
        <p:nvSpPr>
          <p:cNvPr id="34" name="Shape 28"/>
          <p:cNvSpPr/>
          <p:nvPr/>
        </p:nvSpPr>
        <p:spPr>
          <a:xfrm>
            <a:off x="3867912" y="3657600"/>
            <a:ext cx="1024128" cy="365760"/>
          </a:xfrm>
          <a:prstGeom prst="roundRect">
            <a:avLst>
              <a:gd name="adj" fmla="val 20000"/>
            </a:avLst>
          </a:prstGeom>
          <a:solidFill>
            <a:srgbClr val="0F9D8A"/>
          </a:solidFill>
          <a:ln w="12700">
            <a:solidFill>
              <a:srgbClr val="0F9D8A"/>
            </a:solidFill>
            <a:prstDash val="solid"/>
          </a:ln>
        </p:spPr>
      </p:sp>
      <p:sp>
        <p:nvSpPr>
          <p:cNvPr id="35" name="Text 29"/>
          <p:cNvSpPr txBox="1"/>
          <p:nvPr/>
        </p:nvSpPr>
        <p:spPr>
          <a:xfrm>
            <a:off x="3867912" y="3657600"/>
            <a:ext cx="10241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Act</a:t>
            </a:r>
            <a:endParaRPr lang="en-US" sz="1050" dirty="0"/>
          </a:p>
        </p:txBody>
      </p:sp>
      <p:sp>
        <p:nvSpPr>
          <p:cNvPr id="36" name="Text 30"/>
          <p:cNvSpPr txBox="1"/>
          <p:nvPr/>
        </p:nvSpPr>
        <p:spPr>
          <a:xfrm>
            <a:off x="3867912" y="4114800"/>
            <a:ext cx="1024128" cy="1005840"/>
          </a:xfrm>
          <a:prstGeom prst="rect">
            <a:avLst/>
          </a:prstGeom>
          <a:noFill/>
          <a:ln/>
        </p:spPr>
        <p:txBody>
          <a:bodyPr wrap="square" lIns="0" tIns="0" rIns="0" bIns="0" rtlCol="0" anchor="t"/>
          <a:lstStyle/>
          <a:p>
            <a:pPr indent="0" marL="0">
              <a:buNone/>
            </a:pPr>
            <a:r>
              <a:rPr lang="en-US" sz="950" dirty="0">
                <a:solidFill>
                  <a:srgbClr val="5B6576"/>
                </a:solidFill>
                <a:latin typeface="Calibri" pitchFamily="34" charset="0"/>
                <a:ea typeface="Calibri" pitchFamily="34" charset="-122"/>
                <a:cs typeface="Calibri" pitchFamily="34" charset="-120"/>
              </a:rPr>
              <a:t>It does the task or prepares it for a person to approve.</a:t>
            </a:r>
            <a:endParaRPr lang="en-US" sz="950" dirty="0"/>
          </a:p>
        </p:txBody>
      </p:sp>
      <p:sp>
        <p:nvSpPr>
          <p:cNvPr id="37" name="Shape 31"/>
          <p:cNvSpPr/>
          <p:nvPr/>
        </p:nvSpPr>
        <p:spPr>
          <a:xfrm>
            <a:off x="4974336" y="3657600"/>
            <a:ext cx="1024128" cy="365760"/>
          </a:xfrm>
          <a:prstGeom prst="roundRect">
            <a:avLst>
              <a:gd name="adj" fmla="val 20000"/>
            </a:avLst>
          </a:prstGeom>
          <a:solidFill>
            <a:srgbClr val="14213D"/>
          </a:solidFill>
          <a:ln w="12700">
            <a:solidFill>
              <a:srgbClr val="14213D"/>
            </a:solidFill>
            <a:prstDash val="solid"/>
          </a:ln>
        </p:spPr>
      </p:sp>
      <p:sp>
        <p:nvSpPr>
          <p:cNvPr id="38" name="Text 32"/>
          <p:cNvSpPr txBox="1"/>
          <p:nvPr/>
        </p:nvSpPr>
        <p:spPr>
          <a:xfrm>
            <a:off x="4974336" y="3657600"/>
            <a:ext cx="1024128"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Verify</a:t>
            </a:r>
            <a:endParaRPr lang="en-US" sz="1050" dirty="0"/>
          </a:p>
        </p:txBody>
      </p:sp>
      <p:sp>
        <p:nvSpPr>
          <p:cNvPr id="39" name="Text 33"/>
          <p:cNvSpPr txBox="1"/>
          <p:nvPr/>
        </p:nvSpPr>
        <p:spPr>
          <a:xfrm>
            <a:off x="4974336" y="4114800"/>
            <a:ext cx="1024128" cy="1005840"/>
          </a:xfrm>
          <a:prstGeom prst="rect">
            <a:avLst/>
          </a:prstGeom>
          <a:noFill/>
          <a:ln/>
        </p:spPr>
        <p:txBody>
          <a:bodyPr wrap="square" lIns="0" tIns="0" rIns="0" bIns="0" rtlCol="0" anchor="t"/>
          <a:lstStyle/>
          <a:p>
            <a:pPr indent="0" marL="0">
              <a:buNone/>
            </a:pPr>
            <a:r>
              <a:rPr lang="en-US" sz="950" dirty="0">
                <a:solidFill>
                  <a:srgbClr val="5B6576"/>
                </a:solidFill>
                <a:latin typeface="Calibri" pitchFamily="34" charset="0"/>
                <a:ea typeface="Calibri" pitchFamily="34" charset="-122"/>
                <a:cs typeface="Calibri" pitchFamily="34" charset="-120"/>
              </a:rPr>
              <a:t>It checks that the result is correct and saves a record.</a:t>
            </a:r>
            <a:endParaRPr lang="en-US" sz="950" dirty="0"/>
          </a:p>
        </p:txBody>
      </p:sp>
      <p:sp>
        <p:nvSpPr>
          <p:cNvPr id="40" name="Text 34"/>
          <p:cNvSpPr txBox="1"/>
          <p:nvPr/>
        </p:nvSpPr>
        <p:spPr>
          <a:xfrm>
            <a:off x="548640" y="5257800"/>
            <a:ext cx="5440680" cy="548640"/>
          </a:xfrm>
          <a:prstGeom prst="rect">
            <a:avLst/>
          </a:prstGeom>
          <a:noFill/>
          <a:ln/>
        </p:spPr>
        <p:txBody>
          <a:bodyPr wrap="square" lIns="0" tIns="0" rIns="0" bIns="0" rtlCol="0" anchor="t"/>
          <a:lstStyle/>
          <a:p>
            <a:pPr indent="0" marL="0">
              <a:buNone/>
            </a:pPr>
            <a:r>
              <a:rPr lang="en-US" sz="1100" i="1" dirty="0">
                <a:solidFill>
                  <a:srgbClr val="1B2433"/>
                </a:solidFill>
                <a:latin typeface="Calibri" pitchFamily="34" charset="0"/>
                <a:ea typeface="Calibri" pitchFamily="34" charset="-122"/>
                <a:cs typeface="Calibri" pitchFamily="34" charset="-120"/>
              </a:rPr>
              <a:t>This five step pattern is what makes it an agent. A chatbot only answers questions. An agent finishes the work and proves what it did.</a:t>
            </a:r>
            <a:endParaRPr lang="en-US" sz="1100" dirty="0"/>
          </a:p>
        </p:txBody>
      </p:sp>
      <p:sp>
        <p:nvSpPr>
          <p:cNvPr id="41" name="Text 35"/>
          <p:cNvSpPr txBox="1"/>
          <p:nvPr/>
        </p:nvSpPr>
        <p:spPr>
          <a:xfrm>
            <a:off x="548640" y="5897880"/>
            <a:ext cx="5440680" cy="548640"/>
          </a:xfrm>
          <a:prstGeom prst="rect">
            <a:avLst/>
          </a:prstGeom>
          <a:noFill/>
          <a:ln/>
        </p:spPr>
        <p:txBody>
          <a:bodyPr wrap="square" lIns="0" tIns="0" rIns="0" bIns="0" rtlCol="0" anchor="t"/>
          <a:lstStyle/>
          <a:p>
            <a:pPr indent="0" marL="0">
              <a:buNone/>
            </a:pPr>
            <a:r>
              <a:rPr lang="en-US" sz="1100" dirty="0">
                <a:solidFill>
                  <a:srgbClr val="5B6576"/>
                </a:solidFill>
                <a:latin typeface="Calibri" pitchFamily="34" charset="0"/>
                <a:ea typeface="Calibri" pitchFamily="34" charset="-122"/>
                <a:cs typeface="Calibri" pitchFamily="34" charset="-120"/>
              </a:rPr>
              <a:t>Behind the screens sits one shared base of finance, payroll and sales data. Every agent reads from it, so each one sees the full picture of the business.</a:t>
            </a:r>
            <a:endParaRPr lang="en-US" sz="1100" dirty="0"/>
          </a:p>
        </p:txBody>
      </p:sp>
      <p:sp>
        <p:nvSpPr>
          <p:cNvPr id="42" name="Text 36"/>
          <p:cNvSpPr txBox="1"/>
          <p:nvPr/>
        </p:nvSpPr>
        <p:spPr>
          <a:xfrm>
            <a:off x="6263640" y="3291840"/>
            <a:ext cx="5394960" cy="32004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The leader decides how much freedom the AI gets</a:t>
            </a:r>
            <a:endParaRPr lang="en-US" sz="1400" dirty="0"/>
          </a:p>
        </p:txBody>
      </p:sp>
      <p:sp>
        <p:nvSpPr>
          <p:cNvPr id="43" name="Shape 37"/>
          <p:cNvSpPr/>
          <p:nvPr/>
        </p:nvSpPr>
        <p:spPr>
          <a:xfrm>
            <a:off x="6263640" y="3657600"/>
            <a:ext cx="5394960" cy="621792"/>
          </a:xfrm>
          <a:prstGeom prst="roundRect">
            <a:avLst>
              <a:gd name="adj" fmla="val 11765"/>
            </a:avLst>
          </a:prstGeom>
          <a:solidFill>
            <a:srgbClr val="E8EDFC"/>
          </a:solidFill>
          <a:ln w="12700">
            <a:solidFill>
              <a:srgbClr val="E8EDFC"/>
            </a:solidFill>
            <a:prstDash val="solid"/>
          </a:ln>
        </p:spPr>
      </p:sp>
      <p:sp>
        <p:nvSpPr>
          <p:cNvPr id="44" name="Text 38"/>
          <p:cNvSpPr txBox="1"/>
          <p:nvPr/>
        </p:nvSpPr>
        <p:spPr>
          <a:xfrm>
            <a:off x="6400800" y="3657600"/>
            <a:ext cx="1051560" cy="621792"/>
          </a:xfrm>
          <a:prstGeom prst="rect">
            <a:avLst/>
          </a:prstGeom>
          <a:noFill/>
          <a:ln/>
        </p:spPr>
        <p:txBody>
          <a:bodyPr wrap="square" lIns="0" tIns="0" rIns="0" bIns="0" rtlCol="0" anchor="ctr"/>
          <a:lstStyle/>
          <a:p>
            <a:pPr indent="0" marL="0">
              <a:buNone/>
            </a:pPr>
            <a:r>
              <a:rPr lang="en-US" sz="1250" b="1" dirty="0">
                <a:solidFill>
                  <a:srgbClr val="1B2433"/>
                </a:solidFill>
                <a:latin typeface="Calibri" pitchFamily="34" charset="0"/>
                <a:ea typeface="Calibri" pitchFamily="34" charset="-122"/>
                <a:cs typeface="Calibri" pitchFamily="34" charset="-120"/>
              </a:rPr>
              <a:t>Assist</a:t>
            </a:r>
            <a:endParaRPr lang="en-US" sz="1250" dirty="0"/>
          </a:p>
        </p:txBody>
      </p:sp>
      <p:sp>
        <p:nvSpPr>
          <p:cNvPr id="45" name="Text 39"/>
          <p:cNvSpPr txBox="1"/>
          <p:nvPr/>
        </p:nvSpPr>
        <p:spPr>
          <a:xfrm>
            <a:off x="7452360" y="3657600"/>
            <a:ext cx="4114800" cy="621792"/>
          </a:xfrm>
          <a:prstGeom prst="rect">
            <a:avLst/>
          </a:prstGeom>
          <a:noFill/>
          <a:ln/>
        </p:spPr>
        <p:txBody>
          <a:bodyPr wrap="square" lIns="0" tIns="0" rIns="0" bIns="0" rtlCol="0" anchor="ctr"/>
          <a:lstStyle/>
          <a:p>
            <a:pPr indent="0" marL="0">
              <a:buNone/>
            </a:pPr>
            <a:r>
              <a:rPr lang="en-US" sz="1050" dirty="0">
                <a:solidFill>
                  <a:srgbClr val="1B2433"/>
                </a:solidFill>
                <a:latin typeface="Calibri" pitchFamily="34" charset="0"/>
                <a:ea typeface="Calibri" pitchFamily="34" charset="-122"/>
                <a:cs typeface="Calibri" pitchFamily="34" charset="-120"/>
              </a:rPr>
              <a:t>The AI studies the problem and suggests an answer. A person does every step and makes every change.</a:t>
            </a:r>
            <a:endParaRPr lang="en-US" sz="1050" dirty="0"/>
          </a:p>
        </p:txBody>
      </p:sp>
      <p:sp>
        <p:nvSpPr>
          <p:cNvPr id="46" name="Shape 40"/>
          <p:cNvSpPr/>
          <p:nvPr/>
        </p:nvSpPr>
        <p:spPr>
          <a:xfrm>
            <a:off x="6263640" y="4352544"/>
            <a:ext cx="5394960" cy="621792"/>
          </a:xfrm>
          <a:prstGeom prst="roundRect">
            <a:avLst>
              <a:gd name="adj" fmla="val 11765"/>
            </a:avLst>
          </a:prstGeom>
          <a:solidFill>
            <a:srgbClr val="FDF3E3"/>
          </a:solidFill>
          <a:ln w="12700">
            <a:solidFill>
              <a:srgbClr val="FDF3E3"/>
            </a:solidFill>
            <a:prstDash val="solid"/>
          </a:ln>
        </p:spPr>
      </p:sp>
      <p:sp>
        <p:nvSpPr>
          <p:cNvPr id="47" name="Text 41"/>
          <p:cNvSpPr txBox="1"/>
          <p:nvPr/>
        </p:nvSpPr>
        <p:spPr>
          <a:xfrm>
            <a:off x="6400800" y="4352544"/>
            <a:ext cx="1051560" cy="621792"/>
          </a:xfrm>
          <a:prstGeom prst="rect">
            <a:avLst/>
          </a:prstGeom>
          <a:noFill/>
          <a:ln/>
        </p:spPr>
        <p:txBody>
          <a:bodyPr wrap="square" lIns="0" tIns="0" rIns="0" bIns="0" rtlCol="0" anchor="ctr"/>
          <a:lstStyle/>
          <a:p>
            <a:pPr indent="0" marL="0">
              <a:buNone/>
            </a:pPr>
            <a:r>
              <a:rPr lang="en-US" sz="1250" b="1" dirty="0">
                <a:solidFill>
                  <a:srgbClr val="1B2433"/>
                </a:solidFill>
                <a:latin typeface="Calibri" pitchFamily="34" charset="0"/>
                <a:ea typeface="Calibri" pitchFamily="34" charset="-122"/>
                <a:cs typeface="Calibri" pitchFamily="34" charset="-120"/>
              </a:rPr>
              <a:t>Approve</a:t>
            </a:r>
            <a:endParaRPr lang="en-US" sz="1250" dirty="0"/>
          </a:p>
        </p:txBody>
      </p:sp>
      <p:sp>
        <p:nvSpPr>
          <p:cNvPr id="48" name="Text 42"/>
          <p:cNvSpPr txBox="1"/>
          <p:nvPr/>
        </p:nvSpPr>
        <p:spPr>
          <a:xfrm>
            <a:off x="7452360" y="4352544"/>
            <a:ext cx="4114800" cy="621792"/>
          </a:xfrm>
          <a:prstGeom prst="rect">
            <a:avLst/>
          </a:prstGeom>
          <a:noFill/>
          <a:ln/>
        </p:spPr>
        <p:txBody>
          <a:bodyPr wrap="square" lIns="0" tIns="0" rIns="0" bIns="0" rtlCol="0" anchor="ctr"/>
          <a:lstStyle/>
          <a:p>
            <a:pPr indent="0" marL="0">
              <a:buNone/>
            </a:pPr>
            <a:r>
              <a:rPr lang="en-US" sz="1050" dirty="0">
                <a:solidFill>
                  <a:srgbClr val="1B2433"/>
                </a:solidFill>
                <a:latin typeface="Calibri" pitchFamily="34" charset="0"/>
                <a:ea typeface="Calibri" pitchFamily="34" charset="-122"/>
                <a:cs typeface="Calibri" pitchFamily="34" charset="-120"/>
              </a:rPr>
              <a:t>The AI prepares the full piece of work with its proof. Nothing is posted until a person clicks approve.</a:t>
            </a:r>
            <a:endParaRPr lang="en-US" sz="1050" dirty="0"/>
          </a:p>
        </p:txBody>
      </p:sp>
      <p:sp>
        <p:nvSpPr>
          <p:cNvPr id="49" name="Shape 43"/>
          <p:cNvSpPr/>
          <p:nvPr/>
        </p:nvSpPr>
        <p:spPr>
          <a:xfrm>
            <a:off x="6263640" y="5047488"/>
            <a:ext cx="5394960" cy="621792"/>
          </a:xfrm>
          <a:prstGeom prst="roundRect">
            <a:avLst>
              <a:gd name="adj" fmla="val 11765"/>
            </a:avLst>
          </a:prstGeom>
          <a:solidFill>
            <a:srgbClr val="E3F5F2"/>
          </a:solidFill>
          <a:ln w="12700">
            <a:solidFill>
              <a:srgbClr val="E3F5F2"/>
            </a:solidFill>
            <a:prstDash val="solid"/>
          </a:ln>
        </p:spPr>
      </p:sp>
      <p:sp>
        <p:nvSpPr>
          <p:cNvPr id="50" name="Text 44"/>
          <p:cNvSpPr txBox="1"/>
          <p:nvPr/>
        </p:nvSpPr>
        <p:spPr>
          <a:xfrm>
            <a:off x="6400800" y="5047488"/>
            <a:ext cx="1051560" cy="621792"/>
          </a:xfrm>
          <a:prstGeom prst="rect">
            <a:avLst/>
          </a:prstGeom>
          <a:noFill/>
          <a:ln/>
        </p:spPr>
        <p:txBody>
          <a:bodyPr wrap="square" lIns="0" tIns="0" rIns="0" bIns="0" rtlCol="0" anchor="ctr"/>
          <a:lstStyle/>
          <a:p>
            <a:pPr indent="0" marL="0">
              <a:buNone/>
            </a:pPr>
            <a:r>
              <a:rPr lang="en-US" sz="1250" b="1" dirty="0">
                <a:solidFill>
                  <a:srgbClr val="1B2433"/>
                </a:solidFill>
                <a:latin typeface="Calibri" pitchFamily="34" charset="0"/>
                <a:ea typeface="Calibri" pitchFamily="34" charset="-122"/>
                <a:cs typeface="Calibri" pitchFamily="34" charset="-120"/>
              </a:rPr>
              <a:t>Autopilot</a:t>
            </a:r>
            <a:endParaRPr lang="en-US" sz="1250" dirty="0"/>
          </a:p>
        </p:txBody>
      </p:sp>
      <p:sp>
        <p:nvSpPr>
          <p:cNvPr id="51" name="Text 45"/>
          <p:cNvSpPr txBox="1"/>
          <p:nvPr/>
        </p:nvSpPr>
        <p:spPr>
          <a:xfrm>
            <a:off x="7452360" y="5047488"/>
            <a:ext cx="4114800" cy="621792"/>
          </a:xfrm>
          <a:prstGeom prst="rect">
            <a:avLst/>
          </a:prstGeom>
          <a:noFill/>
          <a:ln/>
        </p:spPr>
        <p:txBody>
          <a:bodyPr wrap="square" lIns="0" tIns="0" rIns="0" bIns="0" rtlCol="0" anchor="ctr"/>
          <a:lstStyle/>
          <a:p>
            <a:pPr indent="0" marL="0">
              <a:buNone/>
            </a:pPr>
            <a:r>
              <a:rPr lang="en-US" sz="1050" dirty="0">
                <a:solidFill>
                  <a:srgbClr val="1B2433"/>
                </a:solidFill>
                <a:latin typeface="Calibri" pitchFamily="34" charset="0"/>
                <a:ea typeface="Calibri" pitchFamily="34" charset="-122"/>
                <a:cs typeface="Calibri" pitchFamily="34" charset="-120"/>
              </a:rPr>
              <a:t>The AI finishes small and safe tasks by itself. Anything risky or unclear still goes to a person.</a:t>
            </a:r>
            <a:endParaRPr lang="en-US" sz="1050" dirty="0"/>
          </a:p>
        </p:txBody>
      </p:sp>
      <p:sp>
        <p:nvSpPr>
          <p:cNvPr id="52" name="Shape 46"/>
          <p:cNvSpPr/>
          <p:nvPr/>
        </p:nvSpPr>
        <p:spPr>
          <a:xfrm>
            <a:off x="6263640" y="5806440"/>
            <a:ext cx="5394960" cy="777240"/>
          </a:xfrm>
          <a:prstGeom prst="roundRect">
            <a:avLst>
              <a:gd name="adj" fmla="val 9412"/>
            </a:avLst>
          </a:prstGeom>
          <a:solidFill>
            <a:srgbClr val="14213D"/>
          </a:solidFill>
          <a:ln w="12700">
            <a:solidFill>
              <a:srgbClr val="14213D"/>
            </a:solidFill>
            <a:prstDash val="solid"/>
          </a:ln>
        </p:spPr>
      </p:sp>
      <p:sp>
        <p:nvSpPr>
          <p:cNvPr id="53" name="Text 47"/>
          <p:cNvSpPr txBox="1"/>
          <p:nvPr/>
        </p:nvSpPr>
        <p:spPr>
          <a:xfrm>
            <a:off x="6446520" y="5806440"/>
            <a:ext cx="5074920" cy="77724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The safety rule is simple. The AI may act alone only when risk is low, it is at least 95% sure and the amount is $10,000 or less. When it is less than 70% sure it must always ask a person.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Every part of the product, explained</a:t>
            </a:r>
            <a:endParaRPr lang="en-US" sz="2800" dirty="0"/>
          </a:p>
        </p:txBody>
      </p:sp>
      <p:sp>
        <p:nvSpPr>
          <p:cNvPr id="3" name="Shape 1"/>
          <p:cNvSpPr/>
          <p:nvPr/>
        </p:nvSpPr>
        <p:spPr>
          <a:xfrm>
            <a:off x="548640" y="987552"/>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4" name="Shape 2"/>
          <p:cNvSpPr/>
          <p:nvPr/>
        </p:nvSpPr>
        <p:spPr>
          <a:xfrm>
            <a:off x="685800" y="1115568"/>
            <a:ext cx="402336" cy="402336"/>
          </a:xfrm>
          <a:prstGeom prst="ellipse">
            <a:avLst/>
          </a:prstGeom>
          <a:solidFill>
            <a:srgbClr val="E8EDFC"/>
          </a:solidFill>
          <a:ln w="12700">
            <a:solidFill>
              <a:srgbClr val="E8EDFC"/>
            </a:solidFill>
            <a:prstDash val="solid"/>
          </a:ln>
        </p:spPr>
      </p:sp>
      <p:pic>
        <p:nvPicPr>
          <p:cNvPr id="5" name="Image 0" descr="preencoded.png">    </p:cNvPr>
          <p:cNvPicPr>
            <a:picLocks noChangeAspect="1"/>
          </p:cNvPicPr>
          <p:nvPr/>
        </p:nvPicPr>
        <p:blipFill>
          <a:blip r:embed="rId1"/>
          <a:stretch>
            <a:fillRect/>
          </a:stretch>
        </p:blipFill>
        <p:spPr>
          <a:xfrm>
            <a:off x="786384" y="1216152"/>
            <a:ext cx="201168" cy="201168"/>
          </a:xfrm>
          <a:prstGeom prst="rect">
            <a:avLst/>
          </a:prstGeom>
        </p:spPr>
      </p:pic>
      <p:sp>
        <p:nvSpPr>
          <p:cNvPr id="6" name="Text 3"/>
          <p:cNvSpPr txBox="1"/>
          <p:nvPr/>
        </p:nvSpPr>
        <p:spPr>
          <a:xfrm>
            <a:off x="1188720" y="1115568"/>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AI Command Center</a:t>
            </a:r>
            <a:endParaRPr lang="en-US" sz="1250" dirty="0"/>
          </a:p>
        </p:txBody>
      </p:sp>
      <p:sp>
        <p:nvSpPr>
          <p:cNvPr id="7" name="Text 4"/>
          <p:cNvSpPr txBox="1"/>
          <p:nvPr/>
        </p:nvSpPr>
        <p:spPr>
          <a:xfrm>
            <a:off x="704088" y="1591056"/>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This is the first screen a finance leader sees each morning. Agents check the business overnight and list the biggest issues with proof. They warn that cash may fall to $3.71M while the loan needs $4.0M. One click starts a collections push that brings cash back above the limit.</a:t>
            </a:r>
            <a:endParaRPr lang="en-US" sz="1000" dirty="0"/>
          </a:p>
        </p:txBody>
      </p:sp>
      <p:sp>
        <p:nvSpPr>
          <p:cNvPr id="8" name="Shape 5"/>
          <p:cNvSpPr/>
          <p:nvPr/>
        </p:nvSpPr>
        <p:spPr>
          <a:xfrm>
            <a:off x="4270248" y="987552"/>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9" name="Shape 6"/>
          <p:cNvSpPr/>
          <p:nvPr/>
        </p:nvSpPr>
        <p:spPr>
          <a:xfrm>
            <a:off x="4407408" y="1115568"/>
            <a:ext cx="402336" cy="402336"/>
          </a:xfrm>
          <a:prstGeom prst="ellipse">
            <a:avLst/>
          </a:prstGeom>
          <a:solidFill>
            <a:srgbClr val="E3F5F2"/>
          </a:solidFill>
          <a:ln w="12700">
            <a:solidFill>
              <a:srgbClr val="E3F5F2"/>
            </a:solidFill>
            <a:prstDash val="solid"/>
          </a:ln>
        </p:spPr>
      </p:sp>
      <p:pic>
        <p:nvPicPr>
          <p:cNvPr id="10" name="Image 1" descr="preencoded.png">    </p:cNvPr>
          <p:cNvPicPr>
            <a:picLocks noChangeAspect="1"/>
          </p:cNvPicPr>
          <p:nvPr/>
        </p:nvPicPr>
        <p:blipFill>
          <a:blip r:embed="rId2"/>
          <a:stretch>
            <a:fillRect/>
          </a:stretch>
        </p:blipFill>
        <p:spPr>
          <a:xfrm>
            <a:off x="4507992" y="1216152"/>
            <a:ext cx="201168" cy="201168"/>
          </a:xfrm>
          <a:prstGeom prst="rect">
            <a:avLst/>
          </a:prstGeom>
        </p:spPr>
      </p:pic>
      <p:sp>
        <p:nvSpPr>
          <p:cNvPr id="11" name="Text 7"/>
          <p:cNvSpPr txBox="1"/>
          <p:nvPr/>
        </p:nvSpPr>
        <p:spPr>
          <a:xfrm>
            <a:off x="4910328" y="1115568"/>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Financial Close Agent</a:t>
            </a:r>
            <a:endParaRPr lang="en-US" sz="1250" dirty="0"/>
          </a:p>
        </p:txBody>
      </p:sp>
      <p:sp>
        <p:nvSpPr>
          <p:cNvPr id="12" name="Text 8"/>
          <p:cNvSpPr txBox="1"/>
          <p:nvPr/>
        </p:nvSpPr>
        <p:spPr>
          <a:xfrm>
            <a:off x="4425696" y="1591056"/>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Every month the books must be checked and closed. This agent matches bank records, fixes gaps between group companies, records unbilled costs and builds the group totals. One run moves the close from 62% to 73% ready. Three tasks finish alone, four wait for approval and two go to people.</a:t>
            </a:r>
            <a:endParaRPr lang="en-US" sz="1000" dirty="0"/>
          </a:p>
        </p:txBody>
      </p:sp>
      <p:sp>
        <p:nvSpPr>
          <p:cNvPr id="13" name="Shape 9"/>
          <p:cNvSpPr/>
          <p:nvPr/>
        </p:nvSpPr>
        <p:spPr>
          <a:xfrm>
            <a:off x="7991856" y="987552"/>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14" name="Shape 10"/>
          <p:cNvSpPr/>
          <p:nvPr/>
        </p:nvSpPr>
        <p:spPr>
          <a:xfrm>
            <a:off x="8129016" y="1115568"/>
            <a:ext cx="402336" cy="402336"/>
          </a:xfrm>
          <a:prstGeom prst="ellipse">
            <a:avLst/>
          </a:prstGeom>
          <a:solidFill>
            <a:srgbClr val="FDF3E3"/>
          </a:solidFill>
          <a:ln w="12700">
            <a:solidFill>
              <a:srgbClr val="FDF3E3"/>
            </a:solidFill>
            <a:prstDash val="solid"/>
          </a:ln>
        </p:spPr>
      </p:sp>
      <p:pic>
        <p:nvPicPr>
          <p:cNvPr id="15" name="Image 2" descr="preencoded.png">    </p:cNvPr>
          <p:cNvPicPr>
            <a:picLocks noChangeAspect="1"/>
          </p:cNvPicPr>
          <p:nvPr/>
        </p:nvPicPr>
        <p:blipFill>
          <a:blip r:embed="rId3"/>
          <a:stretch>
            <a:fillRect/>
          </a:stretch>
        </p:blipFill>
        <p:spPr>
          <a:xfrm>
            <a:off x="8229600" y="1216152"/>
            <a:ext cx="201168" cy="201168"/>
          </a:xfrm>
          <a:prstGeom prst="rect">
            <a:avLst/>
          </a:prstGeom>
        </p:spPr>
      </p:pic>
      <p:sp>
        <p:nvSpPr>
          <p:cNvPr id="16" name="Text 11"/>
          <p:cNvSpPr txBox="1"/>
          <p:nvPr/>
        </p:nvSpPr>
        <p:spPr>
          <a:xfrm>
            <a:off x="8631936" y="1115568"/>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Scenario Lab</a:t>
            </a:r>
            <a:endParaRPr lang="en-US" sz="1250" dirty="0"/>
          </a:p>
        </p:txBody>
      </p:sp>
      <p:sp>
        <p:nvSpPr>
          <p:cNvPr id="17" name="Text 12"/>
          <p:cNvSpPr txBox="1"/>
          <p:nvPr/>
        </p:nvSpPr>
        <p:spPr>
          <a:xfrm>
            <a:off x="8147304" y="1591056"/>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A leader can type a what-if question in plain English. The tool first shows what it understood and then compares a normal outlook, a bad outlook and a fixed outlook. If sales drop by 8%, cash falls to $2.05M. The suggested actions keep cash safe at $4.12M.</a:t>
            </a:r>
            <a:endParaRPr lang="en-US" sz="1000" dirty="0"/>
          </a:p>
        </p:txBody>
      </p:sp>
      <p:sp>
        <p:nvSpPr>
          <p:cNvPr id="18" name="Shape 13"/>
          <p:cNvSpPr/>
          <p:nvPr/>
        </p:nvSpPr>
        <p:spPr>
          <a:xfrm>
            <a:off x="548640" y="2834640"/>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19" name="Shape 14"/>
          <p:cNvSpPr/>
          <p:nvPr/>
        </p:nvSpPr>
        <p:spPr>
          <a:xfrm>
            <a:off x="685800" y="2962656"/>
            <a:ext cx="402336" cy="402336"/>
          </a:xfrm>
          <a:prstGeom prst="ellipse">
            <a:avLst/>
          </a:prstGeom>
          <a:solidFill>
            <a:srgbClr val="E8EDFC"/>
          </a:solidFill>
          <a:ln w="12700">
            <a:solidFill>
              <a:srgbClr val="E8EDFC"/>
            </a:solidFill>
            <a:prstDash val="solid"/>
          </a:ln>
        </p:spPr>
      </p:sp>
      <p:pic>
        <p:nvPicPr>
          <p:cNvPr id="20" name="Image 3" descr="preencoded.png">    </p:cNvPr>
          <p:cNvPicPr>
            <a:picLocks noChangeAspect="1"/>
          </p:cNvPicPr>
          <p:nvPr/>
        </p:nvPicPr>
        <p:blipFill>
          <a:blip r:embed="rId4"/>
          <a:stretch>
            <a:fillRect/>
          </a:stretch>
        </p:blipFill>
        <p:spPr>
          <a:xfrm>
            <a:off x="786384" y="3063240"/>
            <a:ext cx="201168" cy="201168"/>
          </a:xfrm>
          <a:prstGeom prst="rect">
            <a:avLst/>
          </a:prstGeom>
        </p:spPr>
      </p:pic>
      <p:sp>
        <p:nvSpPr>
          <p:cNvPr id="21" name="Text 15"/>
          <p:cNvSpPr txBox="1"/>
          <p:nvPr/>
        </p:nvSpPr>
        <p:spPr>
          <a:xfrm>
            <a:off x="1188720" y="2962656"/>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Expert Network</a:t>
            </a:r>
            <a:endParaRPr lang="en-US" sz="1250" dirty="0"/>
          </a:p>
        </p:txBody>
      </p:sp>
      <p:sp>
        <p:nvSpPr>
          <p:cNvPr id="22" name="Text 16"/>
          <p:cNvSpPr txBox="1"/>
          <p:nvPr/>
        </p:nvSpPr>
        <p:spPr>
          <a:xfrm>
            <a:off x="704088" y="3438144"/>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Some decisions need a qualified human. The agent puts the question, the facts, its own view and the documents into one file. It then sends the file to the best matched expert. A $1.24M sale was settled by an accountant who needed no follow-up questions.</a:t>
            </a:r>
            <a:endParaRPr lang="en-US" sz="1000" dirty="0"/>
          </a:p>
        </p:txBody>
      </p:sp>
      <p:sp>
        <p:nvSpPr>
          <p:cNvPr id="23" name="Shape 17"/>
          <p:cNvSpPr/>
          <p:nvPr/>
        </p:nvSpPr>
        <p:spPr>
          <a:xfrm>
            <a:off x="4270248" y="2834640"/>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24" name="Shape 18"/>
          <p:cNvSpPr/>
          <p:nvPr/>
        </p:nvSpPr>
        <p:spPr>
          <a:xfrm>
            <a:off x="4407408" y="2962656"/>
            <a:ext cx="402336" cy="402336"/>
          </a:xfrm>
          <a:prstGeom prst="ellipse">
            <a:avLst/>
          </a:prstGeom>
          <a:solidFill>
            <a:srgbClr val="FBEAE8"/>
          </a:solidFill>
          <a:ln w="12700">
            <a:solidFill>
              <a:srgbClr val="FBEAE8"/>
            </a:solidFill>
            <a:prstDash val="solid"/>
          </a:ln>
        </p:spPr>
      </p:sp>
      <p:pic>
        <p:nvPicPr>
          <p:cNvPr id="25" name="Image 4" descr="preencoded.png">    </p:cNvPr>
          <p:cNvPicPr>
            <a:picLocks noChangeAspect="1"/>
          </p:cNvPicPr>
          <p:nvPr/>
        </p:nvPicPr>
        <p:blipFill>
          <a:blip r:embed="rId5"/>
          <a:stretch>
            <a:fillRect/>
          </a:stretch>
        </p:blipFill>
        <p:spPr>
          <a:xfrm>
            <a:off x="4507992" y="3063240"/>
            <a:ext cx="201168" cy="201168"/>
          </a:xfrm>
          <a:prstGeom prst="rect">
            <a:avLst/>
          </a:prstGeom>
        </p:spPr>
      </p:pic>
      <p:sp>
        <p:nvSpPr>
          <p:cNvPr id="26" name="Text 19"/>
          <p:cNvSpPr txBox="1"/>
          <p:nvPr/>
        </p:nvSpPr>
        <p:spPr>
          <a:xfrm>
            <a:off x="4910328" y="2962656"/>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Compliance Agent</a:t>
            </a:r>
            <a:endParaRPr lang="en-US" sz="1250" dirty="0"/>
          </a:p>
        </p:txBody>
      </p:sp>
      <p:sp>
        <p:nvSpPr>
          <p:cNvPr id="27" name="Text 20"/>
          <p:cNvSpPr txBox="1"/>
          <p:nvPr/>
        </p:nvSpPr>
        <p:spPr>
          <a:xfrm>
            <a:off x="4425696" y="3438144"/>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This agent tracks tax filings, sales tax rules in each US state and internal controls. It prepares every filing for approval before it is sent. It also spots risks such as one staff member who can both create a vendor and pay that vendor.</a:t>
            </a:r>
            <a:endParaRPr lang="en-US" sz="1000" dirty="0"/>
          </a:p>
        </p:txBody>
      </p:sp>
      <p:sp>
        <p:nvSpPr>
          <p:cNvPr id="28" name="Shape 21"/>
          <p:cNvSpPr/>
          <p:nvPr/>
        </p:nvSpPr>
        <p:spPr>
          <a:xfrm>
            <a:off x="7991856" y="2834640"/>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29" name="Shape 22"/>
          <p:cNvSpPr/>
          <p:nvPr/>
        </p:nvSpPr>
        <p:spPr>
          <a:xfrm>
            <a:off x="8129016" y="2962656"/>
            <a:ext cx="402336" cy="402336"/>
          </a:xfrm>
          <a:prstGeom prst="ellipse">
            <a:avLst/>
          </a:prstGeom>
          <a:solidFill>
            <a:srgbClr val="E3F5F2"/>
          </a:solidFill>
          <a:ln w="12700">
            <a:solidFill>
              <a:srgbClr val="E3F5F2"/>
            </a:solidFill>
            <a:prstDash val="solid"/>
          </a:ln>
        </p:spPr>
      </p:sp>
      <p:pic>
        <p:nvPicPr>
          <p:cNvPr id="30" name="Image 5" descr="preencoded.png">    </p:cNvPr>
          <p:cNvPicPr>
            <a:picLocks noChangeAspect="1"/>
          </p:cNvPicPr>
          <p:nvPr/>
        </p:nvPicPr>
        <p:blipFill>
          <a:blip r:embed="rId6"/>
          <a:stretch>
            <a:fillRect/>
          </a:stretch>
        </p:blipFill>
        <p:spPr>
          <a:xfrm>
            <a:off x="8229600" y="3063240"/>
            <a:ext cx="201168" cy="201168"/>
          </a:xfrm>
          <a:prstGeom prst="rect">
            <a:avLst/>
          </a:prstGeom>
        </p:spPr>
      </p:pic>
      <p:sp>
        <p:nvSpPr>
          <p:cNvPr id="31" name="Text 23"/>
          <p:cNvSpPr txBox="1"/>
          <p:nvPr/>
        </p:nvSpPr>
        <p:spPr>
          <a:xfrm>
            <a:off x="8631936" y="2962656"/>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App and Agent Marketplace</a:t>
            </a:r>
            <a:endParaRPr lang="en-US" sz="1250" dirty="0"/>
          </a:p>
        </p:txBody>
      </p:sp>
      <p:sp>
        <p:nvSpPr>
          <p:cNvPr id="32" name="Text 24"/>
          <p:cNvSpPr txBox="1"/>
          <p:nvPr/>
        </p:nvSpPr>
        <p:spPr>
          <a:xfrm>
            <a:off x="8147304" y="3438144"/>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Customers can add agents, apps and expert services from other companies. Each item shows what data it can read and what it can change before anyone installs it. A partner agent that checks freight bills found $23,400 of overcharges soon after it was added.</a:t>
            </a:r>
            <a:endParaRPr lang="en-US" sz="1000" dirty="0"/>
          </a:p>
        </p:txBody>
      </p:sp>
      <p:sp>
        <p:nvSpPr>
          <p:cNvPr id="33" name="Shape 25"/>
          <p:cNvSpPr/>
          <p:nvPr/>
        </p:nvSpPr>
        <p:spPr>
          <a:xfrm>
            <a:off x="548640" y="4681728"/>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34" name="Shape 26"/>
          <p:cNvSpPr/>
          <p:nvPr/>
        </p:nvSpPr>
        <p:spPr>
          <a:xfrm>
            <a:off x="685800" y="4809744"/>
            <a:ext cx="402336" cy="402336"/>
          </a:xfrm>
          <a:prstGeom prst="ellipse">
            <a:avLst/>
          </a:prstGeom>
          <a:solidFill>
            <a:srgbClr val="FDF3E3"/>
          </a:solidFill>
          <a:ln w="12700">
            <a:solidFill>
              <a:srgbClr val="FDF3E3"/>
            </a:solidFill>
            <a:prstDash val="solid"/>
          </a:ln>
        </p:spPr>
      </p:sp>
      <p:pic>
        <p:nvPicPr>
          <p:cNvPr id="35" name="Image 6" descr="preencoded.png">    </p:cNvPr>
          <p:cNvPicPr>
            <a:picLocks noChangeAspect="1"/>
          </p:cNvPicPr>
          <p:nvPr/>
        </p:nvPicPr>
        <p:blipFill>
          <a:blip r:embed="rId7"/>
          <a:stretch>
            <a:fillRect/>
          </a:stretch>
        </p:blipFill>
        <p:spPr>
          <a:xfrm>
            <a:off x="786384" y="4910328"/>
            <a:ext cx="201168" cy="201168"/>
          </a:xfrm>
          <a:prstGeom prst="rect">
            <a:avLst/>
          </a:prstGeom>
        </p:spPr>
      </p:pic>
      <p:sp>
        <p:nvSpPr>
          <p:cNvPr id="36" name="Text 27"/>
          <p:cNvSpPr txBox="1"/>
          <p:nvPr/>
        </p:nvSpPr>
        <p:spPr>
          <a:xfrm>
            <a:off x="1188720" y="4809744"/>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Agent Studio for developers</a:t>
            </a:r>
            <a:endParaRPr lang="en-US" sz="1250" dirty="0"/>
          </a:p>
        </p:txBody>
      </p:sp>
      <p:sp>
        <p:nvSpPr>
          <p:cNvPr id="37" name="Text 28"/>
          <p:cNvSpPr txBox="1"/>
          <p:nvPr/>
        </p:nvSpPr>
        <p:spPr>
          <a:xfrm>
            <a:off x="704088" y="5285232"/>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A developer writes in plain English what a new agent should do. The studio turns that text into a clear workflow with steps, tools and safety rules. Large amounts always pass through a human approval step before anything is sent.</a:t>
            </a:r>
            <a:endParaRPr lang="en-US" sz="1000" dirty="0"/>
          </a:p>
        </p:txBody>
      </p:sp>
      <p:sp>
        <p:nvSpPr>
          <p:cNvPr id="38" name="Shape 29"/>
          <p:cNvSpPr/>
          <p:nvPr/>
        </p:nvSpPr>
        <p:spPr>
          <a:xfrm>
            <a:off x="4270248" y="4681728"/>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39" name="Shape 30"/>
          <p:cNvSpPr/>
          <p:nvPr/>
        </p:nvSpPr>
        <p:spPr>
          <a:xfrm>
            <a:off x="4407408" y="4809744"/>
            <a:ext cx="402336" cy="402336"/>
          </a:xfrm>
          <a:prstGeom prst="ellipse">
            <a:avLst/>
          </a:prstGeom>
          <a:solidFill>
            <a:srgbClr val="E8EDFC"/>
          </a:solidFill>
          <a:ln w="12700">
            <a:solidFill>
              <a:srgbClr val="E8EDFC"/>
            </a:solidFill>
            <a:prstDash val="solid"/>
          </a:ln>
        </p:spPr>
      </p:sp>
      <p:pic>
        <p:nvPicPr>
          <p:cNvPr id="40" name="Image 7" descr="preencoded.png">    </p:cNvPr>
          <p:cNvPicPr>
            <a:picLocks noChangeAspect="1"/>
          </p:cNvPicPr>
          <p:nvPr/>
        </p:nvPicPr>
        <p:blipFill>
          <a:blip r:embed="rId8"/>
          <a:stretch>
            <a:fillRect/>
          </a:stretch>
        </p:blipFill>
        <p:spPr>
          <a:xfrm>
            <a:off x="4507992" y="4910328"/>
            <a:ext cx="201168" cy="201168"/>
          </a:xfrm>
          <a:prstGeom prst="rect">
            <a:avLst/>
          </a:prstGeom>
        </p:spPr>
      </p:pic>
      <p:sp>
        <p:nvSpPr>
          <p:cNvPr id="41" name="Text 31"/>
          <p:cNvSpPr txBox="1"/>
          <p:nvPr/>
        </p:nvSpPr>
        <p:spPr>
          <a:xfrm>
            <a:off x="4910328" y="4809744"/>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Test Lab and Publishing</a:t>
            </a:r>
            <a:endParaRPr lang="en-US" sz="1250" dirty="0"/>
          </a:p>
        </p:txBody>
      </p:sp>
      <p:sp>
        <p:nvSpPr>
          <p:cNvPr id="42" name="Text 32"/>
          <p:cNvSpPr txBox="1"/>
          <p:nvPr/>
        </p:nvSpPr>
        <p:spPr>
          <a:xfrm>
            <a:off x="4425696" y="5285232"/>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Each agent is tested on eight tricky situations before it can be sold. The tests caught a currency mistake that was fixed with one click. When data was missing the agent asked a human instead of guessing. The developer then sets a price and publishes the agent.</a:t>
            </a:r>
            <a:endParaRPr lang="en-US" sz="1000" dirty="0"/>
          </a:p>
        </p:txBody>
      </p:sp>
      <p:sp>
        <p:nvSpPr>
          <p:cNvPr id="43" name="Shape 33"/>
          <p:cNvSpPr/>
          <p:nvPr/>
        </p:nvSpPr>
        <p:spPr>
          <a:xfrm>
            <a:off x="7991856" y="4681728"/>
            <a:ext cx="3611880" cy="1755648"/>
          </a:xfrm>
          <a:prstGeom prst="roundRect">
            <a:avLst>
              <a:gd name="adj" fmla="val 520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44" name="Shape 34"/>
          <p:cNvSpPr/>
          <p:nvPr/>
        </p:nvSpPr>
        <p:spPr>
          <a:xfrm>
            <a:off x="8129016" y="4809744"/>
            <a:ext cx="402336" cy="402336"/>
          </a:xfrm>
          <a:prstGeom prst="ellipse">
            <a:avLst/>
          </a:prstGeom>
          <a:solidFill>
            <a:srgbClr val="FBEAE8"/>
          </a:solidFill>
          <a:ln w="12700">
            <a:solidFill>
              <a:srgbClr val="FBEAE8"/>
            </a:solidFill>
            <a:prstDash val="solid"/>
          </a:ln>
        </p:spPr>
      </p:sp>
      <p:pic>
        <p:nvPicPr>
          <p:cNvPr id="45" name="Image 8" descr="preencoded.png">    </p:cNvPr>
          <p:cNvPicPr>
            <a:picLocks noChangeAspect="1"/>
          </p:cNvPicPr>
          <p:nvPr/>
        </p:nvPicPr>
        <p:blipFill>
          <a:blip r:embed="rId9"/>
          <a:stretch>
            <a:fillRect/>
          </a:stretch>
        </p:blipFill>
        <p:spPr>
          <a:xfrm>
            <a:off x="8229600" y="4910328"/>
            <a:ext cx="201168" cy="201168"/>
          </a:xfrm>
          <a:prstGeom prst="rect">
            <a:avLst/>
          </a:prstGeom>
        </p:spPr>
      </p:pic>
      <p:sp>
        <p:nvSpPr>
          <p:cNvPr id="46" name="Text 35"/>
          <p:cNvSpPr txBox="1"/>
          <p:nvPr/>
        </p:nvSpPr>
        <p:spPr>
          <a:xfrm>
            <a:off x="8631936" y="4809744"/>
            <a:ext cx="2834640" cy="402336"/>
          </a:xfrm>
          <a:prstGeom prst="rect">
            <a:avLst/>
          </a:prstGeom>
          <a:noFill/>
          <a:ln/>
        </p:spPr>
        <p:txBody>
          <a:bodyPr wrap="square" lIns="0" tIns="0" rIns="0" bIns="0" rtlCol="0" anchor="ctr"/>
          <a:lstStyle/>
          <a:p>
            <a:pPr indent="0" marL="0">
              <a:buNone/>
            </a:pPr>
            <a:r>
              <a:rPr lang="en-US" sz="1250" b="1" dirty="0">
                <a:solidFill>
                  <a:srgbClr val="14213D"/>
                </a:solidFill>
                <a:latin typeface="Calibri" pitchFamily="34" charset="0"/>
                <a:ea typeface="Calibri" pitchFamily="34" charset="-122"/>
                <a:cs typeface="Calibri" pitchFamily="34" charset="-120"/>
              </a:rPr>
              <a:t>Trust Center and Audit Log</a:t>
            </a:r>
            <a:endParaRPr lang="en-US" sz="1250" dirty="0"/>
          </a:p>
        </p:txBody>
      </p:sp>
      <p:sp>
        <p:nvSpPr>
          <p:cNvPr id="47" name="Text 36"/>
          <p:cNvSpPr txBox="1"/>
          <p:nvPr/>
        </p:nvSpPr>
        <p:spPr>
          <a:xfrm>
            <a:off x="8147304" y="5285232"/>
            <a:ext cx="3319272" cy="10972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One screen controls every agent from Intuit or from partners. Leaders set money limits, choose what data each agent can see and can pause any agent at once. Every action is saved with its proof, its confidence and the person who approved it.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t"/>
          <a:lstStyle/>
          <a:p>
            <a:pPr indent="0" marL="0">
              <a:buNone/>
            </a:pPr>
            <a:r>
              <a:rPr lang="en-US" sz="2800" b="1" dirty="0">
                <a:solidFill>
                  <a:srgbClr val="14213D"/>
                </a:solidFill>
                <a:latin typeface="Cambria" pitchFamily="34" charset="0"/>
                <a:ea typeface="Cambria" pitchFamily="34" charset="-122"/>
                <a:cs typeface="Cambria" pitchFamily="34" charset="-120"/>
              </a:rPr>
              <a:t>Why Orbit wins and how it grows</a:t>
            </a:r>
            <a:endParaRPr lang="en-US" sz="2800" dirty="0"/>
          </a:p>
        </p:txBody>
      </p:sp>
      <p:sp>
        <p:nvSpPr>
          <p:cNvPr id="3" name="Shape 1"/>
          <p:cNvSpPr/>
          <p:nvPr/>
        </p:nvSpPr>
        <p:spPr>
          <a:xfrm>
            <a:off x="548640" y="987552"/>
            <a:ext cx="6903720" cy="3429000"/>
          </a:xfrm>
          <a:prstGeom prst="roundRect">
            <a:avLst>
              <a:gd name="adj" fmla="val 2667"/>
            </a:avLst>
          </a:prstGeom>
          <a:solidFill>
            <a:srgbClr val="F6F8FB"/>
          </a:solidFill>
          <a:ln w="9525">
            <a:solidFill>
              <a:srgbClr val="F6F8FB"/>
            </a:solidFill>
            <a:prstDash val="solid"/>
          </a:ln>
        </p:spPr>
      </p:sp>
      <p:sp>
        <p:nvSpPr>
          <p:cNvPr id="4" name="Shape 2"/>
          <p:cNvSpPr/>
          <p:nvPr/>
        </p:nvSpPr>
        <p:spPr>
          <a:xfrm>
            <a:off x="731520" y="1115568"/>
            <a:ext cx="420624" cy="420624"/>
          </a:xfrm>
          <a:prstGeom prst="ellipse">
            <a:avLst/>
          </a:prstGeom>
          <a:solidFill>
            <a:srgbClr val="FDF3E3"/>
          </a:solidFill>
          <a:ln w="12700">
            <a:solidFill>
              <a:srgbClr val="FDF3E3"/>
            </a:solidFill>
            <a:prstDash val="solid"/>
          </a:ln>
        </p:spPr>
      </p:sp>
      <p:pic>
        <p:nvPicPr>
          <p:cNvPr id="5" name="Image 0" descr="preencoded.png">    </p:cNvPr>
          <p:cNvPicPr>
            <a:picLocks noChangeAspect="1"/>
          </p:cNvPicPr>
          <p:nvPr/>
        </p:nvPicPr>
        <p:blipFill>
          <a:blip r:embed="rId1"/>
          <a:stretch>
            <a:fillRect/>
          </a:stretch>
        </p:blipFill>
        <p:spPr>
          <a:xfrm>
            <a:off x="836676" y="1220724"/>
            <a:ext cx="210312" cy="210312"/>
          </a:xfrm>
          <a:prstGeom prst="rect">
            <a:avLst/>
          </a:prstGeom>
        </p:spPr>
      </p:pic>
      <p:sp>
        <p:nvSpPr>
          <p:cNvPr id="6" name="Text 3"/>
          <p:cNvSpPr txBox="1"/>
          <p:nvPr/>
        </p:nvSpPr>
        <p:spPr>
          <a:xfrm>
            <a:off x="1261872" y="1115568"/>
            <a:ext cx="4572000" cy="420624"/>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Why Orbit wins</a:t>
            </a:r>
            <a:endParaRPr lang="en-US" sz="1500" dirty="0"/>
          </a:p>
        </p:txBody>
      </p:sp>
      <p:sp>
        <p:nvSpPr>
          <p:cNvPr id="7" name="Text 4"/>
          <p:cNvSpPr txBox="1"/>
          <p:nvPr/>
        </p:nvSpPr>
        <p:spPr>
          <a:xfrm>
            <a:off x="731520" y="1664208"/>
            <a:ext cx="3200400" cy="256032"/>
          </a:xfrm>
          <a:prstGeom prst="rect">
            <a:avLst/>
          </a:prstGeom>
          <a:noFill/>
          <a:ln/>
        </p:spPr>
        <p:txBody>
          <a:bodyPr wrap="square" lIns="0" tIns="0" rIns="0" bIns="0" rtlCol="0" anchor="t"/>
          <a:lstStyle/>
          <a:p>
            <a:pPr indent="0" marL="0">
              <a:buNone/>
            </a:pPr>
            <a:r>
              <a:rPr lang="en-US" sz="1150" b="1" dirty="0">
                <a:solidFill>
                  <a:srgbClr val="0F9D8A"/>
                </a:solidFill>
                <a:latin typeface="Calibri" pitchFamily="34" charset="0"/>
                <a:ea typeface="Calibri" pitchFamily="34" charset="-122"/>
                <a:cs typeface="Calibri" pitchFamily="34" charset="-120"/>
              </a:rPr>
              <a:t>One view of the business</a:t>
            </a:r>
            <a:endParaRPr lang="en-US" sz="1150" dirty="0"/>
          </a:p>
        </p:txBody>
      </p:sp>
      <p:sp>
        <p:nvSpPr>
          <p:cNvPr id="8" name="Text 5"/>
          <p:cNvSpPr txBox="1"/>
          <p:nvPr/>
        </p:nvSpPr>
        <p:spPr>
          <a:xfrm>
            <a:off x="731520" y="1920240"/>
            <a:ext cx="3200400" cy="6400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Finance, payroll and sales data live in one place. Agents that see the full picture make better decisions than tools that see only one part.</a:t>
            </a:r>
            <a:endParaRPr lang="en-US" sz="1000" dirty="0"/>
          </a:p>
        </p:txBody>
      </p:sp>
      <p:sp>
        <p:nvSpPr>
          <p:cNvPr id="9" name="Text 6"/>
          <p:cNvSpPr txBox="1"/>
          <p:nvPr/>
        </p:nvSpPr>
        <p:spPr>
          <a:xfrm>
            <a:off x="4114800" y="1664208"/>
            <a:ext cx="3200400" cy="256032"/>
          </a:xfrm>
          <a:prstGeom prst="rect">
            <a:avLst/>
          </a:prstGeom>
          <a:noFill/>
          <a:ln/>
        </p:spPr>
        <p:txBody>
          <a:bodyPr wrap="square" lIns="0" tIns="0" rIns="0" bIns="0" rtlCol="0" anchor="t"/>
          <a:lstStyle/>
          <a:p>
            <a:pPr indent="0" marL="0">
              <a:buNone/>
            </a:pPr>
            <a:r>
              <a:rPr lang="en-US" sz="1150" b="1" dirty="0">
                <a:solidFill>
                  <a:srgbClr val="0F9D8A"/>
                </a:solidFill>
                <a:latin typeface="Calibri" pitchFamily="34" charset="0"/>
                <a:ea typeface="Calibri" pitchFamily="34" charset="-122"/>
                <a:cs typeface="Calibri" pitchFamily="34" charset="-120"/>
              </a:rPr>
              <a:t>Agents that finish work</a:t>
            </a:r>
            <a:endParaRPr lang="en-US" sz="1150" dirty="0"/>
          </a:p>
        </p:txBody>
      </p:sp>
      <p:sp>
        <p:nvSpPr>
          <p:cNvPr id="10" name="Text 7"/>
          <p:cNvSpPr txBox="1"/>
          <p:nvPr/>
        </p:nvSpPr>
        <p:spPr>
          <a:xfrm>
            <a:off x="4114800" y="1920240"/>
            <a:ext cx="3200400" cy="6400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Many AI tools only answer questions. Orbit agents complete real tasks and still stay inside limits set by the business.</a:t>
            </a:r>
            <a:endParaRPr lang="en-US" sz="1000" dirty="0"/>
          </a:p>
        </p:txBody>
      </p:sp>
      <p:sp>
        <p:nvSpPr>
          <p:cNvPr id="11" name="Text 8"/>
          <p:cNvSpPr txBox="1"/>
          <p:nvPr/>
        </p:nvSpPr>
        <p:spPr>
          <a:xfrm>
            <a:off x="731520" y="2578608"/>
            <a:ext cx="3200400" cy="256032"/>
          </a:xfrm>
          <a:prstGeom prst="rect">
            <a:avLst/>
          </a:prstGeom>
          <a:noFill/>
          <a:ln/>
        </p:spPr>
        <p:txBody>
          <a:bodyPr wrap="square" lIns="0" tIns="0" rIns="0" bIns="0" rtlCol="0" anchor="t"/>
          <a:lstStyle/>
          <a:p>
            <a:pPr indent="0" marL="0">
              <a:buNone/>
            </a:pPr>
            <a:r>
              <a:rPr lang="en-US" sz="1150" b="1" dirty="0">
                <a:solidFill>
                  <a:srgbClr val="0F9D8A"/>
                </a:solidFill>
                <a:latin typeface="Calibri" pitchFamily="34" charset="0"/>
                <a:ea typeface="Calibri" pitchFamily="34" charset="-122"/>
                <a:cs typeface="Calibri" pitchFamily="34" charset="-120"/>
              </a:rPr>
              <a:t>Experts are built in</a:t>
            </a:r>
            <a:endParaRPr lang="en-US" sz="1150" dirty="0"/>
          </a:p>
        </p:txBody>
      </p:sp>
      <p:sp>
        <p:nvSpPr>
          <p:cNvPr id="12" name="Text 9"/>
          <p:cNvSpPr txBox="1"/>
          <p:nvPr/>
        </p:nvSpPr>
        <p:spPr>
          <a:xfrm>
            <a:off x="731520" y="2834640"/>
            <a:ext cx="3200400" cy="6400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Hard questions reach a qualified expert with the full file. Companies get a safe answer without hiring a full-time specialist.</a:t>
            </a:r>
            <a:endParaRPr lang="en-US" sz="1000" dirty="0"/>
          </a:p>
        </p:txBody>
      </p:sp>
      <p:sp>
        <p:nvSpPr>
          <p:cNvPr id="13" name="Text 10"/>
          <p:cNvSpPr txBox="1"/>
          <p:nvPr/>
        </p:nvSpPr>
        <p:spPr>
          <a:xfrm>
            <a:off x="4114800" y="2578608"/>
            <a:ext cx="3200400" cy="256032"/>
          </a:xfrm>
          <a:prstGeom prst="rect">
            <a:avLst/>
          </a:prstGeom>
          <a:noFill/>
          <a:ln/>
        </p:spPr>
        <p:txBody>
          <a:bodyPr wrap="square" lIns="0" tIns="0" rIns="0" bIns="0" rtlCol="0" anchor="t"/>
          <a:lstStyle/>
          <a:p>
            <a:pPr indent="0" marL="0">
              <a:buNone/>
            </a:pPr>
            <a:r>
              <a:rPr lang="en-US" sz="1150" b="1" dirty="0">
                <a:solidFill>
                  <a:srgbClr val="0F9D8A"/>
                </a:solidFill>
                <a:latin typeface="Calibri" pitchFamily="34" charset="0"/>
                <a:ea typeface="Calibri" pitchFamily="34" charset="-122"/>
                <a:cs typeface="Calibri" pitchFamily="34" charset="-120"/>
              </a:rPr>
              <a:t>Partners add more value</a:t>
            </a:r>
            <a:endParaRPr lang="en-US" sz="1150" dirty="0"/>
          </a:p>
        </p:txBody>
      </p:sp>
      <p:sp>
        <p:nvSpPr>
          <p:cNvPr id="14" name="Text 11"/>
          <p:cNvSpPr txBox="1"/>
          <p:nvPr/>
        </p:nvSpPr>
        <p:spPr>
          <a:xfrm>
            <a:off x="4114800" y="2834640"/>
            <a:ext cx="3200400" cy="6400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Outside developers build agents for special needs. Every new agent makes the platform more useful for every customer.</a:t>
            </a:r>
            <a:endParaRPr lang="en-US" sz="1000" dirty="0"/>
          </a:p>
        </p:txBody>
      </p:sp>
      <p:sp>
        <p:nvSpPr>
          <p:cNvPr id="15" name="Text 12"/>
          <p:cNvSpPr txBox="1"/>
          <p:nvPr/>
        </p:nvSpPr>
        <p:spPr>
          <a:xfrm>
            <a:off x="731520" y="3493008"/>
            <a:ext cx="3200400" cy="256032"/>
          </a:xfrm>
          <a:prstGeom prst="rect">
            <a:avLst/>
          </a:prstGeom>
          <a:noFill/>
          <a:ln/>
        </p:spPr>
        <p:txBody>
          <a:bodyPr wrap="square" lIns="0" tIns="0" rIns="0" bIns="0" rtlCol="0" anchor="t"/>
          <a:lstStyle/>
          <a:p>
            <a:pPr indent="0" marL="0">
              <a:buNone/>
            </a:pPr>
            <a:r>
              <a:rPr lang="en-US" sz="1150" b="1" dirty="0">
                <a:solidFill>
                  <a:srgbClr val="0F9D8A"/>
                </a:solidFill>
                <a:latin typeface="Calibri" pitchFamily="34" charset="0"/>
                <a:ea typeface="Calibri" pitchFamily="34" charset="-122"/>
                <a:cs typeface="Calibri" pitchFamily="34" charset="-120"/>
              </a:rPr>
              <a:t>Trust that can be checked</a:t>
            </a:r>
            <a:endParaRPr lang="en-US" sz="1150" dirty="0"/>
          </a:p>
        </p:txBody>
      </p:sp>
      <p:sp>
        <p:nvSpPr>
          <p:cNvPr id="16" name="Text 13"/>
          <p:cNvSpPr txBox="1"/>
          <p:nvPr/>
        </p:nvSpPr>
        <p:spPr>
          <a:xfrm>
            <a:off x="731520" y="3749040"/>
            <a:ext cx="3200400" cy="6400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Finance teams only adopt tools they can verify. Every action shows its proof and can be undone, so adoption becomes easier.</a:t>
            </a:r>
            <a:endParaRPr lang="en-US" sz="1000" dirty="0"/>
          </a:p>
        </p:txBody>
      </p:sp>
      <p:sp>
        <p:nvSpPr>
          <p:cNvPr id="17" name="Text 14"/>
          <p:cNvSpPr txBox="1"/>
          <p:nvPr/>
        </p:nvSpPr>
        <p:spPr>
          <a:xfrm>
            <a:off x="4114800" y="3493008"/>
            <a:ext cx="3200400" cy="256032"/>
          </a:xfrm>
          <a:prstGeom prst="rect">
            <a:avLst/>
          </a:prstGeom>
          <a:noFill/>
          <a:ln/>
        </p:spPr>
        <p:txBody>
          <a:bodyPr wrap="square" lIns="0" tIns="0" rIns="0" bIns="0" rtlCol="0" anchor="t"/>
          <a:lstStyle/>
          <a:p>
            <a:pPr indent="0" marL="0">
              <a:buNone/>
            </a:pPr>
            <a:r>
              <a:rPr lang="en-US" sz="1150" b="1" dirty="0">
                <a:solidFill>
                  <a:srgbClr val="0F9D8A"/>
                </a:solidFill>
                <a:latin typeface="Calibri" pitchFamily="34" charset="0"/>
                <a:ea typeface="Calibri" pitchFamily="34" charset="-122"/>
                <a:cs typeface="Calibri" pitchFamily="34" charset="-120"/>
              </a:rPr>
              <a:t>Right size for mid-size firms</a:t>
            </a:r>
            <a:endParaRPr lang="en-US" sz="1150" dirty="0"/>
          </a:p>
        </p:txBody>
      </p:sp>
      <p:sp>
        <p:nvSpPr>
          <p:cNvPr id="18" name="Text 15"/>
          <p:cNvSpPr txBox="1"/>
          <p:nvPr/>
        </p:nvSpPr>
        <p:spPr>
          <a:xfrm>
            <a:off x="4114800" y="3749040"/>
            <a:ext cx="3200400" cy="640080"/>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Large ERP systems are powerful but slow to set up. Orbit is simpler to start and grows with the company.</a:t>
            </a:r>
            <a:endParaRPr lang="en-US" sz="1000" dirty="0"/>
          </a:p>
        </p:txBody>
      </p:sp>
      <p:sp>
        <p:nvSpPr>
          <p:cNvPr id="19" name="Shape 16"/>
          <p:cNvSpPr/>
          <p:nvPr/>
        </p:nvSpPr>
        <p:spPr>
          <a:xfrm>
            <a:off x="7589520" y="987552"/>
            <a:ext cx="4069080" cy="1783080"/>
          </a:xfrm>
          <a:prstGeom prst="roundRect">
            <a:avLst>
              <a:gd name="adj" fmla="val 5128"/>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20" name="Shape 17"/>
          <p:cNvSpPr/>
          <p:nvPr/>
        </p:nvSpPr>
        <p:spPr>
          <a:xfrm>
            <a:off x="7726680" y="1097280"/>
            <a:ext cx="384048" cy="384048"/>
          </a:xfrm>
          <a:prstGeom prst="ellipse">
            <a:avLst/>
          </a:prstGeom>
          <a:solidFill>
            <a:srgbClr val="FDF3E3"/>
          </a:solidFill>
          <a:ln w="12700">
            <a:solidFill>
              <a:srgbClr val="FDF3E3"/>
            </a:solidFill>
            <a:prstDash val="solid"/>
          </a:ln>
        </p:spPr>
      </p:sp>
      <p:pic>
        <p:nvPicPr>
          <p:cNvPr id="21" name="Image 1" descr="preencoded.png">    </p:cNvPr>
          <p:cNvPicPr>
            <a:picLocks noChangeAspect="1"/>
          </p:cNvPicPr>
          <p:nvPr/>
        </p:nvPicPr>
        <p:blipFill>
          <a:blip r:embed="rId2"/>
          <a:stretch>
            <a:fillRect/>
          </a:stretch>
        </p:blipFill>
        <p:spPr>
          <a:xfrm>
            <a:off x="7822692" y="1193292"/>
            <a:ext cx="192024" cy="192024"/>
          </a:xfrm>
          <a:prstGeom prst="rect">
            <a:avLst/>
          </a:prstGeom>
        </p:spPr>
      </p:pic>
      <p:sp>
        <p:nvSpPr>
          <p:cNvPr id="22" name="Text 18"/>
          <p:cNvSpPr txBox="1"/>
          <p:nvPr/>
        </p:nvSpPr>
        <p:spPr>
          <a:xfrm>
            <a:off x="8211312" y="1097280"/>
            <a:ext cx="3291840" cy="38404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How it earns money</a:t>
            </a:r>
            <a:endParaRPr lang="en-US" sz="1300" dirty="0"/>
          </a:p>
        </p:txBody>
      </p:sp>
      <p:sp>
        <p:nvSpPr>
          <p:cNvPr id="23" name="Text 19"/>
          <p:cNvSpPr txBox="1"/>
          <p:nvPr/>
        </p:nvSpPr>
        <p:spPr>
          <a:xfrm>
            <a:off x="7744968" y="1554480"/>
            <a:ext cx="3794760" cy="118872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Customers pay the normal IES subscription and pay extra for heavy AI use. Developers pay for API use above a free level. Intuit keeps a share of each marketplace sale and earns fees from expert help.</a:t>
            </a:r>
            <a:endParaRPr lang="en-US" sz="1050" dirty="0"/>
          </a:p>
        </p:txBody>
      </p:sp>
      <p:sp>
        <p:nvSpPr>
          <p:cNvPr id="24" name="Shape 20"/>
          <p:cNvSpPr/>
          <p:nvPr/>
        </p:nvSpPr>
        <p:spPr>
          <a:xfrm>
            <a:off x="7589520" y="2862072"/>
            <a:ext cx="4069080" cy="1554480"/>
          </a:xfrm>
          <a:prstGeom prst="roundRect">
            <a:avLst>
              <a:gd name="adj" fmla="val 5882"/>
            </a:avLst>
          </a:prstGeom>
          <a:solidFill>
            <a:srgbClr val="FFFFFF"/>
          </a:solidFill>
          <a:ln w="9525">
            <a:solidFill>
              <a:srgbClr val="DDE3EA"/>
            </a:solidFill>
            <a:prstDash val="solid"/>
          </a:ln>
          <a:effectLst>
            <a:outerShdw sx="100000" sy="100000" kx="0" ky="0" algn="bl" rotWithShape="0" blurRad="76200" dist="19050" dir="5400000">
              <a:srgbClr val="000000">
                <a:alpha val="8000"/>
              </a:srgbClr>
            </a:outerShdw>
          </a:effectLst>
        </p:spPr>
      </p:sp>
      <p:sp>
        <p:nvSpPr>
          <p:cNvPr id="25" name="Shape 21"/>
          <p:cNvSpPr/>
          <p:nvPr/>
        </p:nvSpPr>
        <p:spPr>
          <a:xfrm>
            <a:off x="7726680" y="2971800"/>
            <a:ext cx="384048" cy="384048"/>
          </a:xfrm>
          <a:prstGeom prst="ellipse">
            <a:avLst/>
          </a:prstGeom>
          <a:solidFill>
            <a:srgbClr val="E3F5F2"/>
          </a:solidFill>
          <a:ln w="12700">
            <a:solidFill>
              <a:srgbClr val="E3F5F2"/>
            </a:solidFill>
            <a:prstDash val="solid"/>
          </a:ln>
        </p:spPr>
      </p:sp>
      <p:pic>
        <p:nvPicPr>
          <p:cNvPr id="26" name="Image 2" descr="preencoded.png">    </p:cNvPr>
          <p:cNvPicPr>
            <a:picLocks noChangeAspect="1"/>
          </p:cNvPicPr>
          <p:nvPr/>
        </p:nvPicPr>
        <p:blipFill>
          <a:blip r:embed="rId3"/>
          <a:stretch>
            <a:fillRect/>
          </a:stretch>
        </p:blipFill>
        <p:spPr>
          <a:xfrm>
            <a:off x="7822692" y="3067812"/>
            <a:ext cx="192024" cy="192024"/>
          </a:xfrm>
          <a:prstGeom prst="rect">
            <a:avLst/>
          </a:prstGeom>
        </p:spPr>
      </p:pic>
      <p:sp>
        <p:nvSpPr>
          <p:cNvPr id="27" name="Text 22"/>
          <p:cNvSpPr txBox="1"/>
          <p:nvPr/>
        </p:nvSpPr>
        <p:spPr>
          <a:xfrm>
            <a:off x="8211312" y="2971800"/>
            <a:ext cx="3291840" cy="384048"/>
          </a:xfrm>
          <a:prstGeom prst="rect">
            <a:avLst/>
          </a:prstGeom>
          <a:noFill/>
          <a:ln/>
        </p:spPr>
        <p:txBody>
          <a:bodyPr wrap="square" lIns="0" tIns="0" rIns="0" bIns="0" rtlCol="0" anchor="ctr"/>
          <a:lstStyle/>
          <a:p>
            <a:pPr indent="0" marL="0">
              <a:buNone/>
            </a:pPr>
            <a:r>
              <a:rPr lang="en-US" sz="1300" b="1" dirty="0">
                <a:solidFill>
                  <a:srgbClr val="14213D"/>
                </a:solidFill>
                <a:latin typeface="Calibri" pitchFamily="34" charset="0"/>
                <a:ea typeface="Calibri" pitchFamily="34" charset="-122"/>
                <a:cs typeface="Calibri" pitchFamily="34" charset="-120"/>
              </a:rPr>
              <a:t>How success is measured</a:t>
            </a:r>
            <a:endParaRPr lang="en-US" sz="1300" dirty="0"/>
          </a:p>
        </p:txBody>
      </p:sp>
      <p:sp>
        <p:nvSpPr>
          <p:cNvPr id="28" name="Text 23"/>
          <p:cNvSpPr txBox="1"/>
          <p:nvPr/>
        </p:nvSpPr>
        <p:spPr>
          <a:xfrm>
            <a:off x="7744968" y="3429000"/>
            <a:ext cx="3794760" cy="960120"/>
          </a:xfrm>
          <a:prstGeom prst="rect">
            <a:avLst/>
          </a:prstGeom>
          <a:noFill/>
          <a:ln/>
        </p:spPr>
        <p:txBody>
          <a:bodyPr wrap="square" lIns="0" tIns="0" rIns="0" bIns="0" rtlCol="0" anchor="t"/>
          <a:lstStyle/>
          <a:p>
            <a:pPr indent="0" marL="0">
              <a:buNone/>
            </a:pPr>
            <a:r>
              <a:rPr lang="en-US" sz="1050" dirty="0">
                <a:solidFill>
                  <a:srgbClr val="1B2433"/>
                </a:solidFill>
                <a:latin typeface="Calibri" pitchFamily="34" charset="0"/>
                <a:ea typeface="Calibri" pitchFamily="34" charset="-122"/>
                <a:cs typeface="Calibri" pitchFamily="34" charset="-120"/>
              </a:rPr>
              <a:t>The main number is the hours of finance work that agents finish with proof and without a person fixing it. It shows value and trust together.</a:t>
            </a:r>
            <a:endParaRPr lang="en-US" sz="1050" dirty="0"/>
          </a:p>
        </p:txBody>
      </p:sp>
      <p:sp>
        <p:nvSpPr>
          <p:cNvPr id="29" name="Text 24"/>
          <p:cNvSpPr txBox="1"/>
          <p:nvPr/>
        </p:nvSpPr>
        <p:spPr>
          <a:xfrm>
            <a:off x="548640" y="4572000"/>
            <a:ext cx="5486400" cy="292608"/>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Roadmap in four steps</a:t>
            </a:r>
            <a:endParaRPr lang="en-US" sz="1300" dirty="0"/>
          </a:p>
        </p:txBody>
      </p:sp>
      <p:sp>
        <p:nvSpPr>
          <p:cNvPr id="30" name="Shape 25"/>
          <p:cNvSpPr/>
          <p:nvPr/>
        </p:nvSpPr>
        <p:spPr>
          <a:xfrm>
            <a:off x="731520" y="5074920"/>
            <a:ext cx="10698480" cy="0"/>
          </a:xfrm>
          <a:prstGeom prst="line">
            <a:avLst/>
          </a:prstGeom>
          <a:noFill/>
          <a:ln w="25400">
            <a:solidFill>
              <a:srgbClr val="DDE3EA"/>
            </a:solidFill>
            <a:prstDash val="solid"/>
          </a:ln>
        </p:spPr>
      </p:sp>
      <p:sp>
        <p:nvSpPr>
          <p:cNvPr id="31" name="Shape 26"/>
          <p:cNvSpPr/>
          <p:nvPr/>
        </p:nvSpPr>
        <p:spPr>
          <a:xfrm>
            <a:off x="658368" y="4956048"/>
            <a:ext cx="237744" cy="237744"/>
          </a:xfrm>
          <a:prstGeom prst="ellipse">
            <a:avLst/>
          </a:prstGeom>
          <a:solidFill>
            <a:srgbClr val="14213D"/>
          </a:solidFill>
          <a:ln w="19050">
            <a:solidFill>
              <a:srgbClr val="FFFFFF"/>
            </a:solidFill>
            <a:prstDash val="solid"/>
          </a:ln>
        </p:spPr>
      </p:sp>
      <p:sp>
        <p:nvSpPr>
          <p:cNvPr id="32" name="Text 27"/>
          <p:cNvSpPr txBox="1"/>
          <p:nvPr/>
        </p:nvSpPr>
        <p:spPr>
          <a:xfrm>
            <a:off x="1005840" y="4937760"/>
            <a:ext cx="2194560" cy="274320"/>
          </a:xfrm>
          <a:prstGeom prst="rect">
            <a:avLst/>
          </a:prstGeom>
          <a:noFill/>
          <a:ln/>
        </p:spPr>
        <p:txBody>
          <a:bodyPr wrap="square" lIns="0" tIns="0" rIns="0" bIns="0" rtlCol="0" anchor="t"/>
          <a:lstStyle/>
          <a:p>
            <a:pPr indent="0" marL="0">
              <a:buNone/>
            </a:pPr>
            <a:r>
              <a:rPr lang="en-US" sz="1050" b="1" dirty="0">
                <a:solidFill>
                  <a:srgbClr val="5B6576"/>
                </a:solidFill>
                <a:latin typeface="Calibri" pitchFamily="34" charset="0"/>
                <a:ea typeface="Calibri" pitchFamily="34" charset="-122"/>
                <a:cs typeface="Calibri" pitchFamily="34" charset="-120"/>
              </a:rPr>
              <a:t>0 to 3 months</a:t>
            </a:r>
            <a:endParaRPr lang="en-US" sz="1050" dirty="0"/>
          </a:p>
        </p:txBody>
      </p:sp>
      <p:sp>
        <p:nvSpPr>
          <p:cNvPr id="33" name="Text 28"/>
          <p:cNvSpPr txBox="1"/>
          <p:nvPr/>
        </p:nvSpPr>
        <p:spPr>
          <a:xfrm>
            <a:off x="548640" y="5285232"/>
            <a:ext cx="2651760" cy="256032"/>
          </a:xfrm>
          <a:prstGeom prst="rect">
            <a:avLst/>
          </a:prstGeom>
          <a:noFill/>
          <a:ln/>
        </p:spPr>
        <p:txBody>
          <a:bodyPr wrap="square" lIns="0" tIns="0" rIns="0" bIns="0" rtlCol="0" anchor="t"/>
          <a:lstStyle/>
          <a:p>
            <a:pPr indent="0" marL="0">
              <a:buNone/>
            </a:pPr>
            <a:r>
              <a:rPr lang="en-US" sz="1200" b="1" dirty="0">
                <a:solidFill>
                  <a:srgbClr val="1B2433"/>
                </a:solidFill>
                <a:latin typeface="Calibri" pitchFamily="34" charset="0"/>
                <a:ea typeface="Calibri" pitchFamily="34" charset="-122"/>
                <a:cs typeface="Calibri" pitchFamily="34" charset="-120"/>
              </a:rPr>
              <a:t>Validate</a:t>
            </a:r>
            <a:endParaRPr lang="en-US" sz="1200" dirty="0"/>
          </a:p>
        </p:txBody>
      </p:sp>
      <p:sp>
        <p:nvSpPr>
          <p:cNvPr id="34" name="Text 29"/>
          <p:cNvSpPr txBox="1"/>
          <p:nvPr/>
        </p:nvSpPr>
        <p:spPr>
          <a:xfrm>
            <a:off x="548640" y="5550408"/>
            <a:ext cx="2651760" cy="566928"/>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Finance leaders and developers try the prototype. Their feedback shapes the first release.</a:t>
            </a:r>
            <a:endParaRPr lang="en-US" sz="1000" dirty="0"/>
          </a:p>
        </p:txBody>
      </p:sp>
      <p:sp>
        <p:nvSpPr>
          <p:cNvPr id="35" name="Shape 30"/>
          <p:cNvSpPr/>
          <p:nvPr/>
        </p:nvSpPr>
        <p:spPr>
          <a:xfrm>
            <a:off x="3447288" y="4956048"/>
            <a:ext cx="237744" cy="237744"/>
          </a:xfrm>
          <a:prstGeom prst="ellipse">
            <a:avLst/>
          </a:prstGeom>
          <a:solidFill>
            <a:srgbClr val="0F9D8A"/>
          </a:solidFill>
          <a:ln w="19050">
            <a:solidFill>
              <a:srgbClr val="FFFFFF"/>
            </a:solidFill>
            <a:prstDash val="solid"/>
          </a:ln>
        </p:spPr>
      </p:sp>
      <p:sp>
        <p:nvSpPr>
          <p:cNvPr id="36" name="Text 31"/>
          <p:cNvSpPr txBox="1"/>
          <p:nvPr/>
        </p:nvSpPr>
        <p:spPr>
          <a:xfrm>
            <a:off x="3794760" y="4937760"/>
            <a:ext cx="2194560" cy="274320"/>
          </a:xfrm>
          <a:prstGeom prst="rect">
            <a:avLst/>
          </a:prstGeom>
          <a:noFill/>
          <a:ln/>
        </p:spPr>
        <p:txBody>
          <a:bodyPr wrap="square" lIns="0" tIns="0" rIns="0" bIns="0" rtlCol="0" anchor="t"/>
          <a:lstStyle/>
          <a:p>
            <a:pPr indent="0" marL="0">
              <a:buNone/>
            </a:pPr>
            <a:r>
              <a:rPr lang="en-US" sz="1050" b="1" dirty="0">
                <a:solidFill>
                  <a:srgbClr val="0F9D8A"/>
                </a:solidFill>
                <a:latin typeface="Calibri" pitchFamily="34" charset="0"/>
                <a:ea typeface="Calibri" pitchFamily="34" charset="-122"/>
                <a:cs typeface="Calibri" pitchFamily="34" charset="-120"/>
              </a:rPr>
              <a:t>3 to 9 months</a:t>
            </a:r>
            <a:endParaRPr lang="en-US" sz="1050" dirty="0"/>
          </a:p>
        </p:txBody>
      </p:sp>
      <p:sp>
        <p:nvSpPr>
          <p:cNvPr id="37" name="Text 32"/>
          <p:cNvSpPr txBox="1"/>
          <p:nvPr/>
        </p:nvSpPr>
        <p:spPr>
          <a:xfrm>
            <a:off x="3337560" y="5285232"/>
            <a:ext cx="2651760" cy="256032"/>
          </a:xfrm>
          <a:prstGeom prst="rect">
            <a:avLst/>
          </a:prstGeom>
          <a:noFill/>
          <a:ln/>
        </p:spPr>
        <p:txBody>
          <a:bodyPr wrap="square" lIns="0" tIns="0" rIns="0" bIns="0" rtlCol="0" anchor="t"/>
          <a:lstStyle/>
          <a:p>
            <a:pPr indent="0" marL="0">
              <a:buNone/>
            </a:pPr>
            <a:r>
              <a:rPr lang="en-US" sz="1200" b="1" dirty="0">
                <a:solidFill>
                  <a:srgbClr val="1B2433"/>
                </a:solidFill>
                <a:latin typeface="Calibri" pitchFamily="34" charset="0"/>
                <a:ea typeface="Calibri" pitchFamily="34" charset="-122"/>
                <a:cs typeface="Calibri" pitchFamily="34" charset="-120"/>
              </a:rPr>
              <a:t>First release</a:t>
            </a:r>
            <a:endParaRPr lang="en-US" sz="1200" dirty="0"/>
          </a:p>
        </p:txBody>
      </p:sp>
      <p:sp>
        <p:nvSpPr>
          <p:cNvPr id="38" name="Text 33"/>
          <p:cNvSpPr txBox="1"/>
          <p:nvPr/>
        </p:nvSpPr>
        <p:spPr>
          <a:xfrm>
            <a:off x="3337560" y="5550408"/>
            <a:ext cx="2651760" cy="566928"/>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The close agent launches in Assist and Approve modes. The Trust Center and core APIs launch with it.</a:t>
            </a:r>
            <a:endParaRPr lang="en-US" sz="1000" dirty="0"/>
          </a:p>
        </p:txBody>
      </p:sp>
      <p:sp>
        <p:nvSpPr>
          <p:cNvPr id="39" name="Shape 34"/>
          <p:cNvSpPr/>
          <p:nvPr/>
        </p:nvSpPr>
        <p:spPr>
          <a:xfrm>
            <a:off x="6236208" y="4956048"/>
            <a:ext cx="237744" cy="237744"/>
          </a:xfrm>
          <a:prstGeom prst="ellipse">
            <a:avLst/>
          </a:prstGeom>
          <a:solidFill>
            <a:srgbClr val="14213D"/>
          </a:solidFill>
          <a:ln w="19050">
            <a:solidFill>
              <a:srgbClr val="FFFFFF"/>
            </a:solidFill>
            <a:prstDash val="solid"/>
          </a:ln>
        </p:spPr>
      </p:sp>
      <p:sp>
        <p:nvSpPr>
          <p:cNvPr id="40" name="Text 35"/>
          <p:cNvSpPr txBox="1"/>
          <p:nvPr/>
        </p:nvSpPr>
        <p:spPr>
          <a:xfrm>
            <a:off x="6583680" y="4937760"/>
            <a:ext cx="2194560" cy="274320"/>
          </a:xfrm>
          <a:prstGeom prst="rect">
            <a:avLst/>
          </a:prstGeom>
          <a:noFill/>
          <a:ln/>
        </p:spPr>
        <p:txBody>
          <a:bodyPr wrap="square" lIns="0" tIns="0" rIns="0" bIns="0" rtlCol="0" anchor="t"/>
          <a:lstStyle/>
          <a:p>
            <a:pPr indent="0" marL="0">
              <a:buNone/>
            </a:pPr>
            <a:r>
              <a:rPr lang="en-US" sz="1050" b="1" dirty="0">
                <a:solidFill>
                  <a:srgbClr val="5B6576"/>
                </a:solidFill>
                <a:latin typeface="Calibri" pitchFamily="34" charset="0"/>
                <a:ea typeface="Calibri" pitchFamily="34" charset="-122"/>
                <a:cs typeface="Calibri" pitchFamily="34" charset="-120"/>
              </a:rPr>
              <a:t>9 to 18 months</a:t>
            </a:r>
            <a:endParaRPr lang="en-US" sz="1050" dirty="0"/>
          </a:p>
        </p:txBody>
      </p:sp>
      <p:sp>
        <p:nvSpPr>
          <p:cNvPr id="41" name="Text 36"/>
          <p:cNvSpPr txBox="1"/>
          <p:nvPr/>
        </p:nvSpPr>
        <p:spPr>
          <a:xfrm>
            <a:off x="6126480" y="5285232"/>
            <a:ext cx="2651760" cy="256032"/>
          </a:xfrm>
          <a:prstGeom prst="rect">
            <a:avLst/>
          </a:prstGeom>
          <a:noFill/>
          <a:ln/>
        </p:spPr>
        <p:txBody>
          <a:bodyPr wrap="square" lIns="0" tIns="0" rIns="0" bIns="0" rtlCol="0" anchor="t"/>
          <a:lstStyle/>
          <a:p>
            <a:pPr indent="0" marL="0">
              <a:buNone/>
            </a:pPr>
            <a:r>
              <a:rPr lang="en-US" sz="1200" b="1" dirty="0">
                <a:solidFill>
                  <a:srgbClr val="1B2433"/>
                </a:solidFill>
                <a:latin typeface="Calibri" pitchFamily="34" charset="0"/>
                <a:ea typeface="Calibri" pitchFamily="34" charset="-122"/>
                <a:cs typeface="Calibri" pitchFamily="34" charset="-120"/>
              </a:rPr>
              <a:t>Expand</a:t>
            </a:r>
            <a:endParaRPr lang="en-US" sz="1200" dirty="0"/>
          </a:p>
        </p:txBody>
      </p:sp>
      <p:sp>
        <p:nvSpPr>
          <p:cNvPr id="42" name="Text 37"/>
          <p:cNvSpPr txBox="1"/>
          <p:nvPr/>
        </p:nvSpPr>
        <p:spPr>
          <a:xfrm>
            <a:off x="6126480" y="5550408"/>
            <a:ext cx="2651760" cy="566928"/>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The Scenario Lab, compliance help, expert network and full marketplace go live.</a:t>
            </a:r>
            <a:endParaRPr lang="en-US" sz="1000" dirty="0"/>
          </a:p>
        </p:txBody>
      </p:sp>
      <p:sp>
        <p:nvSpPr>
          <p:cNvPr id="43" name="Shape 38"/>
          <p:cNvSpPr/>
          <p:nvPr/>
        </p:nvSpPr>
        <p:spPr>
          <a:xfrm>
            <a:off x="9025128" y="4956048"/>
            <a:ext cx="237744" cy="237744"/>
          </a:xfrm>
          <a:prstGeom prst="ellipse">
            <a:avLst/>
          </a:prstGeom>
          <a:solidFill>
            <a:srgbClr val="14213D"/>
          </a:solidFill>
          <a:ln w="19050">
            <a:solidFill>
              <a:srgbClr val="FFFFFF"/>
            </a:solidFill>
            <a:prstDash val="solid"/>
          </a:ln>
        </p:spPr>
      </p:sp>
      <p:sp>
        <p:nvSpPr>
          <p:cNvPr id="44" name="Text 39"/>
          <p:cNvSpPr txBox="1"/>
          <p:nvPr/>
        </p:nvSpPr>
        <p:spPr>
          <a:xfrm>
            <a:off x="9372600" y="4937760"/>
            <a:ext cx="2194560" cy="274320"/>
          </a:xfrm>
          <a:prstGeom prst="rect">
            <a:avLst/>
          </a:prstGeom>
          <a:noFill/>
          <a:ln/>
        </p:spPr>
        <p:txBody>
          <a:bodyPr wrap="square" lIns="0" tIns="0" rIns="0" bIns="0" rtlCol="0" anchor="t"/>
          <a:lstStyle/>
          <a:p>
            <a:pPr indent="0" marL="0">
              <a:buNone/>
            </a:pPr>
            <a:r>
              <a:rPr lang="en-US" sz="1050" b="1" dirty="0">
                <a:solidFill>
                  <a:srgbClr val="5B6576"/>
                </a:solidFill>
                <a:latin typeface="Calibri" pitchFamily="34" charset="0"/>
                <a:ea typeface="Calibri" pitchFamily="34" charset="-122"/>
                <a:cs typeface="Calibri" pitchFamily="34" charset="-120"/>
              </a:rPr>
              <a:t>18 months on</a:t>
            </a:r>
            <a:endParaRPr lang="en-US" sz="1050" dirty="0"/>
          </a:p>
        </p:txBody>
      </p:sp>
      <p:sp>
        <p:nvSpPr>
          <p:cNvPr id="45" name="Text 40"/>
          <p:cNvSpPr txBox="1"/>
          <p:nvPr/>
        </p:nvSpPr>
        <p:spPr>
          <a:xfrm>
            <a:off x="8915400" y="5285232"/>
            <a:ext cx="2651760" cy="256032"/>
          </a:xfrm>
          <a:prstGeom prst="rect">
            <a:avLst/>
          </a:prstGeom>
          <a:noFill/>
          <a:ln/>
        </p:spPr>
        <p:txBody>
          <a:bodyPr wrap="square" lIns="0" tIns="0" rIns="0" bIns="0" rtlCol="0" anchor="t"/>
          <a:lstStyle/>
          <a:p>
            <a:pPr indent="0" marL="0">
              <a:buNone/>
            </a:pPr>
            <a:r>
              <a:rPr lang="en-US" sz="1200" b="1" dirty="0">
                <a:solidFill>
                  <a:srgbClr val="1B2433"/>
                </a:solidFill>
                <a:latin typeface="Calibri" pitchFamily="34" charset="0"/>
                <a:ea typeface="Calibri" pitchFamily="34" charset="-122"/>
                <a:cs typeface="Calibri" pitchFamily="34" charset="-120"/>
              </a:rPr>
              <a:t>Platform</a:t>
            </a:r>
            <a:endParaRPr lang="en-US" sz="1200" dirty="0"/>
          </a:p>
        </p:txBody>
      </p:sp>
      <p:sp>
        <p:nvSpPr>
          <p:cNvPr id="46" name="Text 41"/>
          <p:cNvSpPr txBox="1"/>
          <p:nvPr/>
        </p:nvSpPr>
        <p:spPr>
          <a:xfrm>
            <a:off x="8915400" y="5550408"/>
            <a:ext cx="2651760" cy="566928"/>
          </a:xfrm>
          <a:prstGeom prst="rect">
            <a:avLst/>
          </a:prstGeom>
          <a:noFill/>
          <a:ln/>
        </p:spPr>
        <p:txBody>
          <a:bodyPr wrap="square" lIns="0" tIns="0" rIns="0" bIns="0" rtlCol="0" anchor="t"/>
          <a:lstStyle/>
          <a:p>
            <a:pPr indent="0" marL="0">
              <a:buNone/>
            </a:pPr>
            <a:r>
              <a:rPr lang="en-US" sz="1000" dirty="0">
                <a:solidFill>
                  <a:srgbClr val="1B2433"/>
                </a:solidFill>
                <a:latin typeface="Calibri" pitchFamily="34" charset="0"/>
                <a:ea typeface="Calibri" pitchFamily="34" charset="-122"/>
                <a:cs typeface="Calibri" pitchFamily="34" charset="-120"/>
              </a:rPr>
              <a:t>The partner ecosystem grows. Autopilot turns on only for tasks that have proven accurate.</a:t>
            </a:r>
            <a:endParaRPr lang="en-US" sz="1000" dirty="0"/>
          </a:p>
        </p:txBody>
      </p:sp>
      <p:sp>
        <p:nvSpPr>
          <p:cNvPr id="47" name="Shape 42"/>
          <p:cNvSpPr/>
          <p:nvPr/>
        </p:nvSpPr>
        <p:spPr>
          <a:xfrm>
            <a:off x="548640" y="6199632"/>
            <a:ext cx="11109960" cy="475488"/>
          </a:xfrm>
          <a:prstGeom prst="roundRect">
            <a:avLst>
              <a:gd name="adj" fmla="val 19231"/>
            </a:avLst>
          </a:prstGeom>
          <a:solidFill>
            <a:srgbClr val="14213D"/>
          </a:solidFill>
          <a:ln w="12700">
            <a:solidFill>
              <a:srgbClr val="14213D"/>
            </a:solidFill>
            <a:prstDash val="solid"/>
          </a:ln>
        </p:spPr>
      </p:sp>
      <p:sp>
        <p:nvSpPr>
          <p:cNvPr id="48" name="Text 43"/>
          <p:cNvSpPr txBox="1"/>
          <p:nvPr/>
        </p:nvSpPr>
        <p:spPr>
          <a:xfrm>
            <a:off x="777240" y="6199632"/>
            <a:ext cx="10698480" cy="47548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Orbit helps IES grow from software that records the past into a trusted AI platform that helps businesses decide and act.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Orbit by Shubham Gaur</dc:title>
  <dc:subject>PptxGenJS Presentation</dc:subject>
  <dc:creator>Shubham Gaur</dc:creator>
  <cp:lastModifiedBy>Shubham Gaur</cp:lastModifiedBy>
  <cp:revision>1</cp:revision>
  <dcterms:created xsi:type="dcterms:W3CDTF">2026-09-27T07:34:40Z</dcterms:created>
  <dcterms:modified xsi:type="dcterms:W3CDTF">2026-09-27T07:34:40Z</dcterms:modified>
</cp:coreProperties>
</file>