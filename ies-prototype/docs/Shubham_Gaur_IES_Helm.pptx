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Shubham Gaur. I have worked as a consultant at Capgemini and I studied civil engineering at IIT Kanpur.
Today I will present my answer to the Intuit case. I call my product IES Helm. A helm is the wheel that steers a ship. In my product the AI does much of the work but the finance leader always steers.
Let me start with the business case. Intuit Enterprise Suite serves mid-market companies. These are firms with about fifty to two thousand five hundred employees. They have outgrown small business tools. Yet big ERP systems still feel too slow and too expensive for them.
The market has changed. Businesses now expect AI agents to do real work. Recording what already happened is not enough anymore. People also want expert help right when they need it.
So Intuit asked me two things. First, put AI agents and expert help inside daily finance, accounting, workforce and commerce work. Second, open IES so outside developers can build their own apps and agents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talk about the people who feel this pain. The case gives two groups and my product serves both.
The first group is finance leaders. These are CFOs, controllers and business owners. Many of them run several companies in several countries. Their data lives in many separate tools. Closing the books every month takes weeks. Expert advice is expensive. I also believe they will not trust AI with their books unless they can see the proof and stay in control. That last point is my own assumption and I would test it with real customers.
The second group is developers. These are startups, fintech firms and software companies. They find financial integrations slow and hard. Most accounting APIs only give thin data. There are few safe tools to build AI agents. And it is hard for them to find customers and earn money.
At the bottom you can see what each group really wants. The finance leader wants the agents to do the heavy work while they keep the final say. The developer wants rich data, a safe place to test, and a way to reach paying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solution. I call it IES Helm. The big idea is simple. IES should not only record what happened. It should also understand the business, suggest what to do and take action. The finance leader always keeps the final say.
The solution stands on four pillars. First, AI agents do real work such as closing the books. Second, hard questions go to real human experts with a full case file. Third, outside developers can build and sell their own agents on IES. Fourth, trust is visible. Every action shows its proof, its confidence and who approved it.
Every agent follows the same five steps. It understands the task. It investigates the data. It decides using company rules. It acts or prepares the action. Then it checks the result.
The finance leader chooses how much freedom the AI gets. In Assist mode the AI only suggests. In Approve mode it prepares the work and waits for a yes. In Autopilot it finishes small and safe tasks alone. Risky or unclear tasks always go to a person.
On the right you can see what my working prototype shows. The morning brief warns about cash and starts collections with one click. The close agent moves the books from sixty-two to seventy-three percent ready in a single run. The what-if lab answers a plain English question with three scenarios. A risky one point two four million dollar sale goes to a human expert. A partner agent from the marketplace finds twenty-three thousand dollars of overcharges. And a developer can build an agent, catch a bug in testing and publish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finish with how this makes money, how I would build it and how I would know it works.
Intuit earns in five ways. Customers keep paying the normal subscription. Heavy AI use is charged above an included amount. Developers pay for API use beyond a free level. Intuit keeps a share of each marketplace sale. And expert help is sold per case. All prices in my prototype are only examples.
The case names NetSuite, SAP, Workday and new AI companies. I did not want to invent facts about them. My bet is that the full mix is hard to copy. IES has one shared set of business data. Its agents act inside clear rules. Experts are built in. Developers can sell to IES customers. And trust is visible everywhere. I would test this bet with win and loss interviews.
My main success measure is simple. I count the hours of finance work that agents finish with proof and without a person fixing it. This one number shows both value and trust. My riskiest belief is that controllers will approve work that an agent prepared. I would test that first with eight controllers using this prototype.
I would build in four steps. First I validate with real customers. Next I launch the close agent with the Trust Center and core APIs. Then I add the what-if lab, compliance, experts and the full marketplace. Finally I grow the partner ecosystem and turn on Autopilot only where it has proven accurate.
To close, IES Helm helps Intuit grow from software that records the past into a trusted AI platform that helps businesses decide and act.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02920"/>
            <a:ext cx="4937760" cy="274320"/>
          </a:xfrm>
          <a:prstGeom prst="rect">
            <a:avLst/>
          </a:prstGeom>
          <a:noFill/>
          <a:ln/>
        </p:spPr>
        <p:txBody>
          <a:bodyPr wrap="square" lIns="0" tIns="0" rIns="0" bIns="0" rtlCol="0" anchor="t"/>
          <a:lstStyle/>
          <a:p>
            <a:pPr indent="0" marL="0">
              <a:buNone/>
            </a:pPr>
            <a:r>
              <a:rPr lang="en-US" sz="1100" b="1" spc="200" kern="0" dirty="0">
                <a:solidFill>
                  <a:srgbClr val="9FB3D1"/>
                </a:solidFill>
                <a:latin typeface="Calibri" pitchFamily="34" charset="0"/>
                <a:ea typeface="Calibri" pitchFamily="34" charset="-122"/>
                <a:cs typeface="Calibri" pitchFamily="34" charset="-120"/>
              </a:rPr>
              <a:t>INTUIT PRODUCT MANAGEMENT CASE STUDY</a:t>
            </a:r>
            <a:endParaRPr lang="en-US" sz="1100" dirty="0"/>
          </a:p>
        </p:txBody>
      </p:sp>
      <p:sp>
        <p:nvSpPr>
          <p:cNvPr id="3" name="Text 1"/>
          <p:cNvSpPr txBox="1"/>
          <p:nvPr/>
        </p:nvSpPr>
        <p:spPr>
          <a:xfrm>
            <a:off x="548640" y="868680"/>
            <a:ext cx="493776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IES Helm</a:t>
            </a:r>
            <a:endParaRPr lang="en-US" sz="5400" dirty="0"/>
          </a:p>
        </p:txBody>
      </p:sp>
      <p:sp>
        <p:nvSpPr>
          <p:cNvPr id="4" name="Text 2"/>
          <p:cNvSpPr txBox="1"/>
          <p:nvPr/>
        </p:nvSpPr>
        <p:spPr>
          <a:xfrm>
            <a:off x="548640" y="1783080"/>
            <a:ext cx="4754880" cy="731520"/>
          </a:xfrm>
          <a:prstGeom prst="rect">
            <a:avLst/>
          </a:prstGeom>
          <a:noFill/>
          <a:ln/>
        </p:spPr>
        <p:txBody>
          <a:bodyPr wrap="square" lIns="0" tIns="0" rIns="0" bIns="0" rtlCol="0" anchor="t"/>
          <a:lstStyle/>
          <a:p>
            <a:pPr indent="0" marL="0">
              <a:buNone/>
            </a:pPr>
            <a:r>
              <a:rPr lang="en-US" sz="1800" i="1" dirty="0">
                <a:solidFill>
                  <a:srgbClr val="CFE0F5"/>
                </a:solidFill>
                <a:latin typeface="Calibri" pitchFamily="34" charset="0"/>
                <a:ea typeface="Calibri" pitchFamily="34" charset="-122"/>
                <a:cs typeface="Calibri" pitchFamily="34" charset="-120"/>
              </a:rPr>
              <a:t>An AI platform where agents do the work and you stay in control.</a:t>
            </a:r>
            <a:endParaRPr lang="en-US" sz="1800" dirty="0"/>
          </a:p>
        </p:txBody>
      </p:sp>
      <p:sp>
        <p:nvSpPr>
          <p:cNvPr id="5" name="Text 3"/>
          <p:cNvSpPr txBox="1"/>
          <p:nvPr/>
        </p:nvSpPr>
        <p:spPr>
          <a:xfrm>
            <a:off x="548640" y="2606040"/>
            <a:ext cx="4754880" cy="914400"/>
          </a:xfrm>
          <a:prstGeom prst="rect">
            <a:avLst/>
          </a:prstGeom>
          <a:noFill/>
          <a:ln/>
        </p:spPr>
        <p:txBody>
          <a:bodyPr wrap="square" lIns="0" tIns="0" rIns="0" bIns="0" rtlCol="0" anchor="t"/>
          <a:lstStyle/>
          <a:p>
            <a:pPr indent="0" marL="0">
              <a:spcAft>
                <a:spcPts val="400"/>
              </a:spcAft>
              <a:buNone/>
            </a:pPr>
            <a:r>
              <a:rPr lang="en-US" sz="1300" dirty="0">
                <a:solidFill>
                  <a:srgbClr val="DCE6F2"/>
                </a:solidFill>
                <a:latin typeface="Calibri" pitchFamily="34" charset="0"/>
                <a:ea typeface="Calibri" pitchFamily="34" charset="-122"/>
                <a:cs typeface="Calibri" pitchFamily="34" charset="-120"/>
              </a:rPr>
              <a:t>A helm is the wheel that steers a ship. </a:t>
            </a:r>
            <a:pPr indent="0" marL="0">
              <a:spcAft>
                <a:spcPts val="400"/>
              </a:spcAft>
              <a:buNone/>
            </a:pPr>
            <a:r>
              <a:rPr lang="en-US" sz="1300" dirty="0">
                <a:solidFill>
                  <a:srgbClr val="DCE6F2"/>
                </a:solidFill>
                <a:latin typeface="Calibri" pitchFamily="34" charset="0"/>
                <a:ea typeface="Calibri" pitchFamily="34" charset="-122"/>
                <a:cs typeface="Calibri" pitchFamily="34" charset="-120"/>
              </a:rPr>
              <a:t>In my product the AI agents do much of the rowing. The finance leader always holds the wheel and decides where the business goes.</a:t>
            </a:r>
            <a:endParaRPr lang="en-US" sz="1300" dirty="0"/>
          </a:p>
        </p:txBody>
      </p:sp>
      <p:sp>
        <p:nvSpPr>
          <p:cNvPr id="6" name="Shape 4"/>
          <p:cNvSpPr/>
          <p:nvPr/>
        </p:nvSpPr>
        <p:spPr>
          <a:xfrm>
            <a:off x="548640" y="3840480"/>
            <a:ext cx="4754880" cy="2103120"/>
          </a:xfrm>
          <a:prstGeom prst="roundRect">
            <a:avLst>
              <a:gd name="adj" fmla="val 5217"/>
            </a:avLst>
          </a:prstGeom>
          <a:solidFill>
            <a:srgbClr val="1F3157"/>
          </a:solidFill>
          <a:ln w="9525">
            <a:solidFill>
              <a:srgbClr val="2E4675"/>
            </a:solidFill>
            <a:prstDash val="solid"/>
          </a:ln>
        </p:spPr>
      </p:sp>
      <p:sp>
        <p:nvSpPr>
          <p:cNvPr id="7" name="Shape 5"/>
          <p:cNvSpPr/>
          <p:nvPr/>
        </p:nvSpPr>
        <p:spPr>
          <a:xfrm>
            <a:off x="777240" y="4069080"/>
            <a:ext cx="685800" cy="685800"/>
          </a:xfrm>
          <a:prstGeom prst="ellipse">
            <a:avLst/>
          </a:prstGeom>
          <a:solidFill>
            <a:srgbClr val="0F9D8A"/>
          </a:solidFill>
          <a:ln w="12700">
            <a:solidFill>
              <a:srgbClr val="0F9D8A"/>
            </a:solidFill>
            <a:prstDash val="solid"/>
          </a:ln>
        </p:spPr>
      </p:sp>
      <p:pic>
        <p:nvPicPr>
          <p:cNvPr id="8" name="Image 0" descr="preencoded.png">    </p:cNvPr>
          <p:cNvPicPr>
            <a:picLocks noChangeAspect="1"/>
          </p:cNvPicPr>
          <p:nvPr/>
        </p:nvPicPr>
        <p:blipFill>
          <a:blip r:embed="rId1"/>
          <a:stretch>
            <a:fillRect/>
          </a:stretch>
        </p:blipFill>
        <p:spPr>
          <a:xfrm>
            <a:off x="948690" y="4240530"/>
            <a:ext cx="342900" cy="342900"/>
          </a:xfrm>
          <a:prstGeom prst="rect">
            <a:avLst/>
          </a:prstGeom>
        </p:spPr>
      </p:pic>
      <p:sp>
        <p:nvSpPr>
          <p:cNvPr id="9" name="Text 6"/>
          <p:cNvSpPr txBox="1"/>
          <p:nvPr/>
        </p:nvSpPr>
        <p:spPr>
          <a:xfrm>
            <a:off x="1645920" y="4041648"/>
            <a:ext cx="3566160" cy="228600"/>
          </a:xfrm>
          <a:prstGeom prst="rect">
            <a:avLst/>
          </a:prstGeom>
          <a:noFill/>
          <a:ln/>
        </p:spPr>
        <p:txBody>
          <a:bodyPr wrap="square" lIns="0" tIns="0" rIns="0" bIns="0" rtlCol="0" anchor="t"/>
          <a:lstStyle/>
          <a:p>
            <a:pPr indent="0" marL="0">
              <a:buNone/>
            </a:pPr>
            <a:r>
              <a:rPr lang="en-US" sz="1000" b="1" spc="200" kern="0" dirty="0">
                <a:solidFill>
                  <a:srgbClr val="9FB3D1"/>
                </a:solidFill>
                <a:latin typeface="Calibri" pitchFamily="34" charset="0"/>
                <a:ea typeface="Calibri" pitchFamily="34" charset="-122"/>
                <a:cs typeface="Calibri" pitchFamily="34" charset="-120"/>
              </a:rPr>
              <a:t>PRESENTED BY</a:t>
            </a:r>
            <a:endParaRPr lang="en-US" sz="1000" dirty="0"/>
          </a:p>
        </p:txBody>
      </p:sp>
      <p:sp>
        <p:nvSpPr>
          <p:cNvPr id="10" name="Text 7"/>
          <p:cNvSpPr txBox="1"/>
          <p:nvPr/>
        </p:nvSpPr>
        <p:spPr>
          <a:xfrm>
            <a:off x="1645920" y="4251960"/>
            <a:ext cx="356616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Shubham Gaur</a:t>
            </a:r>
            <a:endParaRPr lang="en-US" sz="2000" dirty="0"/>
          </a:p>
        </p:txBody>
      </p:sp>
      <p:sp>
        <p:nvSpPr>
          <p:cNvPr id="11" name="Text 8"/>
          <p:cNvSpPr txBox="1"/>
          <p:nvPr/>
        </p:nvSpPr>
        <p:spPr>
          <a:xfrm>
            <a:off x="1645920" y="4681728"/>
            <a:ext cx="3520440" cy="1051560"/>
          </a:xfrm>
          <a:prstGeom prst="rect">
            <a:avLst/>
          </a:prstGeom>
          <a:noFill/>
          <a:ln/>
        </p:spPr>
        <p:txBody>
          <a:bodyPr wrap="square" lIns="0" tIns="0" rIns="0" bIns="0" rtlCol="0" anchor="t"/>
          <a:lstStyle/>
          <a:p>
            <a:pPr indent="0" marL="0">
              <a:spcAft>
                <a:spcPts val="300"/>
              </a:spcAft>
              <a:buNone/>
            </a:pPr>
            <a:r>
              <a:rPr lang="en-US" sz="1150" dirty="0">
                <a:solidFill>
                  <a:srgbClr val="DCE6F2"/>
                </a:solidFill>
                <a:latin typeface="Calibri" pitchFamily="34" charset="0"/>
                <a:ea typeface="Calibri" pitchFamily="34" charset="-122"/>
                <a:cs typeface="Calibri" pitchFamily="34" charset="-120"/>
              </a:rPr>
              <a:t>Shubham has worked as a consultant at Capgemini.</a:t>
            </a:r>
            <a:endParaRPr lang="en-US" sz="1150" dirty="0"/>
          </a:p>
          <a:p>
            <a:pPr indent="0" marL="0">
              <a:spcAft>
                <a:spcPts val="300"/>
              </a:spcAft>
              <a:buNone/>
            </a:pPr>
            <a:r>
              <a:rPr lang="en-US" sz="1150" dirty="0">
                <a:solidFill>
                  <a:srgbClr val="DCE6F2"/>
                </a:solidFill>
                <a:latin typeface="Calibri" pitchFamily="34" charset="0"/>
                <a:ea typeface="Calibri" pitchFamily="34" charset="-122"/>
                <a:cs typeface="Calibri" pitchFamily="34" charset="-120"/>
              </a:rPr>
              <a:t>He holds a B.Tech in Civil Engineering from IIT Kanpur.</a:t>
            </a:r>
            <a:endParaRPr lang="en-US" sz="1150" dirty="0"/>
          </a:p>
          <a:p>
            <a:pPr indent="0" marL="0">
              <a:spcAft>
                <a:spcPts val="300"/>
              </a:spcAft>
              <a:buNone/>
            </a:pPr>
            <a:r>
              <a:rPr lang="en-US" sz="1150" dirty="0">
                <a:solidFill>
                  <a:srgbClr val="DCE6F2"/>
                </a:solidFill>
                <a:latin typeface="Calibri" pitchFamily="34" charset="0"/>
                <a:ea typeface="Calibri" pitchFamily="34" charset="-122"/>
                <a:cs typeface="Calibri" pitchFamily="34" charset="-120"/>
              </a:rPr>
              <a:t>He enjoys turning messy business problems into simple products that people trust.</a:t>
            </a:r>
            <a:endParaRPr lang="en-US" sz="1150" dirty="0"/>
          </a:p>
        </p:txBody>
      </p:sp>
      <p:sp>
        <p:nvSpPr>
          <p:cNvPr id="12" name="Text 9"/>
          <p:cNvSpPr txBox="1"/>
          <p:nvPr/>
        </p:nvSpPr>
        <p:spPr>
          <a:xfrm>
            <a:off x="548640" y="6126480"/>
            <a:ext cx="4937760" cy="320040"/>
          </a:xfrm>
          <a:prstGeom prst="rect">
            <a:avLst/>
          </a:prstGeom>
          <a:noFill/>
          <a:ln/>
        </p:spPr>
        <p:txBody>
          <a:bodyPr wrap="square" lIns="0" tIns="0" rIns="0" bIns="0" rtlCol="0" anchor="t"/>
          <a:lstStyle/>
          <a:p>
            <a:pPr indent="0" marL="0">
              <a:buNone/>
            </a:pPr>
            <a:r>
              <a:rPr lang="en-US" sz="1200" b="1" dirty="0">
                <a:solidFill>
                  <a:srgbClr val="E8A33D"/>
                </a:solidFill>
                <a:latin typeface="Calibri" pitchFamily="34" charset="0"/>
                <a:ea typeface="Calibri" pitchFamily="34" charset="-122"/>
                <a:cs typeface="Calibri" pitchFamily="34" charset="-120"/>
              </a:rPr>
              <a:t>Live prototype: ies-helm-prototype.vercel.app</a:t>
            </a:r>
            <a:endParaRPr lang="en-US" sz="1200" dirty="0"/>
          </a:p>
        </p:txBody>
      </p:sp>
      <p:sp>
        <p:nvSpPr>
          <p:cNvPr id="13" name="Shape 10"/>
          <p:cNvSpPr/>
          <p:nvPr/>
        </p:nvSpPr>
        <p:spPr>
          <a:xfrm>
            <a:off x="5760720" y="502920"/>
            <a:ext cx="5897880" cy="5852160"/>
          </a:xfrm>
          <a:prstGeom prst="roundRect">
            <a:avLst>
              <a:gd name="adj" fmla="val 2344"/>
            </a:avLst>
          </a:prstGeom>
          <a:solidFill>
            <a:srgbClr val="FFFFFF"/>
          </a:solidFill>
          <a:ln w="12700">
            <a:solidFill>
              <a:srgbClr val="FFFFFF"/>
            </a:solidFill>
            <a:prstDash val="solid"/>
          </a:ln>
        </p:spPr>
      </p:sp>
      <p:sp>
        <p:nvSpPr>
          <p:cNvPr id="14" name="Text 11"/>
          <p:cNvSpPr txBox="1"/>
          <p:nvPr/>
        </p:nvSpPr>
        <p:spPr>
          <a:xfrm>
            <a:off x="6080760" y="731520"/>
            <a:ext cx="5303520" cy="4572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The business case</a:t>
            </a:r>
            <a:endParaRPr lang="en-US" sz="2400" dirty="0"/>
          </a:p>
        </p:txBody>
      </p:sp>
      <p:sp>
        <p:nvSpPr>
          <p:cNvPr id="15" name="Shape 12"/>
          <p:cNvSpPr/>
          <p:nvPr/>
        </p:nvSpPr>
        <p:spPr>
          <a:xfrm>
            <a:off x="6080760" y="1325880"/>
            <a:ext cx="566928" cy="566928"/>
          </a:xfrm>
          <a:prstGeom prst="ellipse">
            <a:avLst/>
          </a:prstGeom>
          <a:solidFill>
            <a:srgbClr val="E8EDFC"/>
          </a:solidFill>
          <a:ln w="12700">
            <a:solidFill>
              <a:srgbClr val="E8EDFC"/>
            </a:solidFill>
            <a:prstDash val="solid"/>
          </a:ln>
        </p:spPr>
      </p:sp>
      <p:pic>
        <p:nvPicPr>
          <p:cNvPr id="16" name="Image 1" descr="preencoded.png">    </p:cNvPr>
          <p:cNvPicPr>
            <a:picLocks noChangeAspect="1"/>
          </p:cNvPicPr>
          <p:nvPr/>
        </p:nvPicPr>
        <p:blipFill>
          <a:blip r:embed="rId2"/>
          <a:stretch>
            <a:fillRect/>
          </a:stretch>
        </p:blipFill>
        <p:spPr>
          <a:xfrm>
            <a:off x="6222492" y="1467612"/>
            <a:ext cx="283464" cy="283464"/>
          </a:xfrm>
          <a:prstGeom prst="rect">
            <a:avLst/>
          </a:prstGeom>
        </p:spPr>
      </p:pic>
      <p:sp>
        <p:nvSpPr>
          <p:cNvPr id="17" name="Text 13"/>
          <p:cNvSpPr txBox="1"/>
          <p:nvPr/>
        </p:nvSpPr>
        <p:spPr>
          <a:xfrm>
            <a:off x="6812280" y="1307592"/>
            <a:ext cx="4572000" cy="292608"/>
          </a:xfrm>
          <a:prstGeom prst="rect">
            <a:avLst/>
          </a:prstGeom>
          <a:noFill/>
          <a:ln/>
        </p:spPr>
        <p:txBody>
          <a:bodyPr wrap="square" lIns="0" tIns="0" rIns="0" bIns="0" rtlCol="0" anchor="t"/>
          <a:lstStyle/>
          <a:p>
            <a:pPr indent="0" marL="0">
              <a:buNone/>
            </a:pPr>
            <a:r>
              <a:rPr lang="en-US" sz="1400" b="1" dirty="0">
                <a:solidFill>
                  <a:srgbClr val="1B2433"/>
                </a:solidFill>
                <a:latin typeface="Calibri" pitchFamily="34" charset="0"/>
                <a:ea typeface="Calibri" pitchFamily="34" charset="-122"/>
                <a:cs typeface="Calibri" pitchFamily="34" charset="-120"/>
              </a:rPr>
              <a:t>Who IES serves</a:t>
            </a:r>
            <a:endParaRPr lang="en-US" sz="1400" dirty="0"/>
          </a:p>
        </p:txBody>
      </p:sp>
      <p:sp>
        <p:nvSpPr>
          <p:cNvPr id="18" name="Text 14"/>
          <p:cNvSpPr txBox="1"/>
          <p:nvPr/>
        </p:nvSpPr>
        <p:spPr>
          <a:xfrm>
            <a:off x="6812280" y="1600200"/>
            <a:ext cx="4617720" cy="77724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Intuit Enterprise Suite is built for mid-market companies. These firms have outgrown small business tools. Big ERP systems still feel too slow and too costly for them.</a:t>
            </a:r>
            <a:endParaRPr lang="en-US" sz="1200" dirty="0"/>
          </a:p>
        </p:txBody>
      </p:sp>
      <p:sp>
        <p:nvSpPr>
          <p:cNvPr id="19" name="Shape 15"/>
          <p:cNvSpPr/>
          <p:nvPr/>
        </p:nvSpPr>
        <p:spPr>
          <a:xfrm>
            <a:off x="6080760" y="2468880"/>
            <a:ext cx="566928" cy="566928"/>
          </a:xfrm>
          <a:prstGeom prst="ellipse">
            <a:avLst/>
          </a:prstGeom>
          <a:solidFill>
            <a:srgbClr val="E3F5F2"/>
          </a:solidFill>
          <a:ln w="12700">
            <a:solidFill>
              <a:srgbClr val="E3F5F2"/>
            </a:solidFill>
            <a:prstDash val="solid"/>
          </a:ln>
        </p:spPr>
      </p:sp>
      <p:pic>
        <p:nvPicPr>
          <p:cNvPr id="20" name="Image 2" descr="preencoded.png">    </p:cNvPr>
          <p:cNvPicPr>
            <a:picLocks noChangeAspect="1"/>
          </p:cNvPicPr>
          <p:nvPr/>
        </p:nvPicPr>
        <p:blipFill>
          <a:blip r:embed="rId3"/>
          <a:stretch>
            <a:fillRect/>
          </a:stretch>
        </p:blipFill>
        <p:spPr>
          <a:xfrm>
            <a:off x="6222492" y="2610612"/>
            <a:ext cx="283464" cy="283464"/>
          </a:xfrm>
          <a:prstGeom prst="rect">
            <a:avLst/>
          </a:prstGeom>
        </p:spPr>
      </p:pic>
      <p:sp>
        <p:nvSpPr>
          <p:cNvPr id="21" name="Text 16"/>
          <p:cNvSpPr txBox="1"/>
          <p:nvPr/>
        </p:nvSpPr>
        <p:spPr>
          <a:xfrm>
            <a:off x="6812280" y="2450592"/>
            <a:ext cx="4572000" cy="292608"/>
          </a:xfrm>
          <a:prstGeom prst="rect">
            <a:avLst/>
          </a:prstGeom>
          <a:noFill/>
          <a:ln/>
        </p:spPr>
        <p:txBody>
          <a:bodyPr wrap="square" lIns="0" tIns="0" rIns="0" bIns="0" rtlCol="0" anchor="t"/>
          <a:lstStyle/>
          <a:p>
            <a:pPr indent="0" marL="0">
              <a:buNone/>
            </a:pPr>
            <a:r>
              <a:rPr lang="en-US" sz="1400" b="1" dirty="0">
                <a:solidFill>
                  <a:srgbClr val="1B2433"/>
                </a:solidFill>
                <a:latin typeface="Calibri" pitchFamily="34" charset="0"/>
                <a:ea typeface="Calibri" pitchFamily="34" charset="-122"/>
                <a:cs typeface="Calibri" pitchFamily="34" charset="-120"/>
              </a:rPr>
              <a:t>What changed</a:t>
            </a:r>
            <a:endParaRPr lang="en-US" sz="1400" dirty="0"/>
          </a:p>
        </p:txBody>
      </p:sp>
      <p:sp>
        <p:nvSpPr>
          <p:cNvPr id="22" name="Text 17"/>
          <p:cNvSpPr txBox="1"/>
          <p:nvPr/>
        </p:nvSpPr>
        <p:spPr>
          <a:xfrm>
            <a:off x="6812280" y="2743200"/>
            <a:ext cx="4617720" cy="77724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Businesses now expect AI agents to do real work. Software that only records the past is no longer enough. People also want expert help at the exact moment they need it.</a:t>
            </a:r>
            <a:endParaRPr lang="en-US" sz="1200" dirty="0"/>
          </a:p>
        </p:txBody>
      </p:sp>
      <p:sp>
        <p:nvSpPr>
          <p:cNvPr id="23" name="Shape 18"/>
          <p:cNvSpPr/>
          <p:nvPr/>
        </p:nvSpPr>
        <p:spPr>
          <a:xfrm>
            <a:off x="6080760" y="3611880"/>
            <a:ext cx="566928" cy="566928"/>
          </a:xfrm>
          <a:prstGeom prst="ellipse">
            <a:avLst/>
          </a:prstGeom>
          <a:solidFill>
            <a:srgbClr val="FDF3E3"/>
          </a:solidFill>
          <a:ln w="12700">
            <a:solidFill>
              <a:srgbClr val="FDF3E3"/>
            </a:solidFill>
            <a:prstDash val="solid"/>
          </a:ln>
        </p:spPr>
      </p:sp>
      <p:pic>
        <p:nvPicPr>
          <p:cNvPr id="24" name="Image 3" descr="preencoded.png">    </p:cNvPr>
          <p:cNvPicPr>
            <a:picLocks noChangeAspect="1"/>
          </p:cNvPicPr>
          <p:nvPr/>
        </p:nvPicPr>
        <p:blipFill>
          <a:blip r:embed="rId4"/>
          <a:stretch>
            <a:fillRect/>
          </a:stretch>
        </p:blipFill>
        <p:spPr>
          <a:xfrm>
            <a:off x="6222492" y="3753612"/>
            <a:ext cx="283464" cy="283464"/>
          </a:xfrm>
          <a:prstGeom prst="rect">
            <a:avLst/>
          </a:prstGeom>
        </p:spPr>
      </p:pic>
      <p:sp>
        <p:nvSpPr>
          <p:cNvPr id="25" name="Text 19"/>
          <p:cNvSpPr txBox="1"/>
          <p:nvPr/>
        </p:nvSpPr>
        <p:spPr>
          <a:xfrm>
            <a:off x="6812280" y="3593592"/>
            <a:ext cx="4572000" cy="292608"/>
          </a:xfrm>
          <a:prstGeom prst="rect">
            <a:avLst/>
          </a:prstGeom>
          <a:noFill/>
          <a:ln/>
        </p:spPr>
        <p:txBody>
          <a:bodyPr wrap="square" lIns="0" tIns="0" rIns="0" bIns="0" rtlCol="0" anchor="t"/>
          <a:lstStyle/>
          <a:p>
            <a:pPr indent="0" marL="0">
              <a:buNone/>
            </a:pPr>
            <a:r>
              <a:rPr lang="en-US" sz="1400" b="1" dirty="0">
                <a:solidFill>
                  <a:srgbClr val="1B2433"/>
                </a:solidFill>
                <a:latin typeface="Calibri" pitchFamily="34" charset="0"/>
                <a:ea typeface="Calibri" pitchFamily="34" charset="-122"/>
                <a:cs typeface="Calibri" pitchFamily="34" charset="-120"/>
              </a:rPr>
              <a:t>What Intuit asked</a:t>
            </a:r>
            <a:endParaRPr lang="en-US" sz="1400" dirty="0"/>
          </a:p>
        </p:txBody>
      </p:sp>
      <p:sp>
        <p:nvSpPr>
          <p:cNvPr id="26" name="Text 20"/>
          <p:cNvSpPr txBox="1"/>
          <p:nvPr/>
        </p:nvSpPr>
        <p:spPr>
          <a:xfrm>
            <a:off x="6812280" y="3886200"/>
            <a:ext cx="4617720" cy="77724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Turn IES into an AI platform for the mid-market. Put agents and expert help inside finance, accounting, workforce and commerce. Let outside developers build their own apps and agents on IES.</a:t>
            </a:r>
            <a:endParaRPr lang="en-US" sz="1200" dirty="0"/>
          </a:p>
        </p:txBody>
      </p:sp>
      <p:sp>
        <p:nvSpPr>
          <p:cNvPr id="27" name="Shape 21"/>
          <p:cNvSpPr/>
          <p:nvPr/>
        </p:nvSpPr>
        <p:spPr>
          <a:xfrm>
            <a:off x="6080760" y="4846320"/>
            <a:ext cx="1737360" cy="1234440"/>
          </a:xfrm>
          <a:prstGeom prst="roundRect">
            <a:avLst>
              <a:gd name="adj" fmla="val 7407"/>
            </a:avLst>
          </a:prstGeom>
          <a:solidFill>
            <a:srgbClr val="F6F8FB"/>
          </a:solidFill>
          <a:ln w="12700">
            <a:solidFill>
              <a:srgbClr val="F6F8FB"/>
            </a:solidFill>
            <a:prstDash val="solid"/>
          </a:ln>
        </p:spPr>
      </p:sp>
      <p:sp>
        <p:nvSpPr>
          <p:cNvPr id="28" name="Text 22"/>
          <p:cNvSpPr txBox="1"/>
          <p:nvPr/>
        </p:nvSpPr>
        <p:spPr>
          <a:xfrm>
            <a:off x="6217920" y="4956048"/>
            <a:ext cx="146304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50 to 2,500</a:t>
            </a:r>
            <a:endParaRPr lang="en-US" sz="1700" dirty="0"/>
          </a:p>
        </p:txBody>
      </p:sp>
      <p:sp>
        <p:nvSpPr>
          <p:cNvPr id="29" name="Text 23"/>
          <p:cNvSpPr txBox="1"/>
          <p:nvPr/>
        </p:nvSpPr>
        <p:spPr>
          <a:xfrm>
            <a:off x="6217920" y="5486400"/>
            <a:ext cx="1508760" cy="50292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employees in a typical customer</a:t>
            </a:r>
            <a:endParaRPr lang="en-US" sz="1100" dirty="0"/>
          </a:p>
        </p:txBody>
      </p:sp>
      <p:sp>
        <p:nvSpPr>
          <p:cNvPr id="30" name="Shape 24"/>
          <p:cNvSpPr/>
          <p:nvPr/>
        </p:nvSpPr>
        <p:spPr>
          <a:xfrm>
            <a:off x="7955280" y="4846320"/>
            <a:ext cx="1737360" cy="1234440"/>
          </a:xfrm>
          <a:prstGeom prst="roundRect">
            <a:avLst>
              <a:gd name="adj" fmla="val 7407"/>
            </a:avLst>
          </a:prstGeom>
          <a:solidFill>
            <a:srgbClr val="F6F8FB"/>
          </a:solidFill>
          <a:ln w="12700">
            <a:solidFill>
              <a:srgbClr val="F6F8FB"/>
            </a:solidFill>
            <a:prstDash val="solid"/>
          </a:ln>
        </p:spPr>
      </p:sp>
      <p:sp>
        <p:nvSpPr>
          <p:cNvPr id="31" name="Text 25"/>
          <p:cNvSpPr txBox="1"/>
          <p:nvPr/>
        </p:nvSpPr>
        <p:spPr>
          <a:xfrm>
            <a:off x="8092440" y="4956048"/>
            <a:ext cx="146304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2</a:t>
            </a:r>
            <a:endParaRPr lang="en-US" sz="3000" dirty="0"/>
          </a:p>
        </p:txBody>
      </p:sp>
      <p:sp>
        <p:nvSpPr>
          <p:cNvPr id="32" name="Text 26"/>
          <p:cNvSpPr txBox="1"/>
          <p:nvPr/>
        </p:nvSpPr>
        <p:spPr>
          <a:xfrm>
            <a:off x="8092440" y="5486400"/>
            <a:ext cx="1508760" cy="50292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customer groups to serve</a:t>
            </a:r>
            <a:endParaRPr lang="en-US" sz="1100" dirty="0"/>
          </a:p>
        </p:txBody>
      </p:sp>
      <p:sp>
        <p:nvSpPr>
          <p:cNvPr id="33" name="Shape 27"/>
          <p:cNvSpPr/>
          <p:nvPr/>
        </p:nvSpPr>
        <p:spPr>
          <a:xfrm>
            <a:off x="9829800" y="4846320"/>
            <a:ext cx="1737360" cy="1234440"/>
          </a:xfrm>
          <a:prstGeom prst="roundRect">
            <a:avLst>
              <a:gd name="adj" fmla="val 7407"/>
            </a:avLst>
          </a:prstGeom>
          <a:solidFill>
            <a:srgbClr val="F6F8FB"/>
          </a:solidFill>
          <a:ln w="12700">
            <a:solidFill>
              <a:srgbClr val="F6F8FB"/>
            </a:solidFill>
            <a:prstDash val="solid"/>
          </a:ln>
        </p:spPr>
      </p:sp>
      <p:sp>
        <p:nvSpPr>
          <p:cNvPr id="34" name="Text 28"/>
          <p:cNvSpPr txBox="1"/>
          <p:nvPr/>
        </p:nvSpPr>
        <p:spPr>
          <a:xfrm>
            <a:off x="9966960" y="4956048"/>
            <a:ext cx="146304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1</a:t>
            </a:r>
            <a:endParaRPr lang="en-US" sz="3000" dirty="0"/>
          </a:p>
        </p:txBody>
      </p:sp>
      <p:sp>
        <p:nvSpPr>
          <p:cNvPr id="35" name="Text 29"/>
          <p:cNvSpPr txBox="1"/>
          <p:nvPr/>
        </p:nvSpPr>
        <p:spPr>
          <a:xfrm>
            <a:off x="9966960" y="5486400"/>
            <a:ext cx="1508760" cy="50292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shared platform for all of them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548640"/>
          </a:xfrm>
          <a:prstGeom prst="rect">
            <a:avLst/>
          </a:prstGeom>
          <a:noFill/>
          <a:ln/>
        </p:spPr>
        <p:txBody>
          <a:bodyPr wrap="square" lIns="0" tIns="0" rIns="0" bIns="0" rtlCol="0" anchor="t"/>
          <a:lstStyle/>
          <a:p>
            <a:pPr indent="0" marL="0">
              <a:buNone/>
            </a:pPr>
            <a:r>
              <a:rPr lang="en-US" sz="3000" b="1" dirty="0">
                <a:solidFill>
                  <a:srgbClr val="14213D"/>
                </a:solidFill>
                <a:latin typeface="Cambria" pitchFamily="34" charset="0"/>
                <a:ea typeface="Cambria" pitchFamily="34" charset="-122"/>
                <a:cs typeface="Cambria" pitchFamily="34" charset="-120"/>
              </a:rPr>
              <a:t>Who feels the pain and why it matters</a:t>
            </a:r>
            <a:endParaRPr lang="en-US" sz="3000" dirty="0"/>
          </a:p>
        </p:txBody>
      </p:sp>
      <p:sp>
        <p:nvSpPr>
          <p:cNvPr id="3" name="Text 1"/>
          <p:cNvSpPr txBox="1"/>
          <p:nvPr/>
        </p:nvSpPr>
        <p:spPr>
          <a:xfrm>
            <a:off x="548640" y="914400"/>
            <a:ext cx="10972800" cy="36576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The case gives two customer groups. My solution has to work for both of them at the same time.</a:t>
            </a:r>
            <a:endParaRPr lang="en-US" sz="1400" dirty="0"/>
          </a:p>
        </p:txBody>
      </p:sp>
      <p:sp>
        <p:nvSpPr>
          <p:cNvPr id="4" name="Shape 2"/>
          <p:cNvSpPr/>
          <p:nvPr/>
        </p:nvSpPr>
        <p:spPr>
          <a:xfrm>
            <a:off x="548640" y="1417320"/>
            <a:ext cx="5486400" cy="4937760"/>
          </a:xfrm>
          <a:prstGeom prst="roundRect">
            <a:avLst>
              <a:gd name="adj" fmla="val 2222"/>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822960" y="1645920"/>
            <a:ext cx="640080" cy="640080"/>
          </a:xfrm>
          <a:prstGeom prst="ellipse">
            <a:avLst/>
          </a:prstGeom>
          <a:solidFill>
            <a:srgbClr val="E8EDFC"/>
          </a:solidFill>
          <a:ln w="12700">
            <a:solidFill>
              <a:srgbClr val="E8EDFC"/>
            </a:solidFill>
            <a:prstDash val="solid"/>
          </a:ln>
        </p:spPr>
      </p:sp>
      <p:pic>
        <p:nvPicPr>
          <p:cNvPr id="6"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7" name="Text 4"/>
          <p:cNvSpPr txBox="1"/>
          <p:nvPr/>
        </p:nvSpPr>
        <p:spPr>
          <a:xfrm>
            <a:off x="1600200" y="1645920"/>
            <a:ext cx="4297680" cy="365760"/>
          </a:xfrm>
          <a:prstGeom prst="rect">
            <a:avLst/>
          </a:prstGeom>
          <a:noFill/>
          <a:ln/>
        </p:spPr>
        <p:txBody>
          <a:bodyPr wrap="square" lIns="0" tIns="0" rIns="0" bIns="0" rtlCol="0" anchor="t"/>
          <a:lstStyle/>
          <a:p>
            <a:pPr indent="0" marL="0">
              <a:buNone/>
            </a:pPr>
            <a:r>
              <a:rPr lang="en-US" sz="1800" b="1" dirty="0">
                <a:solidFill>
                  <a:srgbClr val="1B2433"/>
                </a:solidFill>
                <a:latin typeface="Cambria" pitchFamily="34" charset="0"/>
                <a:ea typeface="Cambria" pitchFamily="34" charset="-122"/>
                <a:cs typeface="Cambria" pitchFamily="34" charset="-120"/>
              </a:rPr>
              <a:t>Finance leaders</a:t>
            </a:r>
            <a:endParaRPr lang="en-US" sz="1800" dirty="0"/>
          </a:p>
        </p:txBody>
      </p:sp>
      <p:sp>
        <p:nvSpPr>
          <p:cNvPr id="8" name="Text 5"/>
          <p:cNvSpPr txBox="1"/>
          <p:nvPr/>
        </p:nvSpPr>
        <p:spPr>
          <a:xfrm>
            <a:off x="1600200" y="2011680"/>
            <a:ext cx="4297680" cy="411480"/>
          </a:xfrm>
          <a:prstGeom prst="rect">
            <a:avLst/>
          </a:prstGeom>
          <a:noFill/>
          <a:ln/>
        </p:spPr>
        <p:txBody>
          <a:bodyPr wrap="square" lIns="0" tIns="0" rIns="0" bIns="0" rtlCol="0" anchor="t"/>
          <a:lstStyle/>
          <a:p>
            <a:pPr indent="0" marL="0">
              <a:buNone/>
            </a:pPr>
            <a:r>
              <a:rPr lang="en-US" sz="1150" dirty="0">
                <a:solidFill>
                  <a:srgbClr val="5B6576"/>
                </a:solidFill>
                <a:latin typeface="Calibri" pitchFamily="34" charset="0"/>
                <a:ea typeface="Calibri" pitchFamily="34" charset="-122"/>
                <a:cs typeface="Calibri" pitchFamily="34" charset="-120"/>
              </a:rPr>
              <a:t>CFOs, controllers and owners. Many of them run several companies across several countries.</a:t>
            </a:r>
            <a:endParaRPr lang="en-US" sz="1150" dirty="0"/>
          </a:p>
        </p:txBody>
      </p:sp>
      <p:sp>
        <p:nvSpPr>
          <p:cNvPr id="9" name="Shape 6"/>
          <p:cNvSpPr/>
          <p:nvPr/>
        </p:nvSpPr>
        <p:spPr>
          <a:xfrm>
            <a:off x="868680" y="2697480"/>
            <a:ext cx="384048" cy="384048"/>
          </a:xfrm>
          <a:prstGeom prst="ellipse">
            <a:avLst/>
          </a:prstGeom>
          <a:solidFill>
            <a:srgbClr val="FBEAE8"/>
          </a:solidFill>
          <a:ln w="12700">
            <a:solidFill>
              <a:srgbClr val="FBEAE8"/>
            </a:solidFill>
            <a:prstDash val="solid"/>
          </a:ln>
        </p:spPr>
      </p:sp>
      <p:pic>
        <p:nvPicPr>
          <p:cNvPr id="10" name="Image 1" descr="preencoded.png">    </p:cNvPr>
          <p:cNvPicPr>
            <a:picLocks noChangeAspect="1"/>
          </p:cNvPicPr>
          <p:nvPr/>
        </p:nvPicPr>
        <p:blipFill>
          <a:blip r:embed="rId2"/>
          <a:stretch>
            <a:fillRect/>
          </a:stretch>
        </p:blipFill>
        <p:spPr>
          <a:xfrm>
            <a:off x="964692" y="2793492"/>
            <a:ext cx="192024" cy="192024"/>
          </a:xfrm>
          <a:prstGeom prst="rect">
            <a:avLst/>
          </a:prstGeom>
        </p:spPr>
      </p:pic>
      <p:sp>
        <p:nvSpPr>
          <p:cNvPr id="11" name="Text 7"/>
          <p:cNvSpPr txBox="1"/>
          <p:nvPr/>
        </p:nvSpPr>
        <p:spPr>
          <a:xfrm>
            <a:off x="1417320" y="2679192"/>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Their data sits in many separate tools. Accounting, payroll, HR and sales rarely talk to each other.</a:t>
            </a:r>
            <a:endParaRPr lang="en-US" sz="1200" dirty="0"/>
          </a:p>
        </p:txBody>
      </p:sp>
      <p:sp>
        <p:nvSpPr>
          <p:cNvPr id="12" name="Shape 8"/>
          <p:cNvSpPr/>
          <p:nvPr/>
        </p:nvSpPr>
        <p:spPr>
          <a:xfrm>
            <a:off x="868680" y="3300984"/>
            <a:ext cx="384048" cy="384048"/>
          </a:xfrm>
          <a:prstGeom prst="ellipse">
            <a:avLst/>
          </a:prstGeom>
          <a:solidFill>
            <a:srgbClr val="FBEAE8"/>
          </a:solidFill>
          <a:ln w="12700">
            <a:solidFill>
              <a:srgbClr val="FBEAE8"/>
            </a:solidFill>
            <a:prstDash val="solid"/>
          </a:ln>
        </p:spPr>
      </p:sp>
      <p:pic>
        <p:nvPicPr>
          <p:cNvPr id="13" name="Image 2" descr="preencoded.png">    </p:cNvPr>
          <p:cNvPicPr>
            <a:picLocks noChangeAspect="1"/>
          </p:cNvPicPr>
          <p:nvPr/>
        </p:nvPicPr>
        <p:blipFill>
          <a:blip r:embed="rId3"/>
          <a:stretch>
            <a:fillRect/>
          </a:stretch>
        </p:blipFill>
        <p:spPr>
          <a:xfrm>
            <a:off x="964692" y="3396996"/>
            <a:ext cx="192024" cy="192024"/>
          </a:xfrm>
          <a:prstGeom prst="rect">
            <a:avLst/>
          </a:prstGeom>
        </p:spPr>
      </p:pic>
      <p:sp>
        <p:nvSpPr>
          <p:cNvPr id="14" name="Text 9"/>
          <p:cNvSpPr txBox="1"/>
          <p:nvPr/>
        </p:nvSpPr>
        <p:spPr>
          <a:xfrm>
            <a:off x="1417320" y="3282696"/>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Closing the books each month takes weeks of manual work. Reports are already old by the time they arrive.</a:t>
            </a:r>
            <a:endParaRPr lang="en-US" sz="1200" dirty="0"/>
          </a:p>
        </p:txBody>
      </p:sp>
      <p:sp>
        <p:nvSpPr>
          <p:cNvPr id="15" name="Shape 10"/>
          <p:cNvSpPr/>
          <p:nvPr/>
        </p:nvSpPr>
        <p:spPr>
          <a:xfrm>
            <a:off x="868680" y="3904488"/>
            <a:ext cx="384048" cy="384048"/>
          </a:xfrm>
          <a:prstGeom prst="ellipse">
            <a:avLst/>
          </a:prstGeom>
          <a:solidFill>
            <a:srgbClr val="FBEAE8"/>
          </a:solidFill>
          <a:ln w="12700">
            <a:solidFill>
              <a:srgbClr val="FBEAE8"/>
            </a:solidFill>
            <a:prstDash val="solid"/>
          </a:ln>
        </p:spPr>
      </p:sp>
      <p:pic>
        <p:nvPicPr>
          <p:cNvPr id="16" name="Image 3" descr="preencoded.png">    </p:cNvPr>
          <p:cNvPicPr>
            <a:picLocks noChangeAspect="1"/>
          </p:cNvPicPr>
          <p:nvPr/>
        </p:nvPicPr>
        <p:blipFill>
          <a:blip r:embed="rId4"/>
          <a:stretch>
            <a:fillRect/>
          </a:stretch>
        </p:blipFill>
        <p:spPr>
          <a:xfrm>
            <a:off x="964692" y="4000500"/>
            <a:ext cx="192024" cy="192024"/>
          </a:xfrm>
          <a:prstGeom prst="rect">
            <a:avLst/>
          </a:prstGeom>
        </p:spPr>
      </p:pic>
      <p:sp>
        <p:nvSpPr>
          <p:cNvPr id="17" name="Text 11"/>
          <p:cNvSpPr txBox="1"/>
          <p:nvPr/>
        </p:nvSpPr>
        <p:spPr>
          <a:xfrm>
            <a:off x="1417320" y="3886200"/>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Good expert advice on tax or planning is expensive. Small teams cannot hire a specialist for every question.</a:t>
            </a:r>
            <a:endParaRPr lang="en-US" sz="1200" dirty="0"/>
          </a:p>
        </p:txBody>
      </p:sp>
      <p:sp>
        <p:nvSpPr>
          <p:cNvPr id="18" name="Shape 12"/>
          <p:cNvSpPr/>
          <p:nvPr/>
        </p:nvSpPr>
        <p:spPr>
          <a:xfrm>
            <a:off x="868680" y="4507992"/>
            <a:ext cx="384048" cy="384048"/>
          </a:xfrm>
          <a:prstGeom prst="ellipse">
            <a:avLst/>
          </a:prstGeom>
          <a:solidFill>
            <a:srgbClr val="FBEAE8"/>
          </a:solidFill>
          <a:ln w="12700">
            <a:solidFill>
              <a:srgbClr val="FBEAE8"/>
            </a:solidFill>
            <a:prstDash val="solid"/>
          </a:ln>
        </p:spPr>
      </p:sp>
      <p:pic>
        <p:nvPicPr>
          <p:cNvPr id="19" name="Image 4" descr="preencoded.png">    </p:cNvPr>
          <p:cNvPicPr>
            <a:picLocks noChangeAspect="1"/>
          </p:cNvPicPr>
          <p:nvPr/>
        </p:nvPicPr>
        <p:blipFill>
          <a:blip r:embed="rId5"/>
          <a:stretch>
            <a:fillRect/>
          </a:stretch>
        </p:blipFill>
        <p:spPr>
          <a:xfrm>
            <a:off x="964692" y="4604004"/>
            <a:ext cx="192024" cy="192024"/>
          </a:xfrm>
          <a:prstGeom prst="rect">
            <a:avLst/>
          </a:prstGeom>
        </p:spPr>
      </p:pic>
      <p:sp>
        <p:nvSpPr>
          <p:cNvPr id="20" name="Text 13"/>
          <p:cNvSpPr txBox="1"/>
          <p:nvPr/>
        </p:nvSpPr>
        <p:spPr>
          <a:xfrm>
            <a:off x="1417320" y="4489704"/>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They hesitate to let AI touch the books. They need proof and control before they trust it.</a:t>
            </a:r>
            <a:endParaRPr lang="en-US" sz="1200" dirty="0"/>
          </a:p>
        </p:txBody>
      </p:sp>
      <p:sp>
        <p:nvSpPr>
          <p:cNvPr id="21" name="Shape 14"/>
          <p:cNvSpPr/>
          <p:nvPr/>
        </p:nvSpPr>
        <p:spPr>
          <a:xfrm>
            <a:off x="822960" y="5166360"/>
            <a:ext cx="4937760" cy="1005840"/>
          </a:xfrm>
          <a:prstGeom prst="roundRect">
            <a:avLst>
              <a:gd name="adj" fmla="val 9091"/>
            </a:avLst>
          </a:prstGeom>
          <a:solidFill>
            <a:srgbClr val="E8EDFC"/>
          </a:solidFill>
          <a:ln w="12700">
            <a:solidFill>
              <a:srgbClr val="E8EDFC"/>
            </a:solidFill>
            <a:prstDash val="solid"/>
          </a:ln>
        </p:spPr>
      </p:sp>
      <p:sp>
        <p:nvSpPr>
          <p:cNvPr id="22" name="Text 15"/>
          <p:cNvSpPr txBox="1"/>
          <p:nvPr/>
        </p:nvSpPr>
        <p:spPr>
          <a:xfrm>
            <a:off x="1005840" y="5257800"/>
            <a:ext cx="4572000" cy="274320"/>
          </a:xfrm>
          <a:prstGeom prst="rect">
            <a:avLst/>
          </a:prstGeom>
          <a:noFill/>
          <a:ln/>
        </p:spPr>
        <p:txBody>
          <a:bodyPr wrap="square" lIns="0" tIns="0" rIns="0" bIns="0" rtlCol="0" anchor="t"/>
          <a:lstStyle/>
          <a:p>
            <a:pPr indent="0" marL="0">
              <a:buNone/>
            </a:pPr>
            <a:r>
              <a:rPr lang="en-US" sz="1100" b="1" dirty="0">
                <a:solidFill>
                  <a:srgbClr val="3F5BD9"/>
                </a:solidFill>
                <a:latin typeface="Calibri" pitchFamily="34" charset="0"/>
                <a:ea typeface="Calibri" pitchFamily="34" charset="-122"/>
                <a:cs typeface="Calibri" pitchFamily="34" charset="-120"/>
              </a:rPr>
              <a:t>What they really want</a:t>
            </a:r>
            <a:endParaRPr lang="en-US" sz="1100" dirty="0"/>
          </a:p>
        </p:txBody>
      </p:sp>
      <p:sp>
        <p:nvSpPr>
          <p:cNvPr id="23" name="Text 16"/>
          <p:cNvSpPr txBox="1"/>
          <p:nvPr/>
        </p:nvSpPr>
        <p:spPr>
          <a:xfrm>
            <a:off x="1005840" y="5532120"/>
            <a:ext cx="4572000" cy="594360"/>
          </a:xfrm>
          <a:prstGeom prst="rect">
            <a:avLst/>
          </a:prstGeom>
          <a:noFill/>
          <a:ln/>
        </p:spPr>
        <p:txBody>
          <a:bodyPr wrap="square" lIns="0" tIns="0" rIns="0" bIns="0" rtlCol="0" anchor="t"/>
          <a:lstStyle/>
          <a:p>
            <a:pPr indent="0" marL="0">
              <a:buNone/>
            </a:pPr>
            <a:r>
              <a:rPr lang="en-US" sz="1200" i="1" dirty="0">
                <a:solidFill>
                  <a:srgbClr val="1B2433"/>
                </a:solidFill>
                <a:latin typeface="Calibri" pitchFamily="34" charset="0"/>
                <a:ea typeface="Calibri" pitchFamily="34" charset="-122"/>
                <a:cs typeface="Calibri" pitchFamily="34" charset="-120"/>
              </a:rPr>
              <a:t>"Let the agents close the books and flag what matters. I will decide the big things and prove every number."</a:t>
            </a:r>
            <a:endParaRPr lang="en-US" sz="1200" dirty="0"/>
          </a:p>
        </p:txBody>
      </p:sp>
      <p:sp>
        <p:nvSpPr>
          <p:cNvPr id="24" name="Shape 17"/>
          <p:cNvSpPr/>
          <p:nvPr/>
        </p:nvSpPr>
        <p:spPr>
          <a:xfrm>
            <a:off x="6172200" y="1417320"/>
            <a:ext cx="5486400" cy="4937760"/>
          </a:xfrm>
          <a:prstGeom prst="roundRect">
            <a:avLst>
              <a:gd name="adj" fmla="val 2222"/>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25" name="Shape 18"/>
          <p:cNvSpPr/>
          <p:nvPr/>
        </p:nvSpPr>
        <p:spPr>
          <a:xfrm>
            <a:off x="6446520" y="1645920"/>
            <a:ext cx="640080" cy="640080"/>
          </a:xfrm>
          <a:prstGeom prst="ellipse">
            <a:avLst/>
          </a:prstGeom>
          <a:solidFill>
            <a:srgbClr val="E3F5F2"/>
          </a:solidFill>
          <a:ln w="12700">
            <a:solidFill>
              <a:srgbClr val="E3F5F2"/>
            </a:solidFill>
            <a:prstDash val="solid"/>
          </a:ln>
        </p:spPr>
      </p:sp>
      <p:pic>
        <p:nvPicPr>
          <p:cNvPr id="26" name="Image 5" descr="preencoded.png">    </p:cNvPr>
          <p:cNvPicPr>
            <a:picLocks noChangeAspect="1"/>
          </p:cNvPicPr>
          <p:nvPr/>
        </p:nvPicPr>
        <p:blipFill>
          <a:blip r:embed="rId6"/>
          <a:stretch>
            <a:fillRect/>
          </a:stretch>
        </p:blipFill>
        <p:spPr>
          <a:xfrm>
            <a:off x="6606540" y="1805940"/>
            <a:ext cx="320040" cy="320040"/>
          </a:xfrm>
          <a:prstGeom prst="rect">
            <a:avLst/>
          </a:prstGeom>
        </p:spPr>
      </p:pic>
      <p:sp>
        <p:nvSpPr>
          <p:cNvPr id="27" name="Text 19"/>
          <p:cNvSpPr txBox="1"/>
          <p:nvPr/>
        </p:nvSpPr>
        <p:spPr>
          <a:xfrm>
            <a:off x="7223760" y="1645920"/>
            <a:ext cx="4297680" cy="365760"/>
          </a:xfrm>
          <a:prstGeom prst="rect">
            <a:avLst/>
          </a:prstGeom>
          <a:noFill/>
          <a:ln/>
        </p:spPr>
        <p:txBody>
          <a:bodyPr wrap="square" lIns="0" tIns="0" rIns="0" bIns="0" rtlCol="0" anchor="t"/>
          <a:lstStyle/>
          <a:p>
            <a:pPr indent="0" marL="0">
              <a:buNone/>
            </a:pPr>
            <a:r>
              <a:rPr lang="en-US" sz="1800" b="1" dirty="0">
                <a:solidFill>
                  <a:srgbClr val="1B2433"/>
                </a:solidFill>
                <a:latin typeface="Cambria" pitchFamily="34" charset="0"/>
                <a:ea typeface="Cambria" pitchFamily="34" charset="-122"/>
                <a:cs typeface="Cambria" pitchFamily="34" charset="-120"/>
              </a:rPr>
              <a:t>Developers and partners</a:t>
            </a:r>
            <a:endParaRPr lang="en-US" sz="1800" dirty="0"/>
          </a:p>
        </p:txBody>
      </p:sp>
      <p:sp>
        <p:nvSpPr>
          <p:cNvPr id="28" name="Text 20"/>
          <p:cNvSpPr txBox="1"/>
          <p:nvPr/>
        </p:nvSpPr>
        <p:spPr>
          <a:xfrm>
            <a:off x="7223760" y="2011680"/>
            <a:ext cx="4297680" cy="411480"/>
          </a:xfrm>
          <a:prstGeom prst="rect">
            <a:avLst/>
          </a:prstGeom>
          <a:noFill/>
          <a:ln/>
        </p:spPr>
        <p:txBody>
          <a:bodyPr wrap="square" lIns="0" tIns="0" rIns="0" bIns="0" rtlCol="0" anchor="t"/>
          <a:lstStyle/>
          <a:p>
            <a:pPr indent="0" marL="0">
              <a:buNone/>
            </a:pPr>
            <a:r>
              <a:rPr lang="en-US" sz="1150" dirty="0">
                <a:solidFill>
                  <a:srgbClr val="5B6576"/>
                </a:solidFill>
                <a:latin typeface="Calibri" pitchFamily="34" charset="0"/>
                <a:ea typeface="Calibri" pitchFamily="34" charset="-122"/>
                <a:cs typeface="Calibri" pitchFamily="34" charset="-120"/>
              </a:rPr>
              <a:t>Startups, fintechs, consultants and software firms that build for mid-market companies.</a:t>
            </a:r>
            <a:endParaRPr lang="en-US" sz="1150" dirty="0"/>
          </a:p>
        </p:txBody>
      </p:sp>
      <p:sp>
        <p:nvSpPr>
          <p:cNvPr id="29" name="Shape 21"/>
          <p:cNvSpPr/>
          <p:nvPr/>
        </p:nvSpPr>
        <p:spPr>
          <a:xfrm>
            <a:off x="6492240" y="2697480"/>
            <a:ext cx="384048" cy="384048"/>
          </a:xfrm>
          <a:prstGeom prst="ellipse">
            <a:avLst/>
          </a:prstGeom>
          <a:solidFill>
            <a:srgbClr val="FBEAE8"/>
          </a:solidFill>
          <a:ln w="12700">
            <a:solidFill>
              <a:srgbClr val="FBEAE8"/>
            </a:solidFill>
            <a:prstDash val="solid"/>
          </a:ln>
        </p:spPr>
      </p:sp>
      <p:pic>
        <p:nvPicPr>
          <p:cNvPr id="30" name="Image 6" descr="preencoded.png">    </p:cNvPr>
          <p:cNvPicPr>
            <a:picLocks noChangeAspect="1"/>
          </p:cNvPicPr>
          <p:nvPr/>
        </p:nvPicPr>
        <p:blipFill>
          <a:blip r:embed="rId7"/>
          <a:stretch>
            <a:fillRect/>
          </a:stretch>
        </p:blipFill>
        <p:spPr>
          <a:xfrm>
            <a:off x="6588252" y="2793492"/>
            <a:ext cx="192024" cy="192024"/>
          </a:xfrm>
          <a:prstGeom prst="rect">
            <a:avLst/>
          </a:prstGeom>
        </p:spPr>
      </p:pic>
      <p:sp>
        <p:nvSpPr>
          <p:cNvPr id="31" name="Text 22"/>
          <p:cNvSpPr txBox="1"/>
          <p:nvPr/>
        </p:nvSpPr>
        <p:spPr>
          <a:xfrm>
            <a:off x="7040880" y="2679192"/>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Connecting to financial systems is slow and complicated. Every integration feels like a new project.</a:t>
            </a:r>
            <a:endParaRPr lang="en-US" sz="1200" dirty="0"/>
          </a:p>
        </p:txBody>
      </p:sp>
      <p:sp>
        <p:nvSpPr>
          <p:cNvPr id="32" name="Shape 23"/>
          <p:cNvSpPr/>
          <p:nvPr/>
        </p:nvSpPr>
        <p:spPr>
          <a:xfrm>
            <a:off x="6492240" y="3300984"/>
            <a:ext cx="384048" cy="384048"/>
          </a:xfrm>
          <a:prstGeom prst="ellipse">
            <a:avLst/>
          </a:prstGeom>
          <a:solidFill>
            <a:srgbClr val="FBEAE8"/>
          </a:solidFill>
          <a:ln w="12700">
            <a:solidFill>
              <a:srgbClr val="FBEAE8"/>
            </a:solidFill>
            <a:prstDash val="solid"/>
          </a:ln>
        </p:spPr>
      </p:sp>
      <p:pic>
        <p:nvPicPr>
          <p:cNvPr id="33" name="Image 7" descr="preencoded.png">    </p:cNvPr>
          <p:cNvPicPr>
            <a:picLocks noChangeAspect="1"/>
          </p:cNvPicPr>
          <p:nvPr/>
        </p:nvPicPr>
        <p:blipFill>
          <a:blip r:embed="rId8"/>
          <a:stretch>
            <a:fillRect/>
          </a:stretch>
        </p:blipFill>
        <p:spPr>
          <a:xfrm>
            <a:off x="6588252" y="3396996"/>
            <a:ext cx="192024" cy="192024"/>
          </a:xfrm>
          <a:prstGeom prst="rect">
            <a:avLst/>
          </a:prstGeom>
        </p:spPr>
      </p:pic>
      <p:sp>
        <p:nvSpPr>
          <p:cNvPr id="34" name="Text 24"/>
          <p:cNvSpPr txBox="1"/>
          <p:nvPr/>
        </p:nvSpPr>
        <p:spPr>
          <a:xfrm>
            <a:off x="7040880" y="3282696"/>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Most accounting APIs return thin data and old reports. AI agents need rich and live business context.</a:t>
            </a:r>
            <a:endParaRPr lang="en-US" sz="1200" dirty="0"/>
          </a:p>
        </p:txBody>
      </p:sp>
      <p:sp>
        <p:nvSpPr>
          <p:cNvPr id="35" name="Shape 25"/>
          <p:cNvSpPr/>
          <p:nvPr/>
        </p:nvSpPr>
        <p:spPr>
          <a:xfrm>
            <a:off x="6492240" y="3904488"/>
            <a:ext cx="384048" cy="384048"/>
          </a:xfrm>
          <a:prstGeom prst="ellipse">
            <a:avLst/>
          </a:prstGeom>
          <a:solidFill>
            <a:srgbClr val="FBEAE8"/>
          </a:solidFill>
          <a:ln w="12700">
            <a:solidFill>
              <a:srgbClr val="FBEAE8"/>
            </a:solidFill>
            <a:prstDash val="solid"/>
          </a:ln>
        </p:spPr>
      </p:sp>
      <p:pic>
        <p:nvPicPr>
          <p:cNvPr id="36" name="Image 8" descr="preencoded.png">    </p:cNvPr>
          <p:cNvPicPr>
            <a:picLocks noChangeAspect="1"/>
          </p:cNvPicPr>
          <p:nvPr/>
        </p:nvPicPr>
        <p:blipFill>
          <a:blip r:embed="rId9"/>
          <a:stretch>
            <a:fillRect/>
          </a:stretch>
        </p:blipFill>
        <p:spPr>
          <a:xfrm>
            <a:off x="6588252" y="4000500"/>
            <a:ext cx="192024" cy="192024"/>
          </a:xfrm>
          <a:prstGeom prst="rect">
            <a:avLst/>
          </a:prstGeom>
        </p:spPr>
      </p:pic>
      <p:sp>
        <p:nvSpPr>
          <p:cNvPr id="37" name="Text 26"/>
          <p:cNvSpPr txBox="1"/>
          <p:nvPr/>
        </p:nvSpPr>
        <p:spPr>
          <a:xfrm>
            <a:off x="7040880" y="3886200"/>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There are few good tools to build and test AI agents safely. Mistakes in finance are costly.</a:t>
            </a:r>
            <a:endParaRPr lang="en-US" sz="1200" dirty="0"/>
          </a:p>
        </p:txBody>
      </p:sp>
      <p:sp>
        <p:nvSpPr>
          <p:cNvPr id="38" name="Shape 27"/>
          <p:cNvSpPr/>
          <p:nvPr/>
        </p:nvSpPr>
        <p:spPr>
          <a:xfrm>
            <a:off x="6492240" y="4507992"/>
            <a:ext cx="384048" cy="384048"/>
          </a:xfrm>
          <a:prstGeom prst="ellipse">
            <a:avLst/>
          </a:prstGeom>
          <a:solidFill>
            <a:srgbClr val="FBEAE8"/>
          </a:solidFill>
          <a:ln w="12700">
            <a:solidFill>
              <a:srgbClr val="FBEAE8"/>
            </a:solidFill>
            <a:prstDash val="solid"/>
          </a:ln>
        </p:spPr>
      </p:sp>
      <p:pic>
        <p:nvPicPr>
          <p:cNvPr id="39" name="Image 9" descr="preencoded.png">    </p:cNvPr>
          <p:cNvPicPr>
            <a:picLocks noChangeAspect="1"/>
          </p:cNvPicPr>
          <p:nvPr/>
        </p:nvPicPr>
        <p:blipFill>
          <a:blip r:embed="rId10"/>
          <a:stretch>
            <a:fillRect/>
          </a:stretch>
        </p:blipFill>
        <p:spPr>
          <a:xfrm>
            <a:off x="6588252" y="4604004"/>
            <a:ext cx="192024" cy="192024"/>
          </a:xfrm>
          <a:prstGeom prst="rect">
            <a:avLst/>
          </a:prstGeom>
        </p:spPr>
      </p:pic>
      <p:sp>
        <p:nvSpPr>
          <p:cNvPr id="40" name="Text 28"/>
          <p:cNvSpPr txBox="1"/>
          <p:nvPr/>
        </p:nvSpPr>
        <p:spPr>
          <a:xfrm>
            <a:off x="7040880" y="4489704"/>
            <a:ext cx="4434840" cy="548640"/>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It is hard to reach customers and earn money. Buyers also struggle to trust an unknown agent.</a:t>
            </a:r>
            <a:endParaRPr lang="en-US" sz="1200" dirty="0"/>
          </a:p>
        </p:txBody>
      </p:sp>
      <p:sp>
        <p:nvSpPr>
          <p:cNvPr id="41" name="Shape 29"/>
          <p:cNvSpPr/>
          <p:nvPr/>
        </p:nvSpPr>
        <p:spPr>
          <a:xfrm>
            <a:off x="6446520" y="5166360"/>
            <a:ext cx="4937760" cy="1005840"/>
          </a:xfrm>
          <a:prstGeom prst="roundRect">
            <a:avLst>
              <a:gd name="adj" fmla="val 9091"/>
            </a:avLst>
          </a:prstGeom>
          <a:solidFill>
            <a:srgbClr val="E3F5F2"/>
          </a:solidFill>
          <a:ln w="12700">
            <a:solidFill>
              <a:srgbClr val="E3F5F2"/>
            </a:solidFill>
            <a:prstDash val="solid"/>
          </a:ln>
        </p:spPr>
      </p:sp>
      <p:sp>
        <p:nvSpPr>
          <p:cNvPr id="42" name="Text 30"/>
          <p:cNvSpPr txBox="1"/>
          <p:nvPr/>
        </p:nvSpPr>
        <p:spPr>
          <a:xfrm>
            <a:off x="6629400" y="5257800"/>
            <a:ext cx="4572000" cy="274320"/>
          </a:xfrm>
          <a:prstGeom prst="rect">
            <a:avLst/>
          </a:prstGeom>
          <a:noFill/>
          <a:ln/>
        </p:spPr>
        <p:txBody>
          <a:bodyPr wrap="square" lIns="0" tIns="0" rIns="0" bIns="0" rtlCol="0" anchor="t"/>
          <a:lstStyle/>
          <a:p>
            <a:pPr indent="0" marL="0">
              <a:buNone/>
            </a:pPr>
            <a:r>
              <a:rPr lang="en-US" sz="1100" b="1" dirty="0">
                <a:solidFill>
                  <a:srgbClr val="0F9D8A"/>
                </a:solidFill>
                <a:latin typeface="Calibri" pitchFamily="34" charset="0"/>
                <a:ea typeface="Calibri" pitchFamily="34" charset="-122"/>
                <a:cs typeface="Calibri" pitchFamily="34" charset="-120"/>
              </a:rPr>
              <a:t>What they really want</a:t>
            </a:r>
            <a:endParaRPr lang="en-US" sz="1100" dirty="0"/>
          </a:p>
        </p:txBody>
      </p:sp>
      <p:sp>
        <p:nvSpPr>
          <p:cNvPr id="43" name="Text 31"/>
          <p:cNvSpPr txBox="1"/>
          <p:nvPr/>
        </p:nvSpPr>
        <p:spPr>
          <a:xfrm>
            <a:off x="6629400" y="5532120"/>
            <a:ext cx="4572000" cy="594360"/>
          </a:xfrm>
          <a:prstGeom prst="rect">
            <a:avLst/>
          </a:prstGeom>
          <a:noFill/>
          <a:ln/>
        </p:spPr>
        <p:txBody>
          <a:bodyPr wrap="square" lIns="0" tIns="0" rIns="0" bIns="0" rtlCol="0" anchor="t"/>
          <a:lstStyle/>
          <a:p>
            <a:pPr indent="0" marL="0">
              <a:buNone/>
            </a:pPr>
            <a:r>
              <a:rPr lang="en-US" sz="1200" i="1" dirty="0">
                <a:solidFill>
                  <a:srgbClr val="1B2433"/>
                </a:solidFill>
                <a:latin typeface="Calibri" pitchFamily="34" charset="0"/>
                <a:ea typeface="Calibri" pitchFamily="34" charset="-122"/>
                <a:cs typeface="Calibri" pitchFamily="34" charset="-120"/>
              </a:rPr>
              <a:t>"Give me rich data through one API and a safe place to test. Then help me reach customers who will pay."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548640"/>
          </a:xfrm>
          <a:prstGeom prst="rect">
            <a:avLst/>
          </a:prstGeom>
          <a:noFill/>
          <a:ln/>
        </p:spPr>
        <p:txBody>
          <a:bodyPr wrap="square" lIns="0" tIns="0" rIns="0" bIns="0" rtlCol="0" anchor="t"/>
          <a:lstStyle/>
          <a:p>
            <a:pPr indent="0" marL="0">
              <a:buNone/>
            </a:pPr>
            <a:r>
              <a:rPr lang="en-US" sz="3000" b="1" dirty="0">
                <a:solidFill>
                  <a:srgbClr val="14213D"/>
                </a:solidFill>
                <a:latin typeface="Cambria" pitchFamily="34" charset="0"/>
                <a:ea typeface="Cambria" pitchFamily="34" charset="-122"/>
                <a:cs typeface="Cambria" pitchFamily="34" charset="-120"/>
              </a:rPr>
              <a:t>The solution: IES Helm</a:t>
            </a:r>
            <a:endParaRPr lang="en-US" sz="3000" dirty="0"/>
          </a:p>
        </p:txBody>
      </p:sp>
      <p:sp>
        <p:nvSpPr>
          <p:cNvPr id="3" name="Text 1"/>
          <p:cNvSpPr txBox="1"/>
          <p:nvPr/>
        </p:nvSpPr>
        <p:spPr>
          <a:xfrm>
            <a:off x="548640" y="868680"/>
            <a:ext cx="11064240" cy="50292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IES should move from software that records business activity to software that also takes action. Agents, experts and developers all work on the same business data. The finance leader stays in charge.</a:t>
            </a:r>
            <a:endParaRPr lang="en-US" sz="1300" dirty="0"/>
          </a:p>
        </p:txBody>
      </p:sp>
      <p:sp>
        <p:nvSpPr>
          <p:cNvPr id="4" name="Shape 2"/>
          <p:cNvSpPr/>
          <p:nvPr/>
        </p:nvSpPr>
        <p:spPr>
          <a:xfrm>
            <a:off x="548640" y="1417320"/>
            <a:ext cx="2679192" cy="1463040"/>
          </a:xfrm>
          <a:prstGeom prst="roundRect">
            <a:avLst>
              <a:gd name="adj" fmla="val 7500"/>
            </a:avLst>
          </a:prstGeom>
          <a:solidFill>
            <a:srgbClr val="E3F5F2"/>
          </a:solidFill>
          <a:ln w="9525">
            <a:solidFill>
              <a:srgbClr val="E3F5F2"/>
            </a:solidFill>
            <a:prstDash val="solid"/>
          </a:ln>
        </p:spPr>
      </p:sp>
      <p:sp>
        <p:nvSpPr>
          <p:cNvPr id="5" name="Shape 3"/>
          <p:cNvSpPr/>
          <p:nvPr/>
        </p:nvSpPr>
        <p:spPr>
          <a:xfrm>
            <a:off x="731520" y="155448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45820" y="1668780"/>
            <a:ext cx="228600" cy="228600"/>
          </a:xfrm>
          <a:prstGeom prst="rect">
            <a:avLst/>
          </a:prstGeom>
        </p:spPr>
      </p:pic>
      <p:sp>
        <p:nvSpPr>
          <p:cNvPr id="7" name="Text 4"/>
          <p:cNvSpPr txBox="1"/>
          <p:nvPr/>
        </p:nvSpPr>
        <p:spPr>
          <a:xfrm>
            <a:off x="1298448" y="1600200"/>
            <a:ext cx="1828800" cy="41148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Agents do real work</a:t>
            </a:r>
            <a:endParaRPr lang="en-US" sz="1300" dirty="0"/>
          </a:p>
        </p:txBody>
      </p:sp>
      <p:sp>
        <p:nvSpPr>
          <p:cNvPr id="8" name="Text 5"/>
          <p:cNvSpPr txBox="1"/>
          <p:nvPr/>
        </p:nvSpPr>
        <p:spPr>
          <a:xfrm>
            <a:off x="731520" y="2103120"/>
            <a:ext cx="2377440" cy="77724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Agents close the books and chase late payments. They do not just answer questions like a chatbot.</a:t>
            </a:r>
            <a:endParaRPr lang="en-US" sz="1050" dirty="0"/>
          </a:p>
        </p:txBody>
      </p:sp>
      <p:sp>
        <p:nvSpPr>
          <p:cNvPr id="9" name="Shape 6"/>
          <p:cNvSpPr/>
          <p:nvPr/>
        </p:nvSpPr>
        <p:spPr>
          <a:xfrm>
            <a:off x="3355848" y="1417320"/>
            <a:ext cx="2679192" cy="1463040"/>
          </a:xfrm>
          <a:prstGeom prst="roundRect">
            <a:avLst>
              <a:gd name="adj" fmla="val 7500"/>
            </a:avLst>
          </a:prstGeom>
          <a:solidFill>
            <a:srgbClr val="E8EDFC"/>
          </a:solidFill>
          <a:ln w="9525">
            <a:solidFill>
              <a:srgbClr val="E8EDFC"/>
            </a:solidFill>
            <a:prstDash val="solid"/>
          </a:ln>
        </p:spPr>
      </p:sp>
      <p:sp>
        <p:nvSpPr>
          <p:cNvPr id="10" name="Shape 7"/>
          <p:cNvSpPr/>
          <p:nvPr/>
        </p:nvSpPr>
        <p:spPr>
          <a:xfrm>
            <a:off x="3538728" y="1554480"/>
            <a:ext cx="457200" cy="45720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653028" y="1668780"/>
            <a:ext cx="228600" cy="228600"/>
          </a:xfrm>
          <a:prstGeom prst="rect">
            <a:avLst/>
          </a:prstGeom>
        </p:spPr>
      </p:pic>
      <p:sp>
        <p:nvSpPr>
          <p:cNvPr id="12" name="Text 8"/>
          <p:cNvSpPr txBox="1"/>
          <p:nvPr/>
        </p:nvSpPr>
        <p:spPr>
          <a:xfrm>
            <a:off x="4105656" y="1600200"/>
            <a:ext cx="1828800" cy="41148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Experts join when needed</a:t>
            </a:r>
            <a:endParaRPr lang="en-US" sz="1300" dirty="0"/>
          </a:p>
        </p:txBody>
      </p:sp>
      <p:sp>
        <p:nvSpPr>
          <p:cNvPr id="13" name="Text 9"/>
          <p:cNvSpPr txBox="1"/>
          <p:nvPr/>
        </p:nvSpPr>
        <p:spPr>
          <a:xfrm>
            <a:off x="3538728" y="2103120"/>
            <a:ext cx="2377440" cy="77724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Hard questions go to a real human expert. The agent sends a full case file so nobody repeats the story.</a:t>
            </a:r>
            <a:endParaRPr lang="en-US" sz="1050" dirty="0"/>
          </a:p>
        </p:txBody>
      </p:sp>
      <p:sp>
        <p:nvSpPr>
          <p:cNvPr id="14" name="Shape 10"/>
          <p:cNvSpPr/>
          <p:nvPr/>
        </p:nvSpPr>
        <p:spPr>
          <a:xfrm>
            <a:off x="6163056" y="1417320"/>
            <a:ext cx="2679192" cy="1463040"/>
          </a:xfrm>
          <a:prstGeom prst="roundRect">
            <a:avLst>
              <a:gd name="adj" fmla="val 7500"/>
            </a:avLst>
          </a:prstGeom>
          <a:solidFill>
            <a:srgbClr val="FDF3E3"/>
          </a:solidFill>
          <a:ln w="9525">
            <a:solidFill>
              <a:srgbClr val="FDF3E3"/>
            </a:solidFill>
            <a:prstDash val="solid"/>
          </a:ln>
        </p:spPr>
      </p:sp>
      <p:sp>
        <p:nvSpPr>
          <p:cNvPr id="15" name="Shape 11"/>
          <p:cNvSpPr/>
          <p:nvPr/>
        </p:nvSpPr>
        <p:spPr>
          <a:xfrm>
            <a:off x="6345936" y="1554480"/>
            <a:ext cx="457200" cy="45720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60236" y="1668780"/>
            <a:ext cx="228600" cy="228600"/>
          </a:xfrm>
          <a:prstGeom prst="rect">
            <a:avLst/>
          </a:prstGeom>
        </p:spPr>
      </p:pic>
      <p:sp>
        <p:nvSpPr>
          <p:cNvPr id="17" name="Text 12"/>
          <p:cNvSpPr txBox="1"/>
          <p:nvPr/>
        </p:nvSpPr>
        <p:spPr>
          <a:xfrm>
            <a:off x="6912864" y="1600200"/>
            <a:ext cx="1828800" cy="41148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Developers build on IES</a:t>
            </a:r>
            <a:endParaRPr lang="en-US" sz="1300" dirty="0"/>
          </a:p>
        </p:txBody>
      </p:sp>
      <p:sp>
        <p:nvSpPr>
          <p:cNvPr id="18" name="Text 13"/>
          <p:cNvSpPr txBox="1"/>
          <p:nvPr/>
        </p:nvSpPr>
        <p:spPr>
          <a:xfrm>
            <a:off x="6345936" y="2103120"/>
            <a:ext cx="2377440" cy="77724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Outside developers build, test and sell their own agents to IES customers through a marketplace.</a:t>
            </a:r>
            <a:endParaRPr lang="en-US" sz="1050" dirty="0"/>
          </a:p>
        </p:txBody>
      </p:sp>
      <p:sp>
        <p:nvSpPr>
          <p:cNvPr id="19" name="Shape 14"/>
          <p:cNvSpPr/>
          <p:nvPr/>
        </p:nvSpPr>
        <p:spPr>
          <a:xfrm>
            <a:off x="8970264" y="1417320"/>
            <a:ext cx="2679192" cy="1463040"/>
          </a:xfrm>
          <a:prstGeom prst="roundRect">
            <a:avLst>
              <a:gd name="adj" fmla="val 7500"/>
            </a:avLst>
          </a:prstGeom>
          <a:solidFill>
            <a:srgbClr val="FBEAE8"/>
          </a:solidFill>
          <a:ln w="9525">
            <a:solidFill>
              <a:srgbClr val="FBEAE8"/>
            </a:solidFill>
            <a:prstDash val="solid"/>
          </a:ln>
        </p:spPr>
      </p:sp>
      <p:sp>
        <p:nvSpPr>
          <p:cNvPr id="20" name="Shape 15"/>
          <p:cNvSpPr/>
          <p:nvPr/>
        </p:nvSpPr>
        <p:spPr>
          <a:xfrm>
            <a:off x="9153144" y="1554480"/>
            <a:ext cx="457200" cy="45720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9267444" y="1668780"/>
            <a:ext cx="228600" cy="228600"/>
          </a:xfrm>
          <a:prstGeom prst="rect">
            <a:avLst/>
          </a:prstGeom>
        </p:spPr>
      </p:pic>
      <p:sp>
        <p:nvSpPr>
          <p:cNvPr id="22" name="Text 16"/>
          <p:cNvSpPr txBox="1"/>
          <p:nvPr/>
        </p:nvSpPr>
        <p:spPr>
          <a:xfrm>
            <a:off x="9720072" y="1600200"/>
            <a:ext cx="1828800" cy="41148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Trust you can see</a:t>
            </a:r>
            <a:endParaRPr lang="en-US" sz="1300" dirty="0"/>
          </a:p>
        </p:txBody>
      </p:sp>
      <p:sp>
        <p:nvSpPr>
          <p:cNvPr id="23" name="Text 17"/>
          <p:cNvSpPr txBox="1"/>
          <p:nvPr/>
        </p:nvSpPr>
        <p:spPr>
          <a:xfrm>
            <a:off x="9153144" y="2103120"/>
            <a:ext cx="2377440" cy="77724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Every action shows its proof, its confidence, the rule it followed and who approved it.</a:t>
            </a:r>
            <a:endParaRPr lang="en-US" sz="1050" dirty="0"/>
          </a:p>
        </p:txBody>
      </p:sp>
      <p:sp>
        <p:nvSpPr>
          <p:cNvPr id="24" name="Text 18"/>
          <p:cNvSpPr txBox="1"/>
          <p:nvPr/>
        </p:nvSpPr>
        <p:spPr>
          <a:xfrm>
            <a:off x="548640" y="3044952"/>
            <a:ext cx="457200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How every agent works</a:t>
            </a:r>
            <a:endParaRPr lang="en-US" sz="1400" dirty="0"/>
          </a:p>
        </p:txBody>
      </p:sp>
      <p:sp>
        <p:nvSpPr>
          <p:cNvPr id="25" name="Shape 19"/>
          <p:cNvSpPr/>
          <p:nvPr/>
        </p:nvSpPr>
        <p:spPr>
          <a:xfrm>
            <a:off x="548640" y="3401568"/>
            <a:ext cx="932688" cy="384048"/>
          </a:xfrm>
          <a:prstGeom prst="roundRect">
            <a:avLst>
              <a:gd name="adj" fmla="val 19048"/>
            </a:avLst>
          </a:prstGeom>
          <a:solidFill>
            <a:srgbClr val="14213D"/>
          </a:solidFill>
          <a:ln w="12700">
            <a:solidFill>
              <a:srgbClr val="14213D"/>
            </a:solidFill>
            <a:prstDash val="solid"/>
          </a:ln>
        </p:spPr>
      </p:sp>
      <p:sp>
        <p:nvSpPr>
          <p:cNvPr id="26" name="Text 20"/>
          <p:cNvSpPr txBox="1"/>
          <p:nvPr/>
        </p:nvSpPr>
        <p:spPr>
          <a:xfrm>
            <a:off x="548640" y="3401568"/>
            <a:ext cx="93268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Understand</a:t>
            </a:r>
            <a:endParaRPr lang="en-US" sz="1050" dirty="0"/>
          </a:p>
        </p:txBody>
      </p:sp>
      <p:sp>
        <p:nvSpPr>
          <p:cNvPr id="27" name="Text 21"/>
          <p:cNvSpPr txBox="1"/>
          <p:nvPr/>
        </p:nvSpPr>
        <p:spPr>
          <a:xfrm>
            <a:off x="1481328" y="3401568"/>
            <a:ext cx="182880" cy="384048"/>
          </a:xfrm>
          <a:prstGeom prst="rect">
            <a:avLst/>
          </a:prstGeom>
          <a:noFill/>
          <a:ln/>
        </p:spPr>
        <p:txBody>
          <a:bodyPr wrap="square" lIns="0" tIns="0" rIns="0" bIns="0" rtlCol="0" anchor="ctr"/>
          <a:lstStyle/>
          <a:p>
            <a:pPr algn="ctr" indent="0" marL="0">
              <a:buNone/>
            </a:pPr>
            <a:r>
              <a:rPr lang="en-US" sz="1600" dirty="0">
                <a:solidFill>
                  <a:srgbClr val="5B6576"/>
                </a:solidFill>
                <a:latin typeface="Calibri" pitchFamily="34" charset="0"/>
                <a:ea typeface="Calibri" pitchFamily="34" charset="-122"/>
                <a:cs typeface="Calibri" pitchFamily="34" charset="-120"/>
              </a:rPr>
              <a:t>›</a:t>
            </a:r>
            <a:endParaRPr lang="en-US" sz="1600" dirty="0"/>
          </a:p>
        </p:txBody>
      </p:sp>
      <p:sp>
        <p:nvSpPr>
          <p:cNvPr id="28" name="Shape 22"/>
          <p:cNvSpPr/>
          <p:nvPr/>
        </p:nvSpPr>
        <p:spPr>
          <a:xfrm>
            <a:off x="1664208" y="3401568"/>
            <a:ext cx="932688" cy="384048"/>
          </a:xfrm>
          <a:prstGeom prst="roundRect">
            <a:avLst>
              <a:gd name="adj" fmla="val 19048"/>
            </a:avLst>
          </a:prstGeom>
          <a:solidFill>
            <a:srgbClr val="14213D"/>
          </a:solidFill>
          <a:ln w="12700">
            <a:solidFill>
              <a:srgbClr val="14213D"/>
            </a:solidFill>
            <a:prstDash val="solid"/>
          </a:ln>
        </p:spPr>
      </p:sp>
      <p:sp>
        <p:nvSpPr>
          <p:cNvPr id="29" name="Text 23"/>
          <p:cNvSpPr txBox="1"/>
          <p:nvPr/>
        </p:nvSpPr>
        <p:spPr>
          <a:xfrm>
            <a:off x="1664208" y="3401568"/>
            <a:ext cx="93268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Investigate</a:t>
            </a:r>
            <a:endParaRPr lang="en-US" sz="1050" dirty="0"/>
          </a:p>
        </p:txBody>
      </p:sp>
      <p:sp>
        <p:nvSpPr>
          <p:cNvPr id="30" name="Text 24"/>
          <p:cNvSpPr txBox="1"/>
          <p:nvPr/>
        </p:nvSpPr>
        <p:spPr>
          <a:xfrm>
            <a:off x="2596896" y="3401568"/>
            <a:ext cx="182880" cy="384048"/>
          </a:xfrm>
          <a:prstGeom prst="rect">
            <a:avLst/>
          </a:prstGeom>
          <a:noFill/>
          <a:ln/>
        </p:spPr>
        <p:txBody>
          <a:bodyPr wrap="square" lIns="0" tIns="0" rIns="0" bIns="0" rtlCol="0" anchor="ctr"/>
          <a:lstStyle/>
          <a:p>
            <a:pPr algn="ctr" indent="0" marL="0">
              <a:buNone/>
            </a:pPr>
            <a:r>
              <a:rPr lang="en-US" sz="1600" dirty="0">
                <a:solidFill>
                  <a:srgbClr val="5B6576"/>
                </a:solidFill>
                <a:latin typeface="Calibri" pitchFamily="34" charset="0"/>
                <a:ea typeface="Calibri" pitchFamily="34" charset="-122"/>
                <a:cs typeface="Calibri" pitchFamily="34" charset="-120"/>
              </a:rPr>
              <a:t>›</a:t>
            </a:r>
            <a:endParaRPr lang="en-US" sz="1600" dirty="0"/>
          </a:p>
        </p:txBody>
      </p:sp>
      <p:sp>
        <p:nvSpPr>
          <p:cNvPr id="31" name="Shape 25"/>
          <p:cNvSpPr/>
          <p:nvPr/>
        </p:nvSpPr>
        <p:spPr>
          <a:xfrm>
            <a:off x="2779776" y="3401568"/>
            <a:ext cx="932688" cy="384048"/>
          </a:xfrm>
          <a:prstGeom prst="roundRect">
            <a:avLst>
              <a:gd name="adj" fmla="val 19048"/>
            </a:avLst>
          </a:prstGeom>
          <a:solidFill>
            <a:srgbClr val="14213D"/>
          </a:solidFill>
          <a:ln w="12700">
            <a:solidFill>
              <a:srgbClr val="14213D"/>
            </a:solidFill>
            <a:prstDash val="solid"/>
          </a:ln>
        </p:spPr>
      </p:sp>
      <p:sp>
        <p:nvSpPr>
          <p:cNvPr id="32" name="Text 26"/>
          <p:cNvSpPr txBox="1"/>
          <p:nvPr/>
        </p:nvSpPr>
        <p:spPr>
          <a:xfrm>
            <a:off x="2779776" y="3401568"/>
            <a:ext cx="93268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Decide</a:t>
            </a:r>
            <a:endParaRPr lang="en-US" sz="1050" dirty="0"/>
          </a:p>
        </p:txBody>
      </p:sp>
      <p:sp>
        <p:nvSpPr>
          <p:cNvPr id="33" name="Text 27"/>
          <p:cNvSpPr txBox="1"/>
          <p:nvPr/>
        </p:nvSpPr>
        <p:spPr>
          <a:xfrm>
            <a:off x="3712464" y="3401568"/>
            <a:ext cx="182880" cy="384048"/>
          </a:xfrm>
          <a:prstGeom prst="rect">
            <a:avLst/>
          </a:prstGeom>
          <a:noFill/>
          <a:ln/>
        </p:spPr>
        <p:txBody>
          <a:bodyPr wrap="square" lIns="0" tIns="0" rIns="0" bIns="0" rtlCol="0" anchor="ctr"/>
          <a:lstStyle/>
          <a:p>
            <a:pPr algn="ctr" indent="0" marL="0">
              <a:buNone/>
            </a:pPr>
            <a:r>
              <a:rPr lang="en-US" sz="1600" dirty="0">
                <a:solidFill>
                  <a:srgbClr val="5B6576"/>
                </a:solidFill>
                <a:latin typeface="Calibri" pitchFamily="34" charset="0"/>
                <a:ea typeface="Calibri" pitchFamily="34" charset="-122"/>
                <a:cs typeface="Calibri" pitchFamily="34" charset="-120"/>
              </a:rPr>
              <a:t>›</a:t>
            </a:r>
            <a:endParaRPr lang="en-US" sz="1600" dirty="0"/>
          </a:p>
        </p:txBody>
      </p:sp>
      <p:sp>
        <p:nvSpPr>
          <p:cNvPr id="34" name="Shape 28"/>
          <p:cNvSpPr/>
          <p:nvPr/>
        </p:nvSpPr>
        <p:spPr>
          <a:xfrm>
            <a:off x="3895344" y="3401568"/>
            <a:ext cx="932688" cy="384048"/>
          </a:xfrm>
          <a:prstGeom prst="roundRect">
            <a:avLst>
              <a:gd name="adj" fmla="val 19048"/>
            </a:avLst>
          </a:prstGeom>
          <a:solidFill>
            <a:srgbClr val="0F9D8A"/>
          </a:solidFill>
          <a:ln w="12700">
            <a:solidFill>
              <a:srgbClr val="0F9D8A"/>
            </a:solidFill>
            <a:prstDash val="solid"/>
          </a:ln>
        </p:spPr>
      </p:sp>
      <p:sp>
        <p:nvSpPr>
          <p:cNvPr id="35" name="Text 29"/>
          <p:cNvSpPr txBox="1"/>
          <p:nvPr/>
        </p:nvSpPr>
        <p:spPr>
          <a:xfrm>
            <a:off x="3895344" y="3401568"/>
            <a:ext cx="93268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a:t>
            </a:r>
            <a:endParaRPr lang="en-US" sz="1050" dirty="0"/>
          </a:p>
        </p:txBody>
      </p:sp>
      <p:sp>
        <p:nvSpPr>
          <p:cNvPr id="36" name="Text 30"/>
          <p:cNvSpPr txBox="1"/>
          <p:nvPr/>
        </p:nvSpPr>
        <p:spPr>
          <a:xfrm>
            <a:off x="4828032" y="3401568"/>
            <a:ext cx="182880" cy="384048"/>
          </a:xfrm>
          <a:prstGeom prst="rect">
            <a:avLst/>
          </a:prstGeom>
          <a:noFill/>
          <a:ln/>
        </p:spPr>
        <p:txBody>
          <a:bodyPr wrap="square" lIns="0" tIns="0" rIns="0" bIns="0" rtlCol="0" anchor="ctr"/>
          <a:lstStyle/>
          <a:p>
            <a:pPr algn="ctr" indent="0" marL="0">
              <a:buNone/>
            </a:pPr>
            <a:r>
              <a:rPr lang="en-US" sz="1600" dirty="0">
                <a:solidFill>
                  <a:srgbClr val="5B6576"/>
                </a:solidFill>
                <a:latin typeface="Calibri" pitchFamily="34" charset="0"/>
                <a:ea typeface="Calibri" pitchFamily="34" charset="-122"/>
                <a:cs typeface="Calibri" pitchFamily="34" charset="-120"/>
              </a:rPr>
              <a:t>›</a:t>
            </a:r>
            <a:endParaRPr lang="en-US" sz="1600" dirty="0"/>
          </a:p>
        </p:txBody>
      </p:sp>
      <p:sp>
        <p:nvSpPr>
          <p:cNvPr id="37" name="Shape 31"/>
          <p:cNvSpPr/>
          <p:nvPr/>
        </p:nvSpPr>
        <p:spPr>
          <a:xfrm>
            <a:off x="5010912" y="3401568"/>
            <a:ext cx="932688" cy="384048"/>
          </a:xfrm>
          <a:prstGeom prst="roundRect">
            <a:avLst>
              <a:gd name="adj" fmla="val 19048"/>
            </a:avLst>
          </a:prstGeom>
          <a:solidFill>
            <a:srgbClr val="14213D"/>
          </a:solidFill>
          <a:ln w="12700">
            <a:solidFill>
              <a:srgbClr val="14213D"/>
            </a:solidFill>
            <a:prstDash val="solid"/>
          </a:ln>
        </p:spPr>
      </p:sp>
      <p:sp>
        <p:nvSpPr>
          <p:cNvPr id="38" name="Text 32"/>
          <p:cNvSpPr txBox="1"/>
          <p:nvPr/>
        </p:nvSpPr>
        <p:spPr>
          <a:xfrm>
            <a:off x="5010912" y="3401568"/>
            <a:ext cx="93268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Verify</a:t>
            </a:r>
            <a:endParaRPr lang="en-US" sz="1050" dirty="0"/>
          </a:p>
        </p:txBody>
      </p:sp>
      <p:sp>
        <p:nvSpPr>
          <p:cNvPr id="39" name="Text 33"/>
          <p:cNvSpPr txBox="1"/>
          <p:nvPr/>
        </p:nvSpPr>
        <p:spPr>
          <a:xfrm>
            <a:off x="548640" y="3886200"/>
            <a:ext cx="5394960" cy="50292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The agent reads the data and finds the problem. It follows company rules to pick an action. Then it checks that the result is correct.</a:t>
            </a:r>
            <a:endParaRPr lang="en-US" sz="1100" dirty="0"/>
          </a:p>
        </p:txBody>
      </p:sp>
      <p:sp>
        <p:nvSpPr>
          <p:cNvPr id="40" name="Shape 34"/>
          <p:cNvSpPr/>
          <p:nvPr/>
        </p:nvSpPr>
        <p:spPr>
          <a:xfrm>
            <a:off x="548640" y="4480560"/>
            <a:ext cx="5394960" cy="457200"/>
          </a:xfrm>
          <a:prstGeom prst="roundRect">
            <a:avLst>
              <a:gd name="adj" fmla="val 16000"/>
            </a:avLst>
          </a:prstGeom>
          <a:solidFill>
            <a:srgbClr val="E8EDFC"/>
          </a:solidFill>
          <a:ln w="12700">
            <a:solidFill>
              <a:srgbClr val="E8EDFC"/>
            </a:solidFill>
            <a:prstDash val="solid"/>
          </a:ln>
        </p:spPr>
      </p:sp>
      <p:sp>
        <p:nvSpPr>
          <p:cNvPr id="41" name="Text 35"/>
          <p:cNvSpPr txBox="1"/>
          <p:nvPr/>
        </p:nvSpPr>
        <p:spPr>
          <a:xfrm>
            <a:off x="685800" y="4480560"/>
            <a:ext cx="1005840" cy="457200"/>
          </a:xfrm>
          <a:prstGeom prst="rect">
            <a:avLst/>
          </a:prstGeom>
          <a:noFill/>
          <a:ln/>
        </p:spPr>
        <p:txBody>
          <a:bodyPr wrap="square" lIns="0" tIns="0" rIns="0" bIns="0" rtlCol="0" anchor="ctr"/>
          <a:lstStyle/>
          <a:p>
            <a:pPr indent="0" marL="0">
              <a:buNone/>
            </a:pPr>
            <a:r>
              <a:rPr lang="en-US" sz="1200" b="1" dirty="0">
                <a:solidFill>
                  <a:srgbClr val="1B2433"/>
                </a:solidFill>
                <a:latin typeface="Calibri" pitchFamily="34" charset="0"/>
                <a:ea typeface="Calibri" pitchFamily="34" charset="-122"/>
                <a:cs typeface="Calibri" pitchFamily="34" charset="-120"/>
              </a:rPr>
              <a:t>Assist</a:t>
            </a:r>
            <a:endParaRPr lang="en-US" sz="1200" dirty="0"/>
          </a:p>
        </p:txBody>
      </p:sp>
      <p:sp>
        <p:nvSpPr>
          <p:cNvPr id="42" name="Text 36"/>
          <p:cNvSpPr txBox="1"/>
          <p:nvPr/>
        </p:nvSpPr>
        <p:spPr>
          <a:xfrm>
            <a:off x="1737360" y="4480560"/>
            <a:ext cx="4114800" cy="457200"/>
          </a:xfrm>
          <a:prstGeom prst="rect">
            <a:avLst/>
          </a:prstGeom>
          <a:noFill/>
          <a:ln/>
        </p:spPr>
        <p:txBody>
          <a:bodyPr wrap="square" lIns="0" tIns="0" rIns="0" bIns="0" rtlCol="0" anchor="ctr"/>
          <a:lstStyle/>
          <a:p>
            <a:pPr indent="0" marL="0">
              <a:buNone/>
            </a:pPr>
            <a:r>
              <a:rPr lang="en-US" sz="1100" dirty="0">
                <a:solidFill>
                  <a:srgbClr val="1B2433"/>
                </a:solidFill>
                <a:latin typeface="Calibri" pitchFamily="34" charset="0"/>
                <a:ea typeface="Calibri" pitchFamily="34" charset="-122"/>
                <a:cs typeface="Calibri" pitchFamily="34" charset="-120"/>
              </a:rPr>
              <a:t>The AI only suggests. A person does every step.</a:t>
            </a:r>
            <a:endParaRPr lang="en-US" sz="1100" dirty="0"/>
          </a:p>
        </p:txBody>
      </p:sp>
      <p:sp>
        <p:nvSpPr>
          <p:cNvPr id="43" name="Shape 37"/>
          <p:cNvSpPr/>
          <p:nvPr/>
        </p:nvSpPr>
        <p:spPr>
          <a:xfrm>
            <a:off x="548640" y="4992624"/>
            <a:ext cx="5394960" cy="457200"/>
          </a:xfrm>
          <a:prstGeom prst="roundRect">
            <a:avLst>
              <a:gd name="adj" fmla="val 16000"/>
            </a:avLst>
          </a:prstGeom>
          <a:solidFill>
            <a:srgbClr val="FDF3E3"/>
          </a:solidFill>
          <a:ln w="12700">
            <a:solidFill>
              <a:srgbClr val="FDF3E3"/>
            </a:solidFill>
            <a:prstDash val="solid"/>
          </a:ln>
        </p:spPr>
      </p:sp>
      <p:sp>
        <p:nvSpPr>
          <p:cNvPr id="44" name="Text 38"/>
          <p:cNvSpPr txBox="1"/>
          <p:nvPr/>
        </p:nvSpPr>
        <p:spPr>
          <a:xfrm>
            <a:off x="685800" y="4992624"/>
            <a:ext cx="1005840" cy="457200"/>
          </a:xfrm>
          <a:prstGeom prst="rect">
            <a:avLst/>
          </a:prstGeom>
          <a:noFill/>
          <a:ln/>
        </p:spPr>
        <p:txBody>
          <a:bodyPr wrap="square" lIns="0" tIns="0" rIns="0" bIns="0" rtlCol="0" anchor="ctr"/>
          <a:lstStyle/>
          <a:p>
            <a:pPr indent="0" marL="0">
              <a:buNone/>
            </a:pPr>
            <a:r>
              <a:rPr lang="en-US" sz="1200" b="1" dirty="0">
                <a:solidFill>
                  <a:srgbClr val="1B2433"/>
                </a:solidFill>
                <a:latin typeface="Calibri" pitchFamily="34" charset="0"/>
                <a:ea typeface="Calibri" pitchFamily="34" charset="-122"/>
                <a:cs typeface="Calibri" pitchFamily="34" charset="-120"/>
              </a:rPr>
              <a:t>Approve</a:t>
            </a:r>
            <a:endParaRPr lang="en-US" sz="1200" dirty="0"/>
          </a:p>
        </p:txBody>
      </p:sp>
      <p:sp>
        <p:nvSpPr>
          <p:cNvPr id="45" name="Text 39"/>
          <p:cNvSpPr txBox="1"/>
          <p:nvPr/>
        </p:nvSpPr>
        <p:spPr>
          <a:xfrm>
            <a:off x="1737360" y="4992624"/>
            <a:ext cx="4114800" cy="457200"/>
          </a:xfrm>
          <a:prstGeom prst="rect">
            <a:avLst/>
          </a:prstGeom>
          <a:noFill/>
          <a:ln/>
        </p:spPr>
        <p:txBody>
          <a:bodyPr wrap="square" lIns="0" tIns="0" rIns="0" bIns="0" rtlCol="0" anchor="ctr"/>
          <a:lstStyle/>
          <a:p>
            <a:pPr indent="0" marL="0">
              <a:buNone/>
            </a:pPr>
            <a:r>
              <a:rPr lang="en-US" sz="1100" dirty="0">
                <a:solidFill>
                  <a:srgbClr val="1B2433"/>
                </a:solidFill>
                <a:latin typeface="Calibri" pitchFamily="34" charset="0"/>
                <a:ea typeface="Calibri" pitchFamily="34" charset="-122"/>
                <a:cs typeface="Calibri" pitchFamily="34" charset="-120"/>
              </a:rPr>
              <a:t>The AI prepares the work. Nothing happens until a person says yes.</a:t>
            </a:r>
            <a:endParaRPr lang="en-US" sz="1100" dirty="0"/>
          </a:p>
        </p:txBody>
      </p:sp>
      <p:sp>
        <p:nvSpPr>
          <p:cNvPr id="46" name="Shape 40"/>
          <p:cNvSpPr/>
          <p:nvPr/>
        </p:nvSpPr>
        <p:spPr>
          <a:xfrm>
            <a:off x="548640" y="5504688"/>
            <a:ext cx="5394960" cy="457200"/>
          </a:xfrm>
          <a:prstGeom prst="roundRect">
            <a:avLst>
              <a:gd name="adj" fmla="val 16000"/>
            </a:avLst>
          </a:prstGeom>
          <a:solidFill>
            <a:srgbClr val="E3F5F2"/>
          </a:solidFill>
          <a:ln w="12700">
            <a:solidFill>
              <a:srgbClr val="E3F5F2"/>
            </a:solidFill>
            <a:prstDash val="solid"/>
          </a:ln>
        </p:spPr>
      </p:sp>
      <p:sp>
        <p:nvSpPr>
          <p:cNvPr id="47" name="Text 41"/>
          <p:cNvSpPr txBox="1"/>
          <p:nvPr/>
        </p:nvSpPr>
        <p:spPr>
          <a:xfrm>
            <a:off x="685800" y="5504688"/>
            <a:ext cx="1005840" cy="457200"/>
          </a:xfrm>
          <a:prstGeom prst="rect">
            <a:avLst/>
          </a:prstGeom>
          <a:noFill/>
          <a:ln/>
        </p:spPr>
        <p:txBody>
          <a:bodyPr wrap="square" lIns="0" tIns="0" rIns="0" bIns="0" rtlCol="0" anchor="ctr"/>
          <a:lstStyle/>
          <a:p>
            <a:pPr indent="0" marL="0">
              <a:buNone/>
            </a:pPr>
            <a:r>
              <a:rPr lang="en-US" sz="1200" b="1" dirty="0">
                <a:solidFill>
                  <a:srgbClr val="1B2433"/>
                </a:solidFill>
                <a:latin typeface="Calibri" pitchFamily="34" charset="0"/>
                <a:ea typeface="Calibri" pitchFamily="34" charset="-122"/>
                <a:cs typeface="Calibri" pitchFamily="34" charset="-120"/>
              </a:rPr>
              <a:t>Autopilot</a:t>
            </a:r>
            <a:endParaRPr lang="en-US" sz="1200" dirty="0"/>
          </a:p>
        </p:txBody>
      </p:sp>
      <p:sp>
        <p:nvSpPr>
          <p:cNvPr id="48" name="Text 42"/>
          <p:cNvSpPr txBox="1"/>
          <p:nvPr/>
        </p:nvSpPr>
        <p:spPr>
          <a:xfrm>
            <a:off x="1737360" y="5504688"/>
            <a:ext cx="4114800" cy="457200"/>
          </a:xfrm>
          <a:prstGeom prst="rect">
            <a:avLst/>
          </a:prstGeom>
          <a:noFill/>
          <a:ln/>
        </p:spPr>
        <p:txBody>
          <a:bodyPr wrap="square" lIns="0" tIns="0" rIns="0" bIns="0" rtlCol="0" anchor="ctr"/>
          <a:lstStyle/>
          <a:p>
            <a:pPr indent="0" marL="0">
              <a:buNone/>
            </a:pPr>
            <a:r>
              <a:rPr lang="en-US" sz="1100" dirty="0">
                <a:solidFill>
                  <a:srgbClr val="1B2433"/>
                </a:solidFill>
                <a:latin typeface="Calibri" pitchFamily="34" charset="0"/>
                <a:ea typeface="Calibri" pitchFamily="34" charset="-122"/>
                <a:cs typeface="Calibri" pitchFamily="34" charset="-120"/>
              </a:rPr>
              <a:t>The AI finishes small and safe tasks alone. Risky ones still go to a person.</a:t>
            </a:r>
            <a:endParaRPr lang="en-US" sz="1100" dirty="0"/>
          </a:p>
        </p:txBody>
      </p:sp>
      <p:sp>
        <p:nvSpPr>
          <p:cNvPr id="49" name="Text 43"/>
          <p:cNvSpPr txBox="1"/>
          <p:nvPr/>
        </p:nvSpPr>
        <p:spPr>
          <a:xfrm>
            <a:off x="548640" y="6035040"/>
            <a:ext cx="5394960" cy="457200"/>
          </a:xfrm>
          <a:prstGeom prst="rect">
            <a:avLst/>
          </a:prstGeom>
          <a:noFill/>
          <a:ln/>
        </p:spPr>
        <p:txBody>
          <a:bodyPr wrap="square" lIns="0" tIns="0" rIns="0" bIns="0" rtlCol="0" anchor="t"/>
          <a:lstStyle/>
          <a:p>
            <a:pPr indent="0" marL="0">
              <a:buNone/>
            </a:pPr>
            <a:r>
              <a:rPr lang="en-US" sz="1050" i="1" dirty="0">
                <a:solidFill>
                  <a:srgbClr val="5B6576"/>
                </a:solidFill>
                <a:latin typeface="Calibri" pitchFamily="34" charset="0"/>
                <a:ea typeface="Calibri" pitchFamily="34" charset="-122"/>
                <a:cs typeface="Calibri" pitchFamily="34" charset="-120"/>
              </a:rPr>
              <a:t>The AI acts alone only when risk is low, confidence is 95% or more and the amount is $10,000 or less. Below 70% confidence it must ask a person.</a:t>
            </a:r>
            <a:endParaRPr lang="en-US" sz="1050" dirty="0"/>
          </a:p>
        </p:txBody>
      </p:sp>
      <p:sp>
        <p:nvSpPr>
          <p:cNvPr id="50" name="Text 44"/>
          <p:cNvSpPr txBox="1"/>
          <p:nvPr/>
        </p:nvSpPr>
        <p:spPr>
          <a:xfrm>
            <a:off x="6263640" y="3044952"/>
            <a:ext cx="539496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What the working prototype shows</a:t>
            </a:r>
            <a:endParaRPr lang="en-US" sz="1400" dirty="0"/>
          </a:p>
        </p:txBody>
      </p:sp>
      <p:sp>
        <p:nvSpPr>
          <p:cNvPr id="51" name="Shape 45"/>
          <p:cNvSpPr/>
          <p:nvPr/>
        </p:nvSpPr>
        <p:spPr>
          <a:xfrm>
            <a:off x="6263640" y="3401568"/>
            <a:ext cx="2651760" cy="1033272"/>
          </a:xfrm>
          <a:prstGeom prst="roundRect">
            <a:avLst>
              <a:gd name="adj" fmla="val 10619"/>
            </a:avLst>
          </a:prstGeom>
          <a:solidFill>
            <a:srgbClr val="F6F8FB"/>
          </a:solidFill>
          <a:ln w="9525">
            <a:solidFill>
              <a:srgbClr val="F6F8FB"/>
            </a:solidFill>
            <a:prstDash val="solid"/>
          </a:ln>
        </p:spPr>
      </p:sp>
      <p:sp>
        <p:nvSpPr>
          <p:cNvPr id="52" name="Shape 46"/>
          <p:cNvSpPr/>
          <p:nvPr/>
        </p:nvSpPr>
        <p:spPr>
          <a:xfrm>
            <a:off x="6373368" y="3511296"/>
            <a:ext cx="329184" cy="329184"/>
          </a:xfrm>
          <a:prstGeom prst="ellipse">
            <a:avLst/>
          </a:prstGeom>
          <a:solidFill>
            <a:srgbClr val="FFFFFF"/>
          </a:solidFill>
          <a:ln w="12700">
            <a:solidFill>
              <a:srgbClr val="FFFFFF"/>
            </a:solidFill>
            <a:prstDash val="solid"/>
          </a:ln>
        </p:spPr>
      </p:sp>
      <p:pic>
        <p:nvPicPr>
          <p:cNvPr id="53" name="Image 4" descr="preencoded.png">    </p:cNvPr>
          <p:cNvPicPr>
            <a:picLocks noChangeAspect="1"/>
          </p:cNvPicPr>
          <p:nvPr/>
        </p:nvPicPr>
        <p:blipFill>
          <a:blip r:embed="rId5"/>
          <a:stretch>
            <a:fillRect/>
          </a:stretch>
        </p:blipFill>
        <p:spPr>
          <a:xfrm>
            <a:off x="6455664" y="3593592"/>
            <a:ext cx="164592" cy="164592"/>
          </a:xfrm>
          <a:prstGeom prst="rect">
            <a:avLst/>
          </a:prstGeom>
        </p:spPr>
      </p:pic>
      <p:sp>
        <p:nvSpPr>
          <p:cNvPr id="54" name="Text 47"/>
          <p:cNvSpPr txBox="1"/>
          <p:nvPr/>
        </p:nvSpPr>
        <p:spPr>
          <a:xfrm>
            <a:off x="6775704" y="3511296"/>
            <a:ext cx="2057400" cy="329184"/>
          </a:xfrm>
          <a:prstGeom prst="rect">
            <a:avLst/>
          </a:prstGeom>
          <a:noFill/>
          <a:ln/>
        </p:spPr>
        <p:txBody>
          <a:bodyPr wrap="square" lIns="0" tIns="0" rIns="0" bIns="0" rtlCol="0" anchor="ctr"/>
          <a:lstStyle/>
          <a:p>
            <a:pPr indent="0" marL="0">
              <a:buNone/>
            </a:pPr>
            <a:r>
              <a:rPr lang="en-US" sz="1150" b="1" dirty="0">
                <a:solidFill>
                  <a:srgbClr val="1B2433"/>
                </a:solidFill>
                <a:latin typeface="Calibri" pitchFamily="34" charset="0"/>
                <a:ea typeface="Calibri" pitchFamily="34" charset="-122"/>
                <a:cs typeface="Calibri" pitchFamily="34" charset="-120"/>
              </a:rPr>
              <a:t>Morning brief</a:t>
            </a:r>
            <a:endParaRPr lang="en-US" sz="1150" dirty="0"/>
          </a:p>
        </p:txBody>
      </p:sp>
      <p:sp>
        <p:nvSpPr>
          <p:cNvPr id="55" name="Text 48"/>
          <p:cNvSpPr txBox="1"/>
          <p:nvPr/>
        </p:nvSpPr>
        <p:spPr>
          <a:xfrm>
            <a:off x="6391656" y="3840480"/>
            <a:ext cx="2432304" cy="566928"/>
          </a:xfrm>
          <a:prstGeom prst="rect">
            <a:avLst/>
          </a:prstGeom>
          <a:noFill/>
          <a:ln/>
        </p:spPr>
        <p:txBody>
          <a:bodyPr wrap="square" lIns="0" tIns="0" rIns="0" bIns="0" rtlCol="0" anchor="t"/>
          <a:lstStyle/>
          <a:p>
            <a:pPr indent="0" marL="0">
              <a:buNone/>
            </a:pPr>
            <a:r>
              <a:rPr lang="en-US" sz="950" dirty="0">
                <a:solidFill>
                  <a:srgbClr val="1B2433"/>
                </a:solidFill>
                <a:latin typeface="Calibri" pitchFamily="34" charset="0"/>
                <a:ea typeface="Calibri" pitchFamily="34" charset="-122"/>
                <a:cs typeface="Calibri" pitchFamily="34" charset="-120"/>
              </a:rPr>
              <a:t>Agents flag a cash risk. Cash may fall to $3.71M against a $4.0M loan limit. One click starts collections.</a:t>
            </a:r>
            <a:endParaRPr lang="en-US" sz="950" dirty="0"/>
          </a:p>
        </p:txBody>
      </p:sp>
      <p:sp>
        <p:nvSpPr>
          <p:cNvPr id="56" name="Shape 49"/>
          <p:cNvSpPr/>
          <p:nvPr/>
        </p:nvSpPr>
        <p:spPr>
          <a:xfrm>
            <a:off x="9025128" y="3401568"/>
            <a:ext cx="2651760" cy="1033272"/>
          </a:xfrm>
          <a:prstGeom prst="roundRect">
            <a:avLst>
              <a:gd name="adj" fmla="val 10619"/>
            </a:avLst>
          </a:prstGeom>
          <a:solidFill>
            <a:srgbClr val="F6F8FB"/>
          </a:solidFill>
          <a:ln w="9525">
            <a:solidFill>
              <a:srgbClr val="F6F8FB"/>
            </a:solidFill>
            <a:prstDash val="solid"/>
          </a:ln>
        </p:spPr>
      </p:sp>
      <p:sp>
        <p:nvSpPr>
          <p:cNvPr id="57" name="Shape 50"/>
          <p:cNvSpPr/>
          <p:nvPr/>
        </p:nvSpPr>
        <p:spPr>
          <a:xfrm>
            <a:off x="9134856" y="3511296"/>
            <a:ext cx="329184" cy="329184"/>
          </a:xfrm>
          <a:prstGeom prst="ellipse">
            <a:avLst/>
          </a:prstGeom>
          <a:solidFill>
            <a:srgbClr val="FFFFFF"/>
          </a:solidFill>
          <a:ln w="12700">
            <a:solidFill>
              <a:srgbClr val="FFFFFF"/>
            </a:solidFill>
            <a:prstDash val="solid"/>
          </a:ln>
        </p:spPr>
      </p:sp>
      <p:pic>
        <p:nvPicPr>
          <p:cNvPr id="58" name="Image 5" descr="preencoded.png">    </p:cNvPr>
          <p:cNvPicPr>
            <a:picLocks noChangeAspect="1"/>
          </p:cNvPicPr>
          <p:nvPr/>
        </p:nvPicPr>
        <p:blipFill>
          <a:blip r:embed="rId6"/>
          <a:stretch>
            <a:fillRect/>
          </a:stretch>
        </p:blipFill>
        <p:spPr>
          <a:xfrm>
            <a:off x="9217152" y="3593592"/>
            <a:ext cx="164592" cy="164592"/>
          </a:xfrm>
          <a:prstGeom prst="rect">
            <a:avLst/>
          </a:prstGeom>
        </p:spPr>
      </p:pic>
      <p:sp>
        <p:nvSpPr>
          <p:cNvPr id="59" name="Text 51"/>
          <p:cNvSpPr txBox="1"/>
          <p:nvPr/>
        </p:nvSpPr>
        <p:spPr>
          <a:xfrm>
            <a:off x="9537192" y="3511296"/>
            <a:ext cx="2057400" cy="329184"/>
          </a:xfrm>
          <a:prstGeom prst="rect">
            <a:avLst/>
          </a:prstGeom>
          <a:noFill/>
          <a:ln/>
        </p:spPr>
        <p:txBody>
          <a:bodyPr wrap="square" lIns="0" tIns="0" rIns="0" bIns="0" rtlCol="0" anchor="ctr"/>
          <a:lstStyle/>
          <a:p>
            <a:pPr indent="0" marL="0">
              <a:buNone/>
            </a:pPr>
            <a:r>
              <a:rPr lang="en-US" sz="1150" b="1" dirty="0">
                <a:solidFill>
                  <a:srgbClr val="1B2433"/>
                </a:solidFill>
                <a:latin typeface="Calibri" pitchFamily="34" charset="0"/>
                <a:ea typeface="Calibri" pitchFamily="34" charset="-122"/>
                <a:cs typeface="Calibri" pitchFamily="34" charset="-120"/>
              </a:rPr>
              <a:t>Month-end close</a:t>
            </a:r>
            <a:endParaRPr lang="en-US" sz="1150" dirty="0"/>
          </a:p>
        </p:txBody>
      </p:sp>
      <p:sp>
        <p:nvSpPr>
          <p:cNvPr id="60" name="Text 52"/>
          <p:cNvSpPr txBox="1"/>
          <p:nvPr/>
        </p:nvSpPr>
        <p:spPr>
          <a:xfrm>
            <a:off x="9153144" y="3840480"/>
            <a:ext cx="2432304" cy="566928"/>
          </a:xfrm>
          <a:prstGeom prst="rect">
            <a:avLst/>
          </a:prstGeom>
          <a:noFill/>
          <a:ln/>
        </p:spPr>
        <p:txBody>
          <a:bodyPr wrap="square" lIns="0" tIns="0" rIns="0" bIns="0" rtlCol="0" anchor="t"/>
          <a:lstStyle/>
          <a:p>
            <a:pPr indent="0" marL="0">
              <a:buNone/>
            </a:pPr>
            <a:r>
              <a:rPr lang="en-US" sz="950" dirty="0">
                <a:solidFill>
                  <a:srgbClr val="1B2433"/>
                </a:solidFill>
                <a:latin typeface="Calibri" pitchFamily="34" charset="0"/>
                <a:ea typeface="Calibri" pitchFamily="34" charset="-122"/>
                <a:cs typeface="Calibri" pitchFamily="34" charset="-120"/>
              </a:rPr>
              <a:t>Readiness goes from 62% to 73% in one run. 3 tasks finish alone. 4 wait for approval and 2 go to people.</a:t>
            </a:r>
            <a:endParaRPr lang="en-US" sz="950" dirty="0"/>
          </a:p>
        </p:txBody>
      </p:sp>
      <p:sp>
        <p:nvSpPr>
          <p:cNvPr id="61" name="Shape 53"/>
          <p:cNvSpPr/>
          <p:nvPr/>
        </p:nvSpPr>
        <p:spPr>
          <a:xfrm>
            <a:off x="6263640" y="4517136"/>
            <a:ext cx="2651760" cy="1033272"/>
          </a:xfrm>
          <a:prstGeom prst="roundRect">
            <a:avLst>
              <a:gd name="adj" fmla="val 10619"/>
            </a:avLst>
          </a:prstGeom>
          <a:solidFill>
            <a:srgbClr val="F6F8FB"/>
          </a:solidFill>
          <a:ln w="9525">
            <a:solidFill>
              <a:srgbClr val="F6F8FB"/>
            </a:solidFill>
            <a:prstDash val="solid"/>
          </a:ln>
        </p:spPr>
      </p:sp>
      <p:sp>
        <p:nvSpPr>
          <p:cNvPr id="62" name="Shape 54"/>
          <p:cNvSpPr/>
          <p:nvPr/>
        </p:nvSpPr>
        <p:spPr>
          <a:xfrm>
            <a:off x="6373368" y="4626864"/>
            <a:ext cx="329184" cy="329184"/>
          </a:xfrm>
          <a:prstGeom prst="ellipse">
            <a:avLst/>
          </a:prstGeom>
          <a:solidFill>
            <a:srgbClr val="FFFFFF"/>
          </a:solidFill>
          <a:ln w="12700">
            <a:solidFill>
              <a:srgbClr val="FFFFFF"/>
            </a:solidFill>
            <a:prstDash val="solid"/>
          </a:ln>
        </p:spPr>
      </p:sp>
      <p:pic>
        <p:nvPicPr>
          <p:cNvPr id="63" name="Image 6" descr="preencoded.png">    </p:cNvPr>
          <p:cNvPicPr>
            <a:picLocks noChangeAspect="1"/>
          </p:cNvPicPr>
          <p:nvPr/>
        </p:nvPicPr>
        <p:blipFill>
          <a:blip r:embed="rId7"/>
          <a:stretch>
            <a:fillRect/>
          </a:stretch>
        </p:blipFill>
        <p:spPr>
          <a:xfrm>
            <a:off x="6455664" y="4709160"/>
            <a:ext cx="164592" cy="164592"/>
          </a:xfrm>
          <a:prstGeom prst="rect">
            <a:avLst/>
          </a:prstGeom>
        </p:spPr>
      </p:pic>
      <p:sp>
        <p:nvSpPr>
          <p:cNvPr id="64" name="Text 55"/>
          <p:cNvSpPr txBox="1"/>
          <p:nvPr/>
        </p:nvSpPr>
        <p:spPr>
          <a:xfrm>
            <a:off x="6775704" y="4626864"/>
            <a:ext cx="2057400" cy="329184"/>
          </a:xfrm>
          <a:prstGeom prst="rect">
            <a:avLst/>
          </a:prstGeom>
          <a:noFill/>
          <a:ln/>
        </p:spPr>
        <p:txBody>
          <a:bodyPr wrap="square" lIns="0" tIns="0" rIns="0" bIns="0" rtlCol="0" anchor="ctr"/>
          <a:lstStyle/>
          <a:p>
            <a:pPr indent="0" marL="0">
              <a:buNone/>
            </a:pPr>
            <a:r>
              <a:rPr lang="en-US" sz="1150" b="1" dirty="0">
                <a:solidFill>
                  <a:srgbClr val="1B2433"/>
                </a:solidFill>
                <a:latin typeface="Calibri" pitchFamily="34" charset="0"/>
                <a:ea typeface="Calibri" pitchFamily="34" charset="-122"/>
                <a:cs typeface="Calibri" pitchFamily="34" charset="-120"/>
              </a:rPr>
              <a:t>What-if lab</a:t>
            </a:r>
            <a:endParaRPr lang="en-US" sz="1150" dirty="0"/>
          </a:p>
        </p:txBody>
      </p:sp>
      <p:sp>
        <p:nvSpPr>
          <p:cNvPr id="65" name="Text 56"/>
          <p:cNvSpPr txBox="1"/>
          <p:nvPr/>
        </p:nvSpPr>
        <p:spPr>
          <a:xfrm>
            <a:off x="6391656" y="4956048"/>
            <a:ext cx="2432304" cy="566928"/>
          </a:xfrm>
          <a:prstGeom prst="rect">
            <a:avLst/>
          </a:prstGeom>
          <a:noFill/>
          <a:ln/>
        </p:spPr>
        <p:txBody>
          <a:bodyPr wrap="square" lIns="0" tIns="0" rIns="0" bIns="0" rtlCol="0" anchor="t"/>
          <a:lstStyle/>
          <a:p>
            <a:pPr indent="0" marL="0">
              <a:buNone/>
            </a:pPr>
            <a:r>
              <a:rPr lang="en-US" sz="950" dirty="0">
                <a:solidFill>
                  <a:srgbClr val="1B2433"/>
                </a:solidFill>
                <a:latin typeface="Calibri" pitchFamily="34" charset="0"/>
                <a:ea typeface="Calibri" pitchFamily="34" charset="-122"/>
                <a:cs typeface="Calibri" pitchFamily="34" charset="-120"/>
              </a:rPr>
              <a:t>A plain English question shows three cases. The bad case drops to $2.05M. The fixed plan stays safe at $4.12M.</a:t>
            </a:r>
            <a:endParaRPr lang="en-US" sz="950" dirty="0"/>
          </a:p>
        </p:txBody>
      </p:sp>
      <p:sp>
        <p:nvSpPr>
          <p:cNvPr id="66" name="Shape 57"/>
          <p:cNvSpPr/>
          <p:nvPr/>
        </p:nvSpPr>
        <p:spPr>
          <a:xfrm>
            <a:off x="9025128" y="4517136"/>
            <a:ext cx="2651760" cy="1033272"/>
          </a:xfrm>
          <a:prstGeom prst="roundRect">
            <a:avLst>
              <a:gd name="adj" fmla="val 10619"/>
            </a:avLst>
          </a:prstGeom>
          <a:solidFill>
            <a:srgbClr val="F6F8FB"/>
          </a:solidFill>
          <a:ln w="9525">
            <a:solidFill>
              <a:srgbClr val="F6F8FB"/>
            </a:solidFill>
            <a:prstDash val="solid"/>
          </a:ln>
        </p:spPr>
      </p:sp>
      <p:sp>
        <p:nvSpPr>
          <p:cNvPr id="67" name="Shape 58"/>
          <p:cNvSpPr/>
          <p:nvPr/>
        </p:nvSpPr>
        <p:spPr>
          <a:xfrm>
            <a:off x="9134856" y="4626864"/>
            <a:ext cx="329184" cy="329184"/>
          </a:xfrm>
          <a:prstGeom prst="ellipse">
            <a:avLst/>
          </a:prstGeom>
          <a:solidFill>
            <a:srgbClr val="FFFFFF"/>
          </a:solidFill>
          <a:ln w="12700">
            <a:solidFill>
              <a:srgbClr val="FFFFFF"/>
            </a:solidFill>
            <a:prstDash val="solid"/>
          </a:ln>
        </p:spPr>
      </p:sp>
      <p:pic>
        <p:nvPicPr>
          <p:cNvPr id="68" name="Image 7" descr="preencoded.png">    </p:cNvPr>
          <p:cNvPicPr>
            <a:picLocks noChangeAspect="1"/>
          </p:cNvPicPr>
          <p:nvPr/>
        </p:nvPicPr>
        <p:blipFill>
          <a:blip r:embed="rId8"/>
          <a:stretch>
            <a:fillRect/>
          </a:stretch>
        </p:blipFill>
        <p:spPr>
          <a:xfrm>
            <a:off x="9217152" y="4709160"/>
            <a:ext cx="164592" cy="164592"/>
          </a:xfrm>
          <a:prstGeom prst="rect">
            <a:avLst/>
          </a:prstGeom>
        </p:spPr>
      </p:pic>
      <p:sp>
        <p:nvSpPr>
          <p:cNvPr id="69" name="Text 59"/>
          <p:cNvSpPr txBox="1"/>
          <p:nvPr/>
        </p:nvSpPr>
        <p:spPr>
          <a:xfrm>
            <a:off x="9537192" y="4626864"/>
            <a:ext cx="2057400" cy="329184"/>
          </a:xfrm>
          <a:prstGeom prst="rect">
            <a:avLst/>
          </a:prstGeom>
          <a:noFill/>
          <a:ln/>
        </p:spPr>
        <p:txBody>
          <a:bodyPr wrap="square" lIns="0" tIns="0" rIns="0" bIns="0" rtlCol="0" anchor="ctr"/>
          <a:lstStyle/>
          <a:p>
            <a:pPr indent="0" marL="0">
              <a:buNone/>
            </a:pPr>
            <a:r>
              <a:rPr lang="en-US" sz="1150" b="1" dirty="0">
                <a:solidFill>
                  <a:srgbClr val="1B2433"/>
                </a:solidFill>
                <a:latin typeface="Calibri" pitchFamily="34" charset="0"/>
                <a:ea typeface="Calibri" pitchFamily="34" charset="-122"/>
                <a:cs typeface="Calibri" pitchFamily="34" charset="-120"/>
              </a:rPr>
              <a:t>Expert handoff</a:t>
            </a:r>
            <a:endParaRPr lang="en-US" sz="1150" dirty="0"/>
          </a:p>
        </p:txBody>
      </p:sp>
      <p:sp>
        <p:nvSpPr>
          <p:cNvPr id="70" name="Text 60"/>
          <p:cNvSpPr txBox="1"/>
          <p:nvPr/>
        </p:nvSpPr>
        <p:spPr>
          <a:xfrm>
            <a:off x="9153144" y="4956048"/>
            <a:ext cx="2432304" cy="566928"/>
          </a:xfrm>
          <a:prstGeom prst="rect">
            <a:avLst/>
          </a:prstGeom>
          <a:noFill/>
          <a:ln/>
        </p:spPr>
        <p:txBody>
          <a:bodyPr wrap="square" lIns="0" tIns="0" rIns="0" bIns="0" rtlCol="0" anchor="t"/>
          <a:lstStyle/>
          <a:p>
            <a:pPr indent="0" marL="0">
              <a:buNone/>
            </a:pPr>
            <a:r>
              <a:rPr lang="en-US" sz="950" dirty="0">
                <a:solidFill>
                  <a:srgbClr val="1B2433"/>
                </a:solidFill>
                <a:latin typeface="Calibri" pitchFamily="34" charset="0"/>
                <a:ea typeface="Calibri" pitchFamily="34" charset="-122"/>
                <a:cs typeface="Calibri" pitchFamily="34" charset="-120"/>
              </a:rPr>
              <a:t>A $1.24M sale is too risky for the AI at 61% confidence. An expert answers with zero follow-up questions.</a:t>
            </a:r>
            <a:endParaRPr lang="en-US" sz="950" dirty="0"/>
          </a:p>
        </p:txBody>
      </p:sp>
      <p:sp>
        <p:nvSpPr>
          <p:cNvPr id="71" name="Shape 61"/>
          <p:cNvSpPr/>
          <p:nvPr/>
        </p:nvSpPr>
        <p:spPr>
          <a:xfrm>
            <a:off x="6263640" y="5632704"/>
            <a:ext cx="2651760" cy="1033272"/>
          </a:xfrm>
          <a:prstGeom prst="roundRect">
            <a:avLst>
              <a:gd name="adj" fmla="val 10619"/>
            </a:avLst>
          </a:prstGeom>
          <a:solidFill>
            <a:srgbClr val="F6F8FB"/>
          </a:solidFill>
          <a:ln w="9525">
            <a:solidFill>
              <a:srgbClr val="F6F8FB"/>
            </a:solidFill>
            <a:prstDash val="solid"/>
          </a:ln>
        </p:spPr>
      </p:sp>
      <p:sp>
        <p:nvSpPr>
          <p:cNvPr id="72" name="Shape 62"/>
          <p:cNvSpPr/>
          <p:nvPr/>
        </p:nvSpPr>
        <p:spPr>
          <a:xfrm>
            <a:off x="6373368" y="5742432"/>
            <a:ext cx="329184" cy="329184"/>
          </a:xfrm>
          <a:prstGeom prst="ellipse">
            <a:avLst/>
          </a:prstGeom>
          <a:solidFill>
            <a:srgbClr val="FFFFFF"/>
          </a:solidFill>
          <a:ln w="12700">
            <a:solidFill>
              <a:srgbClr val="FFFFFF"/>
            </a:solidFill>
            <a:prstDash val="solid"/>
          </a:ln>
        </p:spPr>
      </p:sp>
      <p:pic>
        <p:nvPicPr>
          <p:cNvPr id="73" name="Image 8" descr="preencoded.png">    </p:cNvPr>
          <p:cNvPicPr>
            <a:picLocks noChangeAspect="1"/>
          </p:cNvPicPr>
          <p:nvPr/>
        </p:nvPicPr>
        <p:blipFill>
          <a:blip r:embed="rId9"/>
          <a:stretch>
            <a:fillRect/>
          </a:stretch>
        </p:blipFill>
        <p:spPr>
          <a:xfrm>
            <a:off x="6455664" y="5824728"/>
            <a:ext cx="164592" cy="164592"/>
          </a:xfrm>
          <a:prstGeom prst="rect">
            <a:avLst/>
          </a:prstGeom>
        </p:spPr>
      </p:pic>
      <p:sp>
        <p:nvSpPr>
          <p:cNvPr id="74" name="Text 63"/>
          <p:cNvSpPr txBox="1"/>
          <p:nvPr/>
        </p:nvSpPr>
        <p:spPr>
          <a:xfrm>
            <a:off x="6775704" y="5742432"/>
            <a:ext cx="2057400" cy="329184"/>
          </a:xfrm>
          <a:prstGeom prst="rect">
            <a:avLst/>
          </a:prstGeom>
          <a:noFill/>
          <a:ln/>
        </p:spPr>
        <p:txBody>
          <a:bodyPr wrap="square" lIns="0" tIns="0" rIns="0" bIns="0" rtlCol="0" anchor="ctr"/>
          <a:lstStyle/>
          <a:p>
            <a:pPr indent="0" marL="0">
              <a:buNone/>
            </a:pPr>
            <a:r>
              <a:rPr lang="en-US" sz="1150" b="1" dirty="0">
                <a:solidFill>
                  <a:srgbClr val="1B2433"/>
                </a:solidFill>
                <a:latin typeface="Calibri" pitchFamily="34" charset="0"/>
                <a:ea typeface="Calibri" pitchFamily="34" charset="-122"/>
                <a:cs typeface="Calibri" pitchFamily="34" charset="-120"/>
              </a:rPr>
              <a:t>Marketplace</a:t>
            </a:r>
            <a:endParaRPr lang="en-US" sz="1150" dirty="0"/>
          </a:p>
        </p:txBody>
      </p:sp>
      <p:sp>
        <p:nvSpPr>
          <p:cNvPr id="75" name="Text 64"/>
          <p:cNvSpPr txBox="1"/>
          <p:nvPr/>
        </p:nvSpPr>
        <p:spPr>
          <a:xfrm>
            <a:off x="6391656" y="6071616"/>
            <a:ext cx="2432304" cy="566928"/>
          </a:xfrm>
          <a:prstGeom prst="rect">
            <a:avLst/>
          </a:prstGeom>
          <a:noFill/>
          <a:ln/>
        </p:spPr>
        <p:txBody>
          <a:bodyPr wrap="square" lIns="0" tIns="0" rIns="0" bIns="0" rtlCol="0" anchor="t"/>
          <a:lstStyle/>
          <a:p>
            <a:pPr indent="0" marL="0">
              <a:buNone/>
            </a:pPr>
            <a:r>
              <a:rPr lang="en-US" sz="950" dirty="0">
                <a:solidFill>
                  <a:srgbClr val="1B2433"/>
                </a:solidFill>
                <a:latin typeface="Calibri" pitchFamily="34" charset="0"/>
                <a:ea typeface="Calibri" pitchFamily="34" charset="-122"/>
                <a:cs typeface="Calibri" pitchFamily="34" charset="-120"/>
              </a:rPr>
              <a:t>A partner agent is installed with clear permissions. It soon finds $23,400 of freight overcharges.</a:t>
            </a:r>
            <a:endParaRPr lang="en-US" sz="950" dirty="0"/>
          </a:p>
        </p:txBody>
      </p:sp>
      <p:sp>
        <p:nvSpPr>
          <p:cNvPr id="76" name="Shape 65"/>
          <p:cNvSpPr/>
          <p:nvPr/>
        </p:nvSpPr>
        <p:spPr>
          <a:xfrm>
            <a:off x="9025128" y="5632704"/>
            <a:ext cx="2651760" cy="1033272"/>
          </a:xfrm>
          <a:prstGeom prst="roundRect">
            <a:avLst>
              <a:gd name="adj" fmla="val 10619"/>
            </a:avLst>
          </a:prstGeom>
          <a:solidFill>
            <a:srgbClr val="F6F8FB"/>
          </a:solidFill>
          <a:ln w="9525">
            <a:solidFill>
              <a:srgbClr val="F6F8FB"/>
            </a:solidFill>
            <a:prstDash val="solid"/>
          </a:ln>
        </p:spPr>
      </p:sp>
      <p:sp>
        <p:nvSpPr>
          <p:cNvPr id="77" name="Shape 66"/>
          <p:cNvSpPr/>
          <p:nvPr/>
        </p:nvSpPr>
        <p:spPr>
          <a:xfrm>
            <a:off x="9134856" y="5742432"/>
            <a:ext cx="329184" cy="329184"/>
          </a:xfrm>
          <a:prstGeom prst="ellipse">
            <a:avLst/>
          </a:prstGeom>
          <a:solidFill>
            <a:srgbClr val="FFFFFF"/>
          </a:solidFill>
          <a:ln w="12700">
            <a:solidFill>
              <a:srgbClr val="FFFFFF"/>
            </a:solidFill>
            <a:prstDash val="solid"/>
          </a:ln>
        </p:spPr>
      </p:sp>
      <p:pic>
        <p:nvPicPr>
          <p:cNvPr id="78" name="Image 9" descr="preencoded.png">    </p:cNvPr>
          <p:cNvPicPr>
            <a:picLocks noChangeAspect="1"/>
          </p:cNvPicPr>
          <p:nvPr/>
        </p:nvPicPr>
        <p:blipFill>
          <a:blip r:embed="rId10"/>
          <a:stretch>
            <a:fillRect/>
          </a:stretch>
        </p:blipFill>
        <p:spPr>
          <a:xfrm>
            <a:off x="9217152" y="5824728"/>
            <a:ext cx="164592" cy="164592"/>
          </a:xfrm>
          <a:prstGeom prst="rect">
            <a:avLst/>
          </a:prstGeom>
        </p:spPr>
      </p:pic>
      <p:sp>
        <p:nvSpPr>
          <p:cNvPr id="79" name="Text 67"/>
          <p:cNvSpPr txBox="1"/>
          <p:nvPr/>
        </p:nvSpPr>
        <p:spPr>
          <a:xfrm>
            <a:off x="9537192" y="5742432"/>
            <a:ext cx="2057400" cy="329184"/>
          </a:xfrm>
          <a:prstGeom prst="rect">
            <a:avLst/>
          </a:prstGeom>
          <a:noFill/>
          <a:ln/>
        </p:spPr>
        <p:txBody>
          <a:bodyPr wrap="square" lIns="0" tIns="0" rIns="0" bIns="0" rtlCol="0" anchor="ctr"/>
          <a:lstStyle/>
          <a:p>
            <a:pPr indent="0" marL="0">
              <a:buNone/>
            </a:pPr>
            <a:r>
              <a:rPr lang="en-US" sz="1150" b="1" dirty="0">
                <a:solidFill>
                  <a:srgbClr val="1B2433"/>
                </a:solidFill>
                <a:latin typeface="Calibri" pitchFamily="34" charset="0"/>
                <a:ea typeface="Calibri" pitchFamily="34" charset="-122"/>
                <a:cs typeface="Calibri" pitchFamily="34" charset="-120"/>
              </a:rPr>
              <a:t>Build and test</a:t>
            </a:r>
            <a:endParaRPr lang="en-US" sz="1150" dirty="0"/>
          </a:p>
        </p:txBody>
      </p:sp>
      <p:sp>
        <p:nvSpPr>
          <p:cNvPr id="80" name="Text 68"/>
          <p:cNvSpPr txBox="1"/>
          <p:nvPr/>
        </p:nvSpPr>
        <p:spPr>
          <a:xfrm>
            <a:off x="9153144" y="6071616"/>
            <a:ext cx="2432304" cy="566928"/>
          </a:xfrm>
          <a:prstGeom prst="rect">
            <a:avLst/>
          </a:prstGeom>
          <a:noFill/>
          <a:ln/>
        </p:spPr>
        <p:txBody>
          <a:bodyPr wrap="square" lIns="0" tIns="0" rIns="0" bIns="0" rtlCol="0" anchor="t"/>
          <a:lstStyle/>
          <a:p>
            <a:pPr indent="0" marL="0">
              <a:buNone/>
            </a:pPr>
            <a:r>
              <a:rPr lang="en-US" sz="950" dirty="0">
                <a:solidFill>
                  <a:srgbClr val="1B2433"/>
                </a:solidFill>
                <a:latin typeface="Calibri" pitchFamily="34" charset="0"/>
                <a:ea typeface="Calibri" pitchFamily="34" charset="-122"/>
                <a:cs typeface="Calibri" pitchFamily="34" charset="-120"/>
              </a:rPr>
              <a:t>A developer builds an agent from plain words. Tests catch a currency bug. With too little data the agent asks a human.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0040"/>
            <a:ext cx="11155680" cy="54864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Money, roadmap and how we measure success</a:t>
            </a:r>
            <a:endParaRPr lang="en-US" sz="2800" dirty="0"/>
          </a:p>
        </p:txBody>
      </p:sp>
      <p:sp>
        <p:nvSpPr>
          <p:cNvPr id="3" name="Shape 1"/>
          <p:cNvSpPr/>
          <p:nvPr/>
        </p:nvSpPr>
        <p:spPr>
          <a:xfrm>
            <a:off x="548640" y="1005840"/>
            <a:ext cx="3657600" cy="3063240"/>
          </a:xfrm>
          <a:prstGeom prst="roundRect">
            <a:avLst>
              <a:gd name="adj" fmla="val 3582"/>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4" name="Shape 2"/>
          <p:cNvSpPr/>
          <p:nvPr/>
        </p:nvSpPr>
        <p:spPr>
          <a:xfrm>
            <a:off x="731520" y="1170432"/>
            <a:ext cx="457200" cy="457200"/>
          </a:xfrm>
          <a:prstGeom prst="ellipse">
            <a:avLst/>
          </a:prstGeom>
          <a:solidFill>
            <a:srgbClr val="FDF3E3"/>
          </a:solidFill>
          <a:ln w="12700">
            <a:solidFill>
              <a:srgbClr val="FDF3E3"/>
            </a:solidFill>
            <a:prstDash val="solid"/>
          </a:ln>
        </p:spPr>
      </p:sp>
      <p:pic>
        <p:nvPicPr>
          <p:cNvPr id="5" name="Image 0" descr="preencoded.png">    </p:cNvPr>
          <p:cNvPicPr>
            <a:picLocks noChangeAspect="1"/>
          </p:cNvPicPr>
          <p:nvPr/>
        </p:nvPicPr>
        <p:blipFill>
          <a:blip r:embed="rId1"/>
          <a:stretch>
            <a:fillRect/>
          </a:stretch>
        </p:blipFill>
        <p:spPr>
          <a:xfrm>
            <a:off x="845820" y="1284732"/>
            <a:ext cx="228600" cy="228600"/>
          </a:xfrm>
          <a:prstGeom prst="rect">
            <a:avLst/>
          </a:prstGeom>
        </p:spPr>
      </p:pic>
      <p:sp>
        <p:nvSpPr>
          <p:cNvPr id="6" name="Text 3"/>
          <p:cNvSpPr txBox="1"/>
          <p:nvPr/>
        </p:nvSpPr>
        <p:spPr>
          <a:xfrm>
            <a:off x="1298448" y="1216152"/>
            <a:ext cx="2743200" cy="36576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Five ways Intuit earns</a:t>
            </a:r>
            <a:endParaRPr lang="en-US" sz="1500" dirty="0"/>
          </a:p>
        </p:txBody>
      </p:sp>
      <p:sp>
        <p:nvSpPr>
          <p:cNvPr id="7" name="Text 4"/>
          <p:cNvSpPr txBox="1"/>
          <p:nvPr/>
        </p:nvSpPr>
        <p:spPr>
          <a:xfrm>
            <a:off x="731520" y="1737360"/>
            <a:ext cx="3337560" cy="19202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B2433"/>
                </a:solidFill>
                <a:latin typeface="Calibri" pitchFamily="34" charset="0"/>
                <a:ea typeface="Calibri" pitchFamily="34" charset="-122"/>
                <a:cs typeface="Calibri" pitchFamily="34" charset="-120"/>
              </a:rPr>
              <a:t>Customers keep paying the normal IES subscription.</a:t>
            </a:r>
            <a:endParaRPr lang="en-US" sz="1100" dirty="0"/>
          </a:p>
          <a:p>
            <a:pPr marL="342900" indent="-342900">
              <a:spcAft>
                <a:spcPts val="300"/>
              </a:spcAft>
              <a:buSzPct val="100000"/>
              <a:buChar char="•"/>
            </a:pPr>
            <a:r>
              <a:rPr lang="en-US" sz="1100" dirty="0">
                <a:solidFill>
                  <a:srgbClr val="1B2433"/>
                </a:solidFill>
                <a:latin typeface="Calibri" pitchFamily="34" charset="0"/>
                <a:ea typeface="Calibri" pitchFamily="34" charset="-122"/>
                <a:cs typeface="Calibri" pitchFamily="34" charset="-120"/>
              </a:rPr>
              <a:t>Heavy use of AI agents is charged above an included amount.</a:t>
            </a:r>
            <a:endParaRPr lang="en-US" sz="1100" dirty="0"/>
          </a:p>
          <a:p>
            <a:pPr marL="342900" indent="-342900">
              <a:spcAft>
                <a:spcPts val="300"/>
              </a:spcAft>
              <a:buSzPct val="100000"/>
              <a:buChar char="•"/>
            </a:pPr>
            <a:r>
              <a:rPr lang="en-US" sz="1100" dirty="0">
                <a:solidFill>
                  <a:srgbClr val="1B2433"/>
                </a:solidFill>
                <a:latin typeface="Calibri" pitchFamily="34" charset="0"/>
                <a:ea typeface="Calibri" pitchFamily="34" charset="-122"/>
                <a:cs typeface="Calibri" pitchFamily="34" charset="-120"/>
              </a:rPr>
              <a:t>Developers pay for API use beyond a free level.</a:t>
            </a:r>
            <a:endParaRPr lang="en-US" sz="1100" dirty="0"/>
          </a:p>
          <a:p>
            <a:pPr marL="342900" indent="-342900">
              <a:spcAft>
                <a:spcPts val="300"/>
              </a:spcAft>
              <a:buSzPct val="100000"/>
              <a:buChar char="•"/>
            </a:pPr>
            <a:r>
              <a:rPr lang="en-US" sz="1100" dirty="0">
                <a:solidFill>
                  <a:srgbClr val="1B2433"/>
                </a:solidFill>
                <a:latin typeface="Calibri" pitchFamily="34" charset="0"/>
                <a:ea typeface="Calibri" pitchFamily="34" charset="-122"/>
                <a:cs typeface="Calibri" pitchFamily="34" charset="-120"/>
              </a:rPr>
              <a:t>Intuit keeps a share of every marketplace sale.</a:t>
            </a:r>
            <a:endParaRPr lang="en-US" sz="1100" dirty="0"/>
          </a:p>
          <a:p>
            <a:pPr marL="342900" indent="-342900">
              <a:spcAft>
                <a:spcPts val="300"/>
              </a:spcAft>
              <a:buSzPct val="100000"/>
              <a:buChar char="•"/>
            </a:pPr>
            <a:r>
              <a:rPr lang="en-US" sz="1100" dirty="0">
                <a:solidFill>
                  <a:srgbClr val="1B2433"/>
                </a:solidFill>
                <a:latin typeface="Calibri" pitchFamily="34" charset="0"/>
                <a:ea typeface="Calibri" pitchFamily="34" charset="-122"/>
                <a:cs typeface="Calibri" pitchFamily="34" charset="-120"/>
              </a:rPr>
              <a:t>Expert help is sold per case or per session.</a:t>
            </a:r>
            <a:endParaRPr lang="en-US" sz="1100" dirty="0"/>
          </a:p>
        </p:txBody>
      </p:sp>
      <p:sp>
        <p:nvSpPr>
          <p:cNvPr id="8" name="Text 5"/>
          <p:cNvSpPr txBox="1"/>
          <p:nvPr/>
        </p:nvSpPr>
        <p:spPr>
          <a:xfrm>
            <a:off x="731520" y="3749040"/>
            <a:ext cx="3337560" cy="274320"/>
          </a:xfrm>
          <a:prstGeom prst="rect">
            <a:avLst/>
          </a:prstGeom>
          <a:noFill/>
          <a:ln/>
        </p:spPr>
        <p:txBody>
          <a:bodyPr wrap="square" lIns="0" tIns="0" rIns="0" bIns="0" rtlCol="0" anchor="t"/>
          <a:lstStyle/>
          <a:p>
            <a:pPr indent="0" marL="0">
              <a:buNone/>
            </a:pPr>
            <a:r>
              <a:rPr lang="en-US" sz="1000" i="1" dirty="0">
                <a:solidFill>
                  <a:srgbClr val="5B6576"/>
                </a:solidFill>
                <a:latin typeface="Calibri" pitchFamily="34" charset="0"/>
                <a:ea typeface="Calibri" pitchFamily="34" charset="-122"/>
                <a:cs typeface="Calibri" pitchFamily="34" charset="-120"/>
              </a:rPr>
              <a:t>All prices in the prototype are examples only.</a:t>
            </a:r>
            <a:endParaRPr lang="en-US" sz="1000" dirty="0"/>
          </a:p>
        </p:txBody>
      </p:sp>
      <p:sp>
        <p:nvSpPr>
          <p:cNvPr id="9" name="Shape 6"/>
          <p:cNvSpPr/>
          <p:nvPr/>
        </p:nvSpPr>
        <p:spPr>
          <a:xfrm>
            <a:off x="4343400" y="1005840"/>
            <a:ext cx="3657600" cy="3063240"/>
          </a:xfrm>
          <a:prstGeom prst="roundRect">
            <a:avLst>
              <a:gd name="adj" fmla="val 3582"/>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10" name="Shape 7"/>
          <p:cNvSpPr/>
          <p:nvPr/>
        </p:nvSpPr>
        <p:spPr>
          <a:xfrm>
            <a:off x="4526280" y="1170432"/>
            <a:ext cx="457200" cy="457200"/>
          </a:xfrm>
          <a:prstGeom prst="ellipse">
            <a:avLst/>
          </a:prstGeom>
          <a:solidFill>
            <a:srgbClr val="E8EDFC"/>
          </a:solidFill>
          <a:ln w="12700">
            <a:solidFill>
              <a:srgbClr val="E8EDFC"/>
            </a:solidFill>
            <a:prstDash val="solid"/>
          </a:ln>
        </p:spPr>
      </p:sp>
      <p:pic>
        <p:nvPicPr>
          <p:cNvPr id="11" name="Image 1" descr="preencoded.png">    </p:cNvPr>
          <p:cNvPicPr>
            <a:picLocks noChangeAspect="1"/>
          </p:cNvPicPr>
          <p:nvPr/>
        </p:nvPicPr>
        <p:blipFill>
          <a:blip r:embed="rId2"/>
          <a:stretch>
            <a:fillRect/>
          </a:stretch>
        </p:blipFill>
        <p:spPr>
          <a:xfrm>
            <a:off x="4640580" y="1284732"/>
            <a:ext cx="228600" cy="228600"/>
          </a:xfrm>
          <a:prstGeom prst="rect">
            <a:avLst/>
          </a:prstGeom>
        </p:spPr>
      </p:pic>
      <p:sp>
        <p:nvSpPr>
          <p:cNvPr id="12" name="Text 8"/>
          <p:cNvSpPr txBox="1"/>
          <p:nvPr/>
        </p:nvSpPr>
        <p:spPr>
          <a:xfrm>
            <a:off x="5093208" y="1216152"/>
            <a:ext cx="2743200" cy="36576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Why IES can win</a:t>
            </a:r>
            <a:endParaRPr lang="en-US" sz="1500" dirty="0"/>
          </a:p>
        </p:txBody>
      </p:sp>
      <p:sp>
        <p:nvSpPr>
          <p:cNvPr id="13" name="Text 9"/>
          <p:cNvSpPr txBox="1"/>
          <p:nvPr/>
        </p:nvSpPr>
        <p:spPr>
          <a:xfrm>
            <a:off x="4526280" y="1737360"/>
            <a:ext cx="3337560" cy="2240280"/>
          </a:xfrm>
          <a:prstGeom prst="rect">
            <a:avLst/>
          </a:prstGeom>
          <a:noFill/>
          <a:ln/>
        </p:spPr>
        <p:txBody>
          <a:bodyPr wrap="square" lIns="0" tIns="0" rIns="0" bIns="0" rtlCol="0" anchor="t"/>
          <a:lstStyle/>
          <a:p>
            <a:pPr indent="0" marL="0">
              <a:spcAft>
                <a:spcPts val="600"/>
              </a:spcAft>
              <a:buNone/>
            </a:pPr>
            <a:r>
              <a:rPr lang="en-US" sz="1150" dirty="0">
                <a:solidFill>
                  <a:srgbClr val="1B2433"/>
                </a:solidFill>
                <a:latin typeface="Calibri" pitchFamily="34" charset="0"/>
                <a:ea typeface="Calibri" pitchFamily="34" charset="-122"/>
                <a:cs typeface="Calibri" pitchFamily="34" charset="-120"/>
              </a:rPr>
              <a:t>The case names NetSuite, SAP, Workday and new AI firms. I chose not to invent facts about them.</a:t>
            </a:r>
            <a:endParaRPr lang="en-US" sz="1150" dirty="0"/>
          </a:p>
          <a:p>
            <a:pPr indent="0" marL="0">
              <a:spcAft>
                <a:spcPts val="600"/>
              </a:spcAft>
              <a:buNone/>
            </a:pPr>
            <a:r>
              <a:rPr lang="en-US" sz="1150" dirty="0">
                <a:solidFill>
                  <a:srgbClr val="1B2433"/>
                </a:solidFill>
                <a:latin typeface="Calibri" pitchFamily="34" charset="0"/>
                <a:ea typeface="Calibri" pitchFamily="34" charset="-122"/>
                <a:cs typeface="Calibri" pitchFamily="34" charset="-120"/>
              </a:rPr>
              <a:t>My bet is on a mix that is hard to copy. IES holds finance, payroll and sales data in one place. Its agents act inside clear rules. Experts are built in. Developers can sell to IES customers. Trust is visible on every screen.</a:t>
            </a:r>
            <a:endParaRPr lang="en-US" sz="1150" dirty="0"/>
          </a:p>
          <a:p>
            <a:pPr indent="0" marL="0">
              <a:spcAft>
                <a:spcPts val="600"/>
              </a:spcAft>
              <a:buNone/>
            </a:pPr>
            <a:r>
              <a:rPr lang="en-US" sz="1150" dirty="0">
                <a:solidFill>
                  <a:srgbClr val="1B2433"/>
                </a:solidFill>
                <a:latin typeface="Calibri" pitchFamily="34" charset="0"/>
                <a:ea typeface="Calibri" pitchFamily="34" charset="-122"/>
                <a:cs typeface="Calibri" pitchFamily="34" charset="-120"/>
              </a:rPr>
              <a:t>I would check this bet through win and loss interviews.</a:t>
            </a:r>
            <a:endParaRPr lang="en-US" sz="1150" dirty="0"/>
          </a:p>
        </p:txBody>
      </p:sp>
      <p:sp>
        <p:nvSpPr>
          <p:cNvPr id="14" name="Shape 10"/>
          <p:cNvSpPr/>
          <p:nvPr/>
        </p:nvSpPr>
        <p:spPr>
          <a:xfrm>
            <a:off x="8138160" y="1005840"/>
            <a:ext cx="3520440" cy="3063240"/>
          </a:xfrm>
          <a:prstGeom prst="roundRect">
            <a:avLst>
              <a:gd name="adj" fmla="val 3582"/>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15" name="Shape 11"/>
          <p:cNvSpPr/>
          <p:nvPr/>
        </p:nvSpPr>
        <p:spPr>
          <a:xfrm>
            <a:off x="8321040" y="1170432"/>
            <a:ext cx="457200" cy="457200"/>
          </a:xfrm>
          <a:prstGeom prst="ellipse">
            <a:avLst/>
          </a:prstGeom>
          <a:solidFill>
            <a:srgbClr val="E3F5F2"/>
          </a:solidFill>
          <a:ln w="12700">
            <a:solidFill>
              <a:srgbClr val="E3F5F2"/>
            </a:solidFill>
            <a:prstDash val="solid"/>
          </a:ln>
        </p:spPr>
      </p:sp>
      <p:pic>
        <p:nvPicPr>
          <p:cNvPr id="16" name="Image 2" descr="preencoded.png">    </p:cNvPr>
          <p:cNvPicPr>
            <a:picLocks noChangeAspect="1"/>
          </p:cNvPicPr>
          <p:nvPr/>
        </p:nvPicPr>
        <p:blipFill>
          <a:blip r:embed="rId3"/>
          <a:stretch>
            <a:fillRect/>
          </a:stretch>
        </p:blipFill>
        <p:spPr>
          <a:xfrm>
            <a:off x="8435340" y="1284732"/>
            <a:ext cx="228600" cy="228600"/>
          </a:xfrm>
          <a:prstGeom prst="rect">
            <a:avLst/>
          </a:prstGeom>
        </p:spPr>
      </p:pic>
      <p:sp>
        <p:nvSpPr>
          <p:cNvPr id="17" name="Text 12"/>
          <p:cNvSpPr txBox="1"/>
          <p:nvPr/>
        </p:nvSpPr>
        <p:spPr>
          <a:xfrm>
            <a:off x="8887968" y="1216152"/>
            <a:ext cx="2651760" cy="36576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How we know it works</a:t>
            </a:r>
            <a:endParaRPr lang="en-US" sz="1500" dirty="0"/>
          </a:p>
        </p:txBody>
      </p:sp>
      <p:sp>
        <p:nvSpPr>
          <p:cNvPr id="18" name="Text 13"/>
          <p:cNvSpPr txBox="1"/>
          <p:nvPr/>
        </p:nvSpPr>
        <p:spPr>
          <a:xfrm>
            <a:off x="8321040" y="1737360"/>
            <a:ext cx="3200400" cy="2286000"/>
          </a:xfrm>
          <a:prstGeom prst="rect">
            <a:avLst/>
          </a:prstGeom>
          <a:noFill/>
          <a:ln/>
        </p:spPr>
        <p:txBody>
          <a:bodyPr wrap="square" lIns="0" tIns="0" rIns="0" bIns="0" rtlCol="0" anchor="t"/>
          <a:lstStyle/>
          <a:p>
            <a:pPr indent="0" marL="0">
              <a:spcAft>
                <a:spcPts val="600"/>
              </a:spcAft>
              <a:buNone/>
            </a:pPr>
            <a:r>
              <a:rPr lang="en-US" sz="1150" b="1" dirty="0">
                <a:solidFill>
                  <a:srgbClr val="1B2433"/>
                </a:solidFill>
                <a:latin typeface="Calibri" pitchFamily="34" charset="0"/>
                <a:ea typeface="Calibri" pitchFamily="34" charset="-122"/>
                <a:cs typeface="Calibri" pitchFamily="34" charset="-120"/>
              </a:rPr>
              <a:t>Main goal: </a:t>
            </a:r>
            <a:pPr indent="0" marL="0">
              <a:spcAft>
                <a:spcPts val="600"/>
              </a:spcAft>
              <a:buNone/>
            </a:pPr>
            <a:r>
              <a:rPr lang="en-US" sz="1150" dirty="0">
                <a:solidFill>
                  <a:srgbClr val="1B2433"/>
                </a:solidFill>
                <a:latin typeface="Calibri" pitchFamily="34" charset="0"/>
                <a:ea typeface="Calibri" pitchFamily="34" charset="-122"/>
                <a:cs typeface="Calibri" pitchFamily="34" charset="-120"/>
              </a:rPr>
              <a:t>count the hours of finance work agents finish with proof and without a human fixing it.</a:t>
            </a:r>
            <a:endParaRPr lang="en-US" sz="1150" dirty="0"/>
          </a:p>
          <a:p>
            <a:pPr indent="0" marL="0">
              <a:spcAft>
                <a:spcPts val="600"/>
              </a:spcAft>
              <a:buNone/>
            </a:pPr>
            <a:r>
              <a:rPr lang="en-US" sz="1150" dirty="0">
                <a:solidFill>
                  <a:srgbClr val="1B2433"/>
                </a:solidFill>
                <a:latin typeface="Calibri" pitchFamily="34" charset="0"/>
                <a:ea typeface="Calibri" pitchFamily="34" charset="-122"/>
                <a:cs typeface="Calibri" pitchFamily="34" charset="-120"/>
              </a:rPr>
              <a:t>We also track close speed, how often people override the AI, developers joined, agents installed and ecosystem revenue.</a:t>
            </a:r>
            <a:endParaRPr lang="en-US" sz="1150" dirty="0"/>
          </a:p>
          <a:p>
            <a:pPr indent="0" marL="0">
              <a:spcAft>
                <a:spcPts val="600"/>
              </a:spcAft>
              <a:buNone/>
            </a:pPr>
            <a:r>
              <a:rPr lang="en-US" sz="1150" b="1" dirty="0">
                <a:solidFill>
                  <a:srgbClr val="1B2433"/>
                </a:solidFill>
                <a:latin typeface="Calibri" pitchFamily="34" charset="0"/>
                <a:ea typeface="Calibri" pitchFamily="34" charset="-122"/>
                <a:cs typeface="Calibri" pitchFamily="34" charset="-120"/>
              </a:rPr>
              <a:t>Riskiest belief: </a:t>
            </a:r>
            <a:pPr indent="0" marL="0">
              <a:spcAft>
                <a:spcPts val="600"/>
              </a:spcAft>
              <a:buNone/>
            </a:pPr>
            <a:r>
              <a:rPr lang="en-US" sz="1150" dirty="0">
                <a:solidFill>
                  <a:srgbClr val="1B2433"/>
                </a:solidFill>
                <a:latin typeface="Calibri" pitchFamily="34" charset="0"/>
                <a:ea typeface="Calibri" pitchFamily="34" charset="-122"/>
                <a:cs typeface="Calibri" pitchFamily="34" charset="-120"/>
              </a:rPr>
              <a:t>controllers will approve work that an agent prepared. I would test this first with 8 controllers and this prototype.</a:t>
            </a:r>
            <a:endParaRPr lang="en-US" sz="1150" dirty="0"/>
          </a:p>
        </p:txBody>
      </p:sp>
      <p:sp>
        <p:nvSpPr>
          <p:cNvPr id="19" name="Text 14"/>
          <p:cNvSpPr txBox="1"/>
          <p:nvPr/>
        </p:nvSpPr>
        <p:spPr>
          <a:xfrm>
            <a:off x="548640" y="4251960"/>
            <a:ext cx="548640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Roadmap in four steps</a:t>
            </a:r>
            <a:endParaRPr lang="en-US" sz="1400" dirty="0"/>
          </a:p>
        </p:txBody>
      </p:sp>
      <p:sp>
        <p:nvSpPr>
          <p:cNvPr id="20" name="Shape 15"/>
          <p:cNvSpPr/>
          <p:nvPr/>
        </p:nvSpPr>
        <p:spPr>
          <a:xfrm>
            <a:off x="731520" y="4828032"/>
            <a:ext cx="10698480" cy="0"/>
          </a:xfrm>
          <a:prstGeom prst="line">
            <a:avLst/>
          </a:prstGeom>
          <a:noFill/>
          <a:ln w="25400">
            <a:solidFill>
              <a:srgbClr val="DDE3EA"/>
            </a:solidFill>
            <a:prstDash val="solid"/>
          </a:ln>
        </p:spPr>
      </p:sp>
      <p:sp>
        <p:nvSpPr>
          <p:cNvPr id="21" name="Shape 16"/>
          <p:cNvSpPr/>
          <p:nvPr/>
        </p:nvSpPr>
        <p:spPr>
          <a:xfrm>
            <a:off x="658368" y="4709160"/>
            <a:ext cx="237744" cy="237744"/>
          </a:xfrm>
          <a:prstGeom prst="ellipse">
            <a:avLst/>
          </a:prstGeom>
          <a:solidFill>
            <a:srgbClr val="14213D"/>
          </a:solidFill>
          <a:ln w="19050">
            <a:solidFill>
              <a:srgbClr val="FFFFFF"/>
            </a:solidFill>
            <a:prstDash val="solid"/>
          </a:ln>
        </p:spPr>
      </p:sp>
      <p:sp>
        <p:nvSpPr>
          <p:cNvPr id="22" name="Text 17"/>
          <p:cNvSpPr txBox="1"/>
          <p:nvPr/>
        </p:nvSpPr>
        <p:spPr>
          <a:xfrm>
            <a:off x="1005840" y="4681728"/>
            <a:ext cx="2194560" cy="274320"/>
          </a:xfrm>
          <a:prstGeom prst="rect">
            <a:avLst/>
          </a:prstGeom>
          <a:noFill/>
          <a:ln/>
        </p:spPr>
        <p:txBody>
          <a:bodyPr wrap="square" lIns="0" tIns="0" rIns="0" bIns="0" rtlCol="0" anchor="t"/>
          <a:lstStyle/>
          <a:p>
            <a:pPr indent="0" marL="0">
              <a:buNone/>
            </a:pPr>
            <a:r>
              <a:rPr lang="en-US" sz="1050" b="1" dirty="0">
                <a:solidFill>
                  <a:srgbClr val="5B6576"/>
                </a:solidFill>
                <a:latin typeface="Calibri" pitchFamily="34" charset="0"/>
                <a:ea typeface="Calibri" pitchFamily="34" charset="-122"/>
                <a:cs typeface="Calibri" pitchFamily="34" charset="-120"/>
              </a:rPr>
              <a:t>0 to 3 months</a:t>
            </a:r>
            <a:endParaRPr lang="en-US" sz="1050" dirty="0"/>
          </a:p>
        </p:txBody>
      </p:sp>
      <p:sp>
        <p:nvSpPr>
          <p:cNvPr id="23" name="Text 18"/>
          <p:cNvSpPr txBox="1"/>
          <p:nvPr/>
        </p:nvSpPr>
        <p:spPr>
          <a:xfrm>
            <a:off x="548640" y="5047488"/>
            <a:ext cx="2651760" cy="274320"/>
          </a:xfrm>
          <a:prstGeom prst="rect">
            <a:avLst/>
          </a:prstGeom>
          <a:noFill/>
          <a:ln/>
        </p:spPr>
        <p:txBody>
          <a:bodyPr wrap="square" lIns="0" tIns="0" rIns="0" bIns="0" rtlCol="0" anchor="t"/>
          <a:lstStyle/>
          <a:p>
            <a:pPr indent="0" marL="0">
              <a:buNone/>
            </a:pPr>
            <a:r>
              <a:rPr lang="en-US" sz="1300" b="1" dirty="0">
                <a:solidFill>
                  <a:srgbClr val="1B2433"/>
                </a:solidFill>
                <a:latin typeface="Calibri" pitchFamily="34" charset="0"/>
                <a:ea typeface="Calibri" pitchFamily="34" charset="-122"/>
                <a:cs typeface="Calibri" pitchFamily="34" charset="-120"/>
              </a:rPr>
              <a:t>Validate</a:t>
            </a:r>
            <a:endParaRPr lang="en-US" sz="1300" dirty="0"/>
          </a:p>
        </p:txBody>
      </p:sp>
      <p:sp>
        <p:nvSpPr>
          <p:cNvPr id="24" name="Text 19"/>
          <p:cNvSpPr txBox="1"/>
          <p:nvPr/>
        </p:nvSpPr>
        <p:spPr>
          <a:xfrm>
            <a:off x="548640" y="5349240"/>
            <a:ext cx="2606040" cy="64008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Talk to finance leaders and developers. Test this prototype with them.</a:t>
            </a:r>
            <a:endParaRPr lang="en-US" sz="1100" dirty="0"/>
          </a:p>
        </p:txBody>
      </p:sp>
      <p:sp>
        <p:nvSpPr>
          <p:cNvPr id="25" name="Shape 20"/>
          <p:cNvSpPr/>
          <p:nvPr/>
        </p:nvSpPr>
        <p:spPr>
          <a:xfrm>
            <a:off x="3447288" y="4709160"/>
            <a:ext cx="237744" cy="237744"/>
          </a:xfrm>
          <a:prstGeom prst="ellipse">
            <a:avLst/>
          </a:prstGeom>
          <a:solidFill>
            <a:srgbClr val="0F9D8A"/>
          </a:solidFill>
          <a:ln w="19050">
            <a:solidFill>
              <a:srgbClr val="FFFFFF"/>
            </a:solidFill>
            <a:prstDash val="solid"/>
          </a:ln>
        </p:spPr>
      </p:sp>
      <p:sp>
        <p:nvSpPr>
          <p:cNvPr id="26" name="Text 21"/>
          <p:cNvSpPr txBox="1"/>
          <p:nvPr/>
        </p:nvSpPr>
        <p:spPr>
          <a:xfrm>
            <a:off x="3794760" y="4681728"/>
            <a:ext cx="2194560" cy="274320"/>
          </a:xfrm>
          <a:prstGeom prst="rect">
            <a:avLst/>
          </a:prstGeom>
          <a:noFill/>
          <a:ln/>
        </p:spPr>
        <p:txBody>
          <a:bodyPr wrap="square" lIns="0" tIns="0" rIns="0" bIns="0" rtlCol="0" anchor="t"/>
          <a:lstStyle/>
          <a:p>
            <a:pPr indent="0" marL="0">
              <a:buNone/>
            </a:pPr>
            <a:r>
              <a:rPr lang="en-US" sz="1050" b="1" dirty="0">
                <a:solidFill>
                  <a:srgbClr val="0F9D8A"/>
                </a:solidFill>
                <a:latin typeface="Calibri" pitchFamily="34" charset="0"/>
                <a:ea typeface="Calibri" pitchFamily="34" charset="-122"/>
                <a:cs typeface="Calibri" pitchFamily="34" charset="-120"/>
              </a:rPr>
              <a:t>3 to 9 months</a:t>
            </a:r>
            <a:endParaRPr lang="en-US" sz="1050" dirty="0"/>
          </a:p>
        </p:txBody>
      </p:sp>
      <p:sp>
        <p:nvSpPr>
          <p:cNvPr id="27" name="Text 22"/>
          <p:cNvSpPr txBox="1"/>
          <p:nvPr/>
        </p:nvSpPr>
        <p:spPr>
          <a:xfrm>
            <a:off x="3337560" y="5047488"/>
            <a:ext cx="2651760" cy="274320"/>
          </a:xfrm>
          <a:prstGeom prst="rect">
            <a:avLst/>
          </a:prstGeom>
          <a:noFill/>
          <a:ln/>
        </p:spPr>
        <p:txBody>
          <a:bodyPr wrap="square" lIns="0" tIns="0" rIns="0" bIns="0" rtlCol="0" anchor="t"/>
          <a:lstStyle/>
          <a:p>
            <a:pPr indent="0" marL="0">
              <a:buNone/>
            </a:pPr>
            <a:r>
              <a:rPr lang="en-US" sz="1300" b="1" dirty="0">
                <a:solidFill>
                  <a:srgbClr val="1B2433"/>
                </a:solidFill>
                <a:latin typeface="Calibri" pitchFamily="34" charset="0"/>
                <a:ea typeface="Calibri" pitchFamily="34" charset="-122"/>
                <a:cs typeface="Calibri" pitchFamily="34" charset="-120"/>
              </a:rPr>
              <a:t>First version</a:t>
            </a:r>
            <a:endParaRPr lang="en-US" sz="1300" dirty="0"/>
          </a:p>
        </p:txBody>
      </p:sp>
      <p:sp>
        <p:nvSpPr>
          <p:cNvPr id="28" name="Text 23"/>
          <p:cNvSpPr txBox="1"/>
          <p:nvPr/>
        </p:nvSpPr>
        <p:spPr>
          <a:xfrm>
            <a:off x="3337560" y="5349240"/>
            <a:ext cx="2606040" cy="64008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Launch the close agent with Assist and Approve. Add the Trust Center and core APIs.</a:t>
            </a:r>
            <a:endParaRPr lang="en-US" sz="1100" dirty="0"/>
          </a:p>
        </p:txBody>
      </p:sp>
      <p:sp>
        <p:nvSpPr>
          <p:cNvPr id="29" name="Shape 24"/>
          <p:cNvSpPr/>
          <p:nvPr/>
        </p:nvSpPr>
        <p:spPr>
          <a:xfrm>
            <a:off x="6236208" y="4709160"/>
            <a:ext cx="237744" cy="237744"/>
          </a:xfrm>
          <a:prstGeom prst="ellipse">
            <a:avLst/>
          </a:prstGeom>
          <a:solidFill>
            <a:srgbClr val="14213D"/>
          </a:solidFill>
          <a:ln w="19050">
            <a:solidFill>
              <a:srgbClr val="FFFFFF"/>
            </a:solidFill>
            <a:prstDash val="solid"/>
          </a:ln>
        </p:spPr>
      </p:sp>
      <p:sp>
        <p:nvSpPr>
          <p:cNvPr id="30" name="Text 25"/>
          <p:cNvSpPr txBox="1"/>
          <p:nvPr/>
        </p:nvSpPr>
        <p:spPr>
          <a:xfrm>
            <a:off x="6583680" y="4681728"/>
            <a:ext cx="2194560" cy="274320"/>
          </a:xfrm>
          <a:prstGeom prst="rect">
            <a:avLst/>
          </a:prstGeom>
          <a:noFill/>
          <a:ln/>
        </p:spPr>
        <p:txBody>
          <a:bodyPr wrap="square" lIns="0" tIns="0" rIns="0" bIns="0" rtlCol="0" anchor="t"/>
          <a:lstStyle/>
          <a:p>
            <a:pPr indent="0" marL="0">
              <a:buNone/>
            </a:pPr>
            <a:r>
              <a:rPr lang="en-US" sz="1050" b="1" dirty="0">
                <a:solidFill>
                  <a:srgbClr val="5B6576"/>
                </a:solidFill>
                <a:latin typeface="Calibri" pitchFamily="34" charset="0"/>
                <a:ea typeface="Calibri" pitchFamily="34" charset="-122"/>
                <a:cs typeface="Calibri" pitchFamily="34" charset="-120"/>
              </a:rPr>
              <a:t>9 to 18 months</a:t>
            </a:r>
            <a:endParaRPr lang="en-US" sz="1050" dirty="0"/>
          </a:p>
        </p:txBody>
      </p:sp>
      <p:sp>
        <p:nvSpPr>
          <p:cNvPr id="31" name="Text 26"/>
          <p:cNvSpPr txBox="1"/>
          <p:nvPr/>
        </p:nvSpPr>
        <p:spPr>
          <a:xfrm>
            <a:off x="6126480" y="5047488"/>
            <a:ext cx="2651760" cy="274320"/>
          </a:xfrm>
          <a:prstGeom prst="rect">
            <a:avLst/>
          </a:prstGeom>
          <a:noFill/>
          <a:ln/>
        </p:spPr>
        <p:txBody>
          <a:bodyPr wrap="square" lIns="0" tIns="0" rIns="0" bIns="0" rtlCol="0" anchor="t"/>
          <a:lstStyle/>
          <a:p>
            <a:pPr indent="0" marL="0">
              <a:buNone/>
            </a:pPr>
            <a:r>
              <a:rPr lang="en-US" sz="1300" b="1" dirty="0">
                <a:solidFill>
                  <a:srgbClr val="1B2433"/>
                </a:solidFill>
                <a:latin typeface="Calibri" pitchFamily="34" charset="0"/>
                <a:ea typeface="Calibri" pitchFamily="34" charset="-122"/>
                <a:cs typeface="Calibri" pitchFamily="34" charset="-120"/>
              </a:rPr>
              <a:t>Expand</a:t>
            </a:r>
            <a:endParaRPr lang="en-US" sz="1300" dirty="0"/>
          </a:p>
        </p:txBody>
      </p:sp>
      <p:sp>
        <p:nvSpPr>
          <p:cNvPr id="32" name="Text 27"/>
          <p:cNvSpPr txBox="1"/>
          <p:nvPr/>
        </p:nvSpPr>
        <p:spPr>
          <a:xfrm>
            <a:off x="6126480" y="5349240"/>
            <a:ext cx="2606040" cy="64008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Add the what-if lab, compliance help, the expert network and the full marketplace.</a:t>
            </a:r>
            <a:endParaRPr lang="en-US" sz="1100" dirty="0"/>
          </a:p>
        </p:txBody>
      </p:sp>
      <p:sp>
        <p:nvSpPr>
          <p:cNvPr id="33" name="Shape 28"/>
          <p:cNvSpPr/>
          <p:nvPr/>
        </p:nvSpPr>
        <p:spPr>
          <a:xfrm>
            <a:off x="9025128" y="4709160"/>
            <a:ext cx="237744" cy="237744"/>
          </a:xfrm>
          <a:prstGeom prst="ellipse">
            <a:avLst/>
          </a:prstGeom>
          <a:solidFill>
            <a:srgbClr val="14213D"/>
          </a:solidFill>
          <a:ln w="19050">
            <a:solidFill>
              <a:srgbClr val="FFFFFF"/>
            </a:solidFill>
            <a:prstDash val="solid"/>
          </a:ln>
        </p:spPr>
      </p:sp>
      <p:sp>
        <p:nvSpPr>
          <p:cNvPr id="34" name="Text 29"/>
          <p:cNvSpPr txBox="1"/>
          <p:nvPr/>
        </p:nvSpPr>
        <p:spPr>
          <a:xfrm>
            <a:off x="9372600" y="4681728"/>
            <a:ext cx="2194560" cy="274320"/>
          </a:xfrm>
          <a:prstGeom prst="rect">
            <a:avLst/>
          </a:prstGeom>
          <a:noFill/>
          <a:ln/>
        </p:spPr>
        <p:txBody>
          <a:bodyPr wrap="square" lIns="0" tIns="0" rIns="0" bIns="0" rtlCol="0" anchor="t"/>
          <a:lstStyle/>
          <a:p>
            <a:pPr indent="0" marL="0">
              <a:buNone/>
            </a:pPr>
            <a:r>
              <a:rPr lang="en-US" sz="1050" b="1" dirty="0">
                <a:solidFill>
                  <a:srgbClr val="5B6576"/>
                </a:solidFill>
                <a:latin typeface="Calibri" pitchFamily="34" charset="0"/>
                <a:ea typeface="Calibri" pitchFamily="34" charset="-122"/>
                <a:cs typeface="Calibri" pitchFamily="34" charset="-120"/>
              </a:rPr>
              <a:t>18 months on</a:t>
            </a:r>
            <a:endParaRPr lang="en-US" sz="1050" dirty="0"/>
          </a:p>
        </p:txBody>
      </p:sp>
      <p:sp>
        <p:nvSpPr>
          <p:cNvPr id="35" name="Text 30"/>
          <p:cNvSpPr txBox="1"/>
          <p:nvPr/>
        </p:nvSpPr>
        <p:spPr>
          <a:xfrm>
            <a:off x="8915400" y="5047488"/>
            <a:ext cx="2651760" cy="274320"/>
          </a:xfrm>
          <a:prstGeom prst="rect">
            <a:avLst/>
          </a:prstGeom>
          <a:noFill/>
          <a:ln/>
        </p:spPr>
        <p:txBody>
          <a:bodyPr wrap="square" lIns="0" tIns="0" rIns="0" bIns="0" rtlCol="0" anchor="t"/>
          <a:lstStyle/>
          <a:p>
            <a:pPr indent="0" marL="0">
              <a:buNone/>
            </a:pPr>
            <a:r>
              <a:rPr lang="en-US" sz="1300" b="1" dirty="0">
                <a:solidFill>
                  <a:srgbClr val="1B2433"/>
                </a:solidFill>
                <a:latin typeface="Calibri" pitchFamily="34" charset="0"/>
                <a:ea typeface="Calibri" pitchFamily="34" charset="-122"/>
                <a:cs typeface="Calibri" pitchFamily="34" charset="-120"/>
              </a:rPr>
              <a:t>Platform</a:t>
            </a:r>
            <a:endParaRPr lang="en-US" sz="1300" dirty="0"/>
          </a:p>
        </p:txBody>
      </p:sp>
      <p:sp>
        <p:nvSpPr>
          <p:cNvPr id="36" name="Text 31"/>
          <p:cNvSpPr txBox="1"/>
          <p:nvPr/>
        </p:nvSpPr>
        <p:spPr>
          <a:xfrm>
            <a:off x="8915400" y="5349240"/>
            <a:ext cx="2606040" cy="64008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Grow the partner ecosystem. Turn on Autopilot only where tasks have proven accurate.</a:t>
            </a:r>
            <a:endParaRPr lang="en-US" sz="1100" dirty="0"/>
          </a:p>
        </p:txBody>
      </p:sp>
      <p:sp>
        <p:nvSpPr>
          <p:cNvPr id="37" name="Shape 32"/>
          <p:cNvSpPr/>
          <p:nvPr/>
        </p:nvSpPr>
        <p:spPr>
          <a:xfrm>
            <a:off x="548640" y="6053328"/>
            <a:ext cx="11109960" cy="594360"/>
          </a:xfrm>
          <a:prstGeom prst="roundRect">
            <a:avLst>
              <a:gd name="adj" fmla="val 15385"/>
            </a:avLst>
          </a:prstGeom>
          <a:solidFill>
            <a:srgbClr val="14213D"/>
          </a:solidFill>
          <a:ln w="12700">
            <a:solidFill>
              <a:srgbClr val="14213D"/>
            </a:solidFill>
            <a:prstDash val="solid"/>
          </a:ln>
        </p:spPr>
      </p:sp>
      <p:sp>
        <p:nvSpPr>
          <p:cNvPr id="38" name="Text 33"/>
          <p:cNvSpPr txBox="1"/>
          <p:nvPr/>
        </p:nvSpPr>
        <p:spPr>
          <a:xfrm>
            <a:off x="777240" y="6053328"/>
            <a:ext cx="1069848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IES Helm lets Intuit grow from software that records the past into a trusted AI platform that helps businesses decide and act.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IES Helm by Shubham Gaur</dc:title>
  <dc:subject>PptxGenJS Presentation</dc:subject>
  <dc:creator>Shubham Gaur</dc:creator>
  <cp:lastModifiedBy>Shubham Gaur</cp:lastModifiedBy>
  <cp:revision>1</cp:revision>
  <dcterms:created xsi:type="dcterms:W3CDTF">2026-09-27T06:50:29Z</dcterms:created>
  <dcterms:modified xsi:type="dcterms:W3CDTF">2026-09-27T06:50:29Z</dcterms:modified>
</cp:coreProperties>
</file>